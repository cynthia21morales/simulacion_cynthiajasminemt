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78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5888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6868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· Tema 4 · Cynthia Jasmine Morales Torres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EEEE0675-A3EF-8BF3-373F-A7DE68DB8052}"/>
              </a:ext>
            </a:extLst>
          </p:cNvPr>
          <p:cNvGrpSpPr/>
          <p:nvPr/>
        </p:nvGrpSpPr>
        <p:grpSpPr>
          <a:xfrm>
            <a:off x="989487" y="31119"/>
            <a:ext cx="2709599" cy="1198176"/>
            <a:chOff x="0" y="0"/>
            <a:chExt cx="3073400" cy="1308100"/>
          </a:xfrm>
        </p:grpSpPr>
        <p:sp>
          <p:nvSpPr>
            <p:cNvPr id="9" name="Freeform 3">
              <a:extLst>
                <a:ext uri="{FF2B5EF4-FFF2-40B4-BE49-F238E27FC236}">
                  <a16:creationId xmlns:a16="http://schemas.microsoft.com/office/drawing/2014/main" id="{C72910E7-CCEE-12F0-F1A2-DE566B9D8CA5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  <p:txBody>
            <a:bodyPr/>
            <a:lstStyle/>
            <a:p>
              <a:endParaRPr lang="es-MX">
                <a:solidFill>
                  <a:schemeClr val="bg1"/>
                </a:solidFill>
              </a:endParaRPr>
            </a:p>
          </p:txBody>
        </p:sp>
      </p:grpSp>
      <p:grpSp>
        <p:nvGrpSpPr>
          <p:cNvPr id="3" name="Group 4">
            <a:extLst>
              <a:ext uri="{FF2B5EF4-FFF2-40B4-BE49-F238E27FC236}">
                <a16:creationId xmlns:a16="http://schemas.microsoft.com/office/drawing/2014/main" id="{B9DC3830-4FB3-C587-ABB9-FD4F9539F4EF}"/>
              </a:ext>
            </a:extLst>
          </p:cNvPr>
          <p:cNvGrpSpPr/>
          <p:nvPr/>
        </p:nvGrpSpPr>
        <p:grpSpPr>
          <a:xfrm>
            <a:off x="9330244" y="106714"/>
            <a:ext cx="1872270" cy="1245240"/>
            <a:chOff x="0" y="0"/>
            <a:chExt cx="1981200" cy="16256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78B9CB40-55A1-69B7-73B7-ECB959C56A89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s-MX"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6">
            <a:extLst>
              <a:ext uri="{FF2B5EF4-FFF2-40B4-BE49-F238E27FC236}">
                <a16:creationId xmlns:a16="http://schemas.microsoft.com/office/drawing/2014/main" id="{86806E63-2257-8B45-7200-D73D8FA7AB25}"/>
              </a:ext>
            </a:extLst>
          </p:cNvPr>
          <p:cNvGrpSpPr/>
          <p:nvPr/>
        </p:nvGrpSpPr>
        <p:grpSpPr>
          <a:xfrm>
            <a:off x="4480167" y="269788"/>
            <a:ext cx="3812814" cy="709234"/>
            <a:chOff x="0" y="0"/>
            <a:chExt cx="4343400" cy="9017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E23E8191-C6F5-12C9-A6E2-5BCAA7A23E91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s-MX">
                <a:solidFill>
                  <a:schemeClr val="bg1"/>
                </a:solidFill>
              </a:endParaRPr>
            </a:p>
          </p:txBody>
        </p:sp>
      </p:grpSp>
      <p:sp>
        <p:nvSpPr>
          <p:cNvPr id="5" name="TextBox 9">
            <a:extLst>
              <a:ext uri="{FF2B5EF4-FFF2-40B4-BE49-F238E27FC236}">
                <a16:creationId xmlns:a16="http://schemas.microsoft.com/office/drawing/2014/main" id="{1C13DF9A-E332-2702-B7D7-1FA0B2B9CB16}"/>
              </a:ext>
            </a:extLst>
          </p:cNvPr>
          <p:cNvSpPr txBox="1"/>
          <p:nvPr/>
        </p:nvSpPr>
        <p:spPr>
          <a:xfrm>
            <a:off x="2406259" y="1902456"/>
            <a:ext cx="7644625" cy="49244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Simulación</a:t>
            </a:r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4.3 Banco de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Ejercicios</a:t>
            </a:r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600" dirty="0">
              <a:solidFill>
                <a:schemeClr val="bg1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10 de </a:t>
            </a:r>
            <a:r>
              <a:rPr lang="en-US" sz="1600" dirty="0" err="1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600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2026.</a:t>
            </a:r>
          </a:p>
        </p:txBody>
      </p:sp>
      <p:sp>
        <p:nvSpPr>
          <p:cNvPr id="6" name="TextBox 8">
            <a:extLst>
              <a:ext uri="{FF2B5EF4-FFF2-40B4-BE49-F238E27FC236}">
                <a16:creationId xmlns:a16="http://schemas.microsoft.com/office/drawing/2014/main" id="{0726564A-825B-1E4E-ECE0-167813D5F6E6}"/>
              </a:ext>
            </a:extLst>
          </p:cNvPr>
          <p:cNvSpPr txBox="1"/>
          <p:nvPr/>
        </p:nvSpPr>
        <p:spPr>
          <a:xfrm>
            <a:off x="2070163" y="1149738"/>
            <a:ext cx="8356475" cy="7092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s-MX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600" b="1" dirty="0">
                <a:solidFill>
                  <a:schemeClr val="bg1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</p:spTree>
    <p:extLst>
      <p:ext uri="{BB962C8B-B14F-4D97-AF65-F5344CB8AC3E}">
        <p14:creationId xmlns:p14="http://schemas.microsoft.com/office/powerpoint/2010/main" val="27929933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640080"/>
            <a:ext cx="5120640" cy="512064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26880" y="3108960"/>
            <a:ext cx="3291840" cy="3291840"/>
          </a:xfrm>
          <a:prstGeom prst="ellipse">
            <a:avLst/>
          </a:prstGeom>
          <a:solidFill>
            <a:schemeClr val="accent2">
              <a:alpha val="7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0" y="4206240"/>
            <a:ext cx="1737360" cy="1737360"/>
          </a:xfrm>
          <a:prstGeom prst="ellipse">
            <a:avLst/>
          </a:prstGeom>
          <a:solidFill>
            <a:schemeClr val="accent3">
              <a:alpha val="80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SIMULACIÓN · TEMA 4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371600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Actividad 4.3</a:t>
            </a:r>
            <a:endParaRPr lang="en-US" sz="4600" dirty="0"/>
          </a:p>
          <a:p>
            <a:pPr marL="0" indent="0">
              <a:buNone/>
            </a:pPr>
            <a:r>
              <a:rPr lang="en-US" sz="4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de ejercicios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4747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Lenguajes de simulación: 14 ejercicios en Java, Python y R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00800" cy="484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El banco de ejercicios reúne los programas de simulación desarrollados en el tema 4, Lenguajes de simulación, y los presenta con su código, su ejecución y una explicación.</a:t>
            </a:r>
            <a:endParaRPr lang="en-US" sz="18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Los ejercicios cubren los subtemas de la unidad: lenguajes y simuladores (4.1), aprendizaje y uso de un lenguaje (4.2), líneas de espera (4.3.1), sistemas de inventarios (4.3.2) y validación con pruebas paramétricas (4.4.1) y no paramétricas (4.4.2).</a:t>
            </a:r>
            <a:endParaRPr lang="en-US" sz="18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Cada ejercicio muestra la captura del código en el editor y la salida obtenida al ejecutarlo.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371600"/>
            <a:ext cx="4233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635240" y="164592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35240" y="16459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686800" y="155448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Java · 5 ejercicios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Visual Studio Code · JDK 21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406640" y="2971800"/>
            <a:ext cx="4233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7635240" y="324612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15468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Python · 4 ejercicios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Visual Studio Code · Python 3.13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406640" y="4572000"/>
            <a:ext cx="4233672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7635240" y="484632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35240" y="48463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75488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R · 5 ejercicios</a:t>
            </a:r>
            <a:endParaRPr lang="en-US" sz="18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</a:rPr>
              <a:t>RStudio · R 4.5.2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Justificación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Resolver ejercicios en varios lenguajes ayuda a distinguir qué parte de una simulación es la lógica del modelo y qué parte es sintaxis del lenguaje. El banco cumple con lo solicitado en la actividad: reunir los ejercicios encontrados de cada tema y ejecutarlos en Java, R y Python.</a:t>
            </a:r>
            <a:endParaRPr lang="en-US" sz="18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Además, sirve como material de estudio para los casos prácticos de la materia y para los métodos de validación de un simulador.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Practicar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Repetir los casos de líneas de espera e inventarios hasta dominar su lógica.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297680" y="374904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Contrastar el código y los resultados que produce cada lenguaje.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46720" y="3749040"/>
            <a:ext cx="3593592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39776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Consultar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8006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Tener a la mano ejemplos ejecutados de cada subtema del tema 4.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1005840"/>
            <a:ext cx="4754880" cy="4754880"/>
          </a:xfrm>
          <a:prstGeom prst="ellipse">
            <a:avLst/>
          </a:prstGeom>
          <a:solidFill>
            <a:schemeClr val="accent3">
              <a:alpha val="85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040880" y="1005840"/>
            <a:ext cx="47548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</a:t>
            </a:r>
            <a:endParaRPr lang="en-US" sz="1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2"/>
                </a:solidFill>
              </a:rPr>
              <a:t>5 ejercicios · Visual Studio Code · JDK 21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Banco con dos cajeros  (4.3.1)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Cajero automático  (4.3.1)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Cola de un servidor  (4.3.1)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Estadísticas de tiempos de servicio  (4.1)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Inventario con demanda Poisson  (4.3.2)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 con dos cajeros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JAVA · 4.3.1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Banco con dos cajeros en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78" y="1490472"/>
            <a:ext cx="4730525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Banco con dos cajeros en Ja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73" y="1490472"/>
            <a:ext cx="3556478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Modelo de línea de espera con dos servidores y una sola fila. Cada minuto puede llegar un cliente (probabilidad 0.6) y cada cajero libre atiende al siguiente de la fila entre 3 y 6 minutos. La fila se guarda en una LinkedList y el tiempo restante de cada cajero en un arreglo.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terminal muestra cada evento por minuto: llegadas, inicios de atención y cierres de cada cajero. Con la semilla 11 llegaron 21 clientes y la fila creció hasta 9 personas. Con dos cajeros que tardan 4.5 min en promedio, la atención es menor que las llegadas y el sistema se satura.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Cajero automático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JAVA · 4.3.1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Cajero automático en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3536" y="1490472"/>
            <a:ext cx="4256608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Cajero automático en Ja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7439" y="1490472"/>
            <a:ext cx="2959346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Simulación minuto a minuto de un cajero automático con un solo servidor. Llega un cliente con probabilidad 0.5 por minuto y, si el cajero está libre, atiende al primero de la fila durante 2 a 5 minutos (rnd.nextInt(4) + 2). Imprime cada llegada, inicio y fin de operación.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 la semilla 7 llegaron solo 3 clientes en 20 minutos, por lo que nunca se formó fila (cola final = 0). El Cliente 1 llegó en el minuto 2 y tardó 5 min; el 2 llegó en el minuto 6 y pasó en el 7. Es un resultado bajo, pues en promedio llegarían 10 clientes: cada corrida es una muestra.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 de un servidor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JAVA · 4.3.1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Cola de un servidor en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4217" y="1490472"/>
            <a:ext cx="3275246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Cola de un servidor en Ja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5632" y="1490472"/>
            <a:ext cx="3202960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Cola de un servidor con llegadas y servicios exponenciales. Los 50 tiempos entre llegadas (media 4 min) se acumulan; cada cliente inicia en el máximo entre su llegada y el fin del anterior (Math.max) y se atiende con media de 3 min, es decir, una utilización de 0.75.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tabla muestra llegada, inicio, fin, espera y tiempo en el sistema de los primeros cinco clientes: los dos primeros no esperan y el tercero espera 8.93 min. Los 50 clientes tuvieron 7.50 min de espera en cola y 10.69 min en el sistema; la teoría M/M/1 da 9 y 12 min.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Estadísticas de tiempos de servicio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JAVA · 4.1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Estadísticas de tiempos de servicio en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5092" y="1490472"/>
            <a:ext cx="3693497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Estadísticas de tiempos de servicio en Ja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9358" y="1490472"/>
            <a:ext cx="2735508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Ejemplo de manejo de datos de un simulador: tres tiempos de servicio (C1 = 5, C2 = 7, C3 = 4). Calcula la media, la desviación estándar muestral (dividida entre n − 1) y los percentiles. Java no trae una función de percentiles, por eso se programa percentil() con interpolación lineal.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salida lista los datos y las estadísticas: n = 3, media 5.333333, desviación 1.527525, mínimo 4, cuartiles 4.5, 5 y 6, y máximo 7. Son los mismos valores que entregan describe() en Python y summary() en R, lo que confirma que el cálculo manual es correcto.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con demanda Poisson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JAVA · 4.3.2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Inventario con demanda Poisson en Jav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786" y="1490472"/>
            <a:ext cx="3414108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Inventario con demanda Poisson en Jav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5752" y="1490472"/>
            <a:ext cx="2442720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Inventario de 30 días que inicia con 50 unidades. La demanda diaria sigue una distribución Poisson de media 3, generada con el método de Knuth en poisson(). Política de reorden: si el inventario baja de 10 unidades, se piden 40.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tabla presenta día, demanda e inventario. El inventario baja de 45 a 13 unidades en 11 días; el día 12 la demanda de 4 lo deja en 9, se activa el reorden (+40) y sube a 49. Al terminar los 30 días, el inventario promedio fue de 29.77 unidades.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1005840"/>
            <a:ext cx="4754880" cy="4754880"/>
          </a:xfrm>
          <a:prstGeom prst="ellipse">
            <a:avLst/>
          </a:prstGeom>
          <a:solidFill>
            <a:schemeClr val="accent2">
              <a:alpha val="85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040880" y="1005840"/>
            <a:ext cx="47548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</a:t>
            </a:r>
            <a:endParaRPr lang="en-US" sz="1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2"/>
                </a:solidFill>
              </a:rPr>
              <a:t>4 ejercicios · Visual Studio Code · Python 3.13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Cajero automático  (4.3.1)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Cola de un servidor  (4.3.1)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Estadísticas de tiempos de servicio  (4.1)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Inventario con demanda Poisson  (4.3.2)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Cajero automático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PYTHON · 4.3.1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Cajero automático en Pyth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03" y="1490472"/>
            <a:ext cx="5016273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Cajero automático en Pyth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818" y="1490472"/>
            <a:ext cx="4646587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Mismo modelo del cajero automático, ahora en Python. La fila es una lista (append agrega y pop(0) saca al primero), el azar viene del módulo random con semilla 7 y las f-strings arman los mensajes. El código es más corto que en Java porque no se declaran tipos.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 imprimen los eventos minuto a minuto: llegaron 12 clientes y 4 quedaron en la fila, porque el cajero atiende uno cada 3.5 min y llega uno cada 2. Con la misma lógica y semilla que en Java salió un resultado muy distinto (3 clientes), porque cada lenguaje usa su propio generador.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Cola de un servidor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PYTHON · 4.3.1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Cola de un servidor en Pyth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513563"/>
            <a:ext cx="5340096" cy="291647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Cola de un servidor en Pyth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421" y="1490472"/>
            <a:ext cx="5051383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Cola de un servidor con pandas y numpy. np.random.exponential genera los tiempos entre llegadas (media 4) y de servicio (media 3) y cumsum acumula las llegadas. Un ciclo calcula inicio y fin de cada cliente y el DataFrame agrega las columnas Espera y TiempoSistema.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 imprimen los primeros cinco clientes y los promedios: espera media de 4.34 min y tiempo medio en el sistema de 7.11 min. Difieren de Java (7.50 y 10.69) porque la semilla genera otros números; ambos quedan abajo de la teoría (9 y 12) por ser 50 clientes que inician con el sistema vacío.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Estadísticas de tiempos de servicio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PYTHON · 4.1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Estadísticas de tiempos de servicio en Pyth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786528"/>
            <a:ext cx="5340096" cy="237054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Estadísticas de tiempos de servicio en Pyth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7794" y="1490472"/>
            <a:ext cx="5058635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 pandas se crea un DataFrame con los clientes y su tiempo de servicio, y describe() calcula en una sola instrucción las estadísticas descriptivas. Es el mismo ejercicio que en Java, pero sin programar a mano la media, la desviación ni los percentiles.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terminal muestra la tabla de datos y el resumen: count 3, mean 5.333333, std 1.527525, min 4, 25 % 4.5, 50 % 5, 75 % 6 y max 7. Coincide exactamente con lo calculado manualmente en Java.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con demanda Poisson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PYTHON · 4.3.2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Inventario con demanda Poisson en Pyth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3" y="1490472"/>
            <a:ext cx="4726593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Inventario con demanda Poisson en Pyth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9341" y="1490472"/>
            <a:ext cx="4295542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Inventario de 30 días con demanda Poisson (media 3) usando np.random.poisson y semilla 2025. Cada día se resta la demanda y, si el inventario baja de 10, se agregan 40 unidades. El historial se guarda en una lista y al final se convierte en un DataFrame.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captura muestra los primeros siete días: con demandas de 4, 5, 1, 1, 3, 4 y 4, el inventario baja de 46 a 28 unidades. Al final el programa calcula el inventario promedio de los 30 días (29.1 unidades). Los valores difieren de Java porque numpy y Java generan distintos números aleatorios.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1005840"/>
            <a:ext cx="4754880" cy="4754880"/>
          </a:xfrm>
          <a:prstGeom prst="ellipse">
            <a:avLst/>
          </a:prstGeom>
          <a:solidFill>
            <a:schemeClr val="accent4">
              <a:alpha val="85000"/>
            </a:scheme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040880" y="1005840"/>
            <a:ext cx="47548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10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(RStudio)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accent2"/>
                </a:solidFill>
              </a:rPr>
              <a:t>5 ejercicios · RStudio · R 4.5.2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6766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Prueba de la mediana  (4.4.2)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U de Mann-Whitney  (4.4.2)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Inventario con política de reorden  (4.3.2)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Validación con prueba t  (4.4.1)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Réplicas de una simulación  (4.2)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Prueba de la mediana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 · 4.4.2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Prueba de la mediana en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763" y="1490472"/>
            <a:ext cx="5054154" cy="296265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Prueba de la mediana en 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041" y="1490472"/>
            <a:ext cx="4726142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Prueba no paramétrica de la mediana. Se generan dos grupos de 15 tiempos (sample de 1 a 10), se calcula la mediana global y se cuenta cuántos valores de cada grupo quedan por debajo y por encima. Con esa tabla de 2×2 se calcula la ji-cuadrada con sus valores esperados.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ambos grupos 7 valores quedaron por debajo de la mediana y 8 igual o por encima, por lo que la ji-cuadrada es 0, menor que el valor crítico 3.841 (gl = 1, α = 0.05). No se rechaza H0: los dos grupos tienen la misma mediana.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de Mann-Whitney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 · 4.4.2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U de Mann-Whitney en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545028"/>
            <a:ext cx="5340096" cy="285354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U de Mann-Whitney en 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818" y="1490472"/>
            <a:ext cx="4646587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Prueba U de Mann-Whitney para comparar dos grupos de 10 datos con distribución normal de media 50 y 55. rank() asigna rangos del 1 al 20; con la suma de rangos del grupo A se calculan U1 y U2, se toma la menor y se estandariza con la aproximación normal (z).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La consola muestra U1 = 23, U2 = 77, U = 23 y z = −2.041. Como |z| es mayor que 1.96, se rechaza H0: los grupos son diferentes, lo cual es coherente con que se generaron con medias distintas (50 y 55).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con política de reorden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 · 4.3.2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Inventario con política de reorden en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283000"/>
            <a:ext cx="5340096" cy="137760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Inventario con política de reorden en 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563" y="1490472"/>
            <a:ext cx="4755098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Inventario de 10 días que inicia en 50 unidades. La demanda diaria es uniforme entre 5 y 15 (sample(5:15, 1)) y la política de reorden agrega 40 unidades cuando el inventario baja de 20. Cada día se imprime con cat(sprintf(...)). La semilla es 5.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Los inventarios diarios fueron 44, 29, 56, 41, 28, 55, 46, 35, 24 y 57. En los días 3, 6 y 10 el inventario bajó de 20 y se repuso con 40 unidades. Se observa el patrón de diente de sierra típico de una política de reorden.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 con prueba t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 · 4.4.1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Validación con prueba t en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706042"/>
            <a:ext cx="5340096" cy="253151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Validación con prueba t en 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989" y="1490472"/>
            <a:ext cx="4752247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Valida que los tiempos de espera simulados tengan la media teórica de 20 min. Se generan 30 datos con rnorm(30, 20, 2), se resumen con summary() y sd(), y se calcula t = (x̄ − μ) / (s / √n) para compararlo con el valor crítico 2.045 (gl = 29, α = 0.05, dos colas).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El resumen muestra mínimo 15.57, media 20.16 y máximo 23.19, con desviación estándar de 1.848. El estadístico fue t = 0.489, menor que 2.045, por lo que no se rechaza H0: el simulador reproduce la media teórica.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Réplicas de una simulación</a:t>
            </a:r>
            <a:endParaRPr lang="en-US" sz="3200" dirty="0"/>
          </a:p>
        </p:txBody>
      </p:sp>
      <p:sp>
        <p:nvSpPr>
          <p:cNvPr id="3" name="Etiqueta de lenguaje"/>
          <p:cNvSpPr/>
          <p:nvPr/>
        </p:nvSpPr>
        <p:spPr>
          <a:xfrm>
            <a:off x="9326880" y="457200"/>
            <a:ext cx="2313432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0" y="457200"/>
            <a:ext cx="2313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R · 4.2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Código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53912" y="1143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Resultado de la ejecución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8" name="Image 0" descr="Código: Réplicas de una simulación en 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1717951"/>
            <a:ext cx="5340096" cy="25076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53912" y="1417320"/>
            <a:ext cx="5486400" cy="3108960"/>
          </a:xfrm>
          <a:prstGeom prst="roundRect">
            <a:avLst>
              <a:gd name="adj" fmla="val 2941"/>
            </a:avLst>
          </a:prstGeom>
          <a:solidFill>
            <a:schemeClr val="bg2"/>
          </a:solidFill>
          <a:ln/>
        </p:spPr>
      </p:sp>
      <p:pic>
        <p:nvPicPr>
          <p:cNvPr id="10" name="Image 1" descr="Resultado: Réplicas de una simulación en 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5785" y="1490472"/>
            <a:ext cx="4522653" cy="296265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hace el código?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Ejercicio de réplicas. Se simulan 10 réplicas de 20 clientes con tiempos de espera exponenciales de media 5 min (rexp con rate = 1/5). Los datos se guardan en un data.frame y tapply() calcula el promedio de cada réplica.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153912" y="4663440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¿Qué muestra el resultado?</a:t>
            </a:r>
            <a:endParaRPr lang="en-US" sz="14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Los promedios por réplica van de 3.48 a 8.13 min, aunque la media teórica es 5. El promedio global de las 10 réplicas fue 5.789, más cercano al valor teórico. Por eso se usan varias réplicas: una sola puede alejarse mucho de la media.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mostró comparar los lenguajes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2743200"/>
        </p:xfrm>
        <a:graphic>
          <a:graphicData uri="http://schemas.openxmlformats.org/drawingml/2006/table">
            <a:tbl>
              <a:tblPr/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Ejercicio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Cajero automático (p = 0.5)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clientes, fila final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clientes, fila final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Cola de un servidor (50 clientes)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7.50 min · sistema 10.69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Espera 4.34 min · sistema 7.11 min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Inventario Poisson (30 días)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 29.77 unidades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Promedio 29.1 unidades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Estadísticas de 3 tiempos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5.333 · desviación 1.528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5.333 · desviación 1.528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 se calculan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Programadas a mano (percentil, poisson)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describe() y np.random.poisson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36576" marB="36576" anchor="ctr">
                    <a:lnL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La misma lógica con otro generador aleatorio produce resultados distintos, pero los modelos se comportan igual.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548640" y="4663440"/>
            <a:ext cx="3593592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777240" y="484632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280160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3492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Más extenso: se declaran tipos y se programan funciones como percentil() y poisson().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4663440"/>
            <a:ext cx="3593592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4526280" y="484632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29200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53492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Más breve: pandas y numpy resuelven estadísticas y distribuciones en una instrucción.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046720" y="4663440"/>
            <a:ext cx="3593592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8275320" y="4846320"/>
            <a:ext cx="365760" cy="36576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0" y="48006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Pensado para estadística: summary(), rnorm(), rexp(), tapply() y rank() ya vienen incluidas.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55664"/>
            <a:ext cx="66751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6576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7665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El banco reunió 14 ejercicios ejecutados en Java, Python y R que cubren los subtemas del tema 4: estadísticas básicas de un simulador, réplicas, líneas de espera, inventarios y validación con pruebas paramétricas y no paramétricas.</a:t>
            </a:r>
            <a:endParaRPr lang="en-US" sz="17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Los resultados muestran que la lógica del modelo no depende del lenguaje, pero los números sí dependen del generador aleatorio y de la semilla: el mismo cajero automático dio 3 clientes en Java y 12 en Python. Por eso las conclusiones deben apoyarse en varias réplicas y en pruebas estadísticas como la t, la U de Mann-Whitney y la de la mediana.</a:t>
            </a:r>
            <a:endParaRPr lang="en-US" sz="17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Java ofrece control total, Python rapidez para prototipar y R herramientas estadísticas listas para validar un simulador.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772400" y="1371600"/>
            <a:ext cx="3867912" cy="1463040"/>
          </a:xfrm>
          <a:prstGeom prst="roundRect">
            <a:avLst>
              <a:gd name="adj" fmla="val 7500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001000" y="150876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9418320" y="150876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ejercicios resueltos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0" y="3017520"/>
            <a:ext cx="3867912" cy="1463040"/>
          </a:xfrm>
          <a:prstGeom prst="roundRect">
            <a:avLst>
              <a:gd name="adj" fmla="val 7500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001000" y="315468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315468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lenguajes: Java, Python y 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0" y="4663440"/>
            <a:ext cx="3867912" cy="1463040"/>
          </a:xfrm>
          <a:prstGeom prst="roundRect">
            <a:avLst>
              <a:gd name="adj" fmla="val 7500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01000" y="480060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 txBox="1"/>
          <p:nvPr/>
        </p:nvSpPr>
        <p:spPr>
          <a:xfrm>
            <a:off x="9418320" y="48006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bg1"/>
                </a:solidFill>
              </a:rPr>
              <a:t>subtemas del tema 4 cubiertos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ulacion">
  <a:themeElements>
    <a:clrScheme name="Simulacion">
      <a:dk1>
        <a:srgbClr val="1B2433"/>
      </a:dk1>
      <a:lt1>
        <a:srgbClr val="FFFFFF"/>
      </a:lt1>
      <a:dk2>
        <a:srgbClr val="14213D"/>
      </a:dk2>
      <a:lt2>
        <a:srgbClr val="EEF3F7"/>
      </a:lt2>
      <a:accent1>
        <a:srgbClr val="0E7C86"/>
      </a:accent1>
      <a:accent2>
        <a:srgbClr val="F2A541"/>
      </a:accent2>
      <a:accent3>
        <a:srgbClr val="E4572E"/>
      </a:accent3>
      <a:accent4>
        <a:srgbClr val="5B6FD6"/>
      </a:accent4>
      <a:accent5>
        <a:srgbClr val="5F6B7D"/>
      </a:accent5>
      <a:accent6>
        <a:srgbClr val="2A9D8F"/>
      </a:accent6>
      <a:hlink>
        <a:srgbClr val="0E7C86"/>
      </a:hlink>
      <a:folHlink>
        <a:srgbClr val="5F6B7D"/>
      </a:folHlink>
    </a:clrScheme>
    <a:fontScheme name="Simulac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2742</Words>
  <Application>Microsoft Office PowerPoint</Application>
  <PresentationFormat>Panorámica</PresentationFormat>
  <Paragraphs>261</Paragraphs>
  <Slides>23</Slides>
  <Notes>22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</vt:lpstr>
      <vt:lpstr>Century Gothic</vt:lpstr>
      <vt:lpstr>Simulacion</vt:lpstr>
      <vt:lpstr>Presentación de PowerPoint</vt:lpstr>
      <vt:lpstr>Presentación de PowerPoint</vt:lpstr>
      <vt:lpstr>Introducción</vt:lpstr>
      <vt:lpstr>Justificación</vt:lpstr>
      <vt:lpstr>Java</vt:lpstr>
      <vt:lpstr>Banco con dos cajeros</vt:lpstr>
      <vt:lpstr>Cajero automático</vt:lpstr>
      <vt:lpstr>Cola de un servidor</vt:lpstr>
      <vt:lpstr>Estadísticas de tiempos de servicio</vt:lpstr>
      <vt:lpstr>Inventario con demanda Poisson</vt:lpstr>
      <vt:lpstr>Python</vt:lpstr>
      <vt:lpstr>Cajero automático</vt:lpstr>
      <vt:lpstr>Cola de un servidor</vt:lpstr>
      <vt:lpstr>Estadísticas de tiempos de servicio</vt:lpstr>
      <vt:lpstr>Inventario con demanda Poisson</vt:lpstr>
      <vt:lpstr>R (RStudio)</vt:lpstr>
      <vt:lpstr>Prueba de la mediana</vt:lpstr>
      <vt:lpstr>U de Mann-Whitney</vt:lpstr>
      <vt:lpstr>Inventario con política de reorden</vt:lpstr>
      <vt:lpstr>Validación con prueba t</vt:lpstr>
      <vt:lpstr>Réplicas de una simulación</vt:lpstr>
      <vt:lpstr>Qué mostró comparar los lenguajes</vt:lpstr>
      <vt:lpstr>Conclusión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4.3 Banco de ejercicios</dc:title>
  <dc:subject>PptxGenJS Presentation</dc:subject>
  <dc:creator>Cynthia Jasmine Morales Torres</dc:creator>
  <cp:lastModifiedBy>Jasmine Morales</cp:lastModifiedBy>
  <cp:revision>2</cp:revision>
  <dcterms:created xsi:type="dcterms:W3CDTF">2026-10-03T16:02:16Z</dcterms:created>
  <dcterms:modified xsi:type="dcterms:W3CDTF">2026-10-03T16:11:31Z</dcterms:modified>
</cp:coreProperties>
</file>