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26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572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686800" cy="822960"/>
          </a:xfrm>
          <a:prstGeom prst="rect">
            <a:avLst/>
          </a:prstGeom>
          <a:noFill/>
          <a:ln/>
        </p:spPr>
        <p:txBody>
          <a:bodyPr wrap="square" rtlCol="0"/>
          <a:lstStyle>
            <a:lvl1pPr marL="0" indent="0" algn="l">
              <a:buNone/>
              <a:defRPr lang="en-US" sz="36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55664"/>
            <a:ext cx="7315200" cy="274320"/>
          </a:xfrm>
          <a:prstGeom prst="rect">
            <a:avLst/>
          </a:prstGeom>
          <a:noFill/>
          <a:ln/>
        </p:spPr>
        <p:txBody>
          <a:bodyPr wrap="square" lIns="0" tIns="0" rIns="0" bIns="0" rtlCol="0" anchor="ctr"/>
          <a:lstStyle/>
          <a:p>
            <a:pPr marL="0" indent="0">
              <a:buNone/>
            </a:pPr>
            <a:r>
              <a:rPr lang="en-US" sz="1000" dirty="0">
                <a:solidFill>
                  <a:schemeClr val="accent5"/>
                </a:solidFill>
                <a:latin typeface="Calibri" pitchFamily="34" charset="0"/>
                <a:ea typeface="Calibri" pitchFamily="34" charset="-122"/>
                <a:cs typeface="Calibri" pitchFamily="34" charset="-120"/>
              </a:rPr>
              <a:t>Simulación · Tema 4 · Cynthia Jasmine Morales Torres</a:t>
            </a:r>
            <a:endParaRPr lang="en-US" sz="10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73EB15D-2BA9-D23B-2ED7-5D2D00142DD7}"/>
              </a:ext>
            </a:extLst>
          </p:cNvPr>
          <p:cNvGrpSpPr/>
          <p:nvPr/>
        </p:nvGrpSpPr>
        <p:grpSpPr>
          <a:xfrm>
            <a:off x="1118708" y="31119"/>
            <a:ext cx="2709599" cy="1198176"/>
            <a:chOff x="0" y="0"/>
            <a:chExt cx="3073400" cy="1308100"/>
          </a:xfrm>
        </p:grpSpPr>
        <p:sp>
          <p:nvSpPr>
            <p:cNvPr id="3" name="Freeform 3">
              <a:extLst>
                <a:ext uri="{FF2B5EF4-FFF2-40B4-BE49-F238E27FC236}">
                  <a16:creationId xmlns:a16="http://schemas.microsoft.com/office/drawing/2014/main" id="{B5BD2D6C-296D-0C35-6DA8-14A05299794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4" name="Group 4">
            <a:extLst>
              <a:ext uri="{FF2B5EF4-FFF2-40B4-BE49-F238E27FC236}">
                <a16:creationId xmlns:a16="http://schemas.microsoft.com/office/drawing/2014/main" id="{8F60251A-6E0C-8294-AF45-8AC6E740169C}"/>
              </a:ext>
            </a:extLst>
          </p:cNvPr>
          <p:cNvGrpSpPr/>
          <p:nvPr/>
        </p:nvGrpSpPr>
        <p:grpSpPr>
          <a:xfrm>
            <a:off x="9459465" y="106714"/>
            <a:ext cx="1872270" cy="1245240"/>
            <a:chOff x="0" y="0"/>
            <a:chExt cx="1981200" cy="1625600"/>
          </a:xfrm>
        </p:grpSpPr>
        <p:sp>
          <p:nvSpPr>
            <p:cNvPr id="5" name="Freeform 5">
              <a:extLst>
                <a:ext uri="{FF2B5EF4-FFF2-40B4-BE49-F238E27FC236}">
                  <a16:creationId xmlns:a16="http://schemas.microsoft.com/office/drawing/2014/main" id="{EE57E8F2-265A-FC19-DEBE-35B1BDBFC5A6}"/>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6" name="Group 6">
            <a:extLst>
              <a:ext uri="{FF2B5EF4-FFF2-40B4-BE49-F238E27FC236}">
                <a16:creationId xmlns:a16="http://schemas.microsoft.com/office/drawing/2014/main" id="{35C3B9BB-C2AE-FEEE-F126-306C57BD8E99}"/>
              </a:ext>
            </a:extLst>
          </p:cNvPr>
          <p:cNvGrpSpPr/>
          <p:nvPr/>
        </p:nvGrpSpPr>
        <p:grpSpPr>
          <a:xfrm>
            <a:off x="4609388" y="269788"/>
            <a:ext cx="3812814" cy="709234"/>
            <a:chOff x="0" y="0"/>
            <a:chExt cx="4343400" cy="901700"/>
          </a:xfrm>
        </p:grpSpPr>
        <p:sp>
          <p:nvSpPr>
            <p:cNvPr id="7" name="Freeform 7">
              <a:extLst>
                <a:ext uri="{FF2B5EF4-FFF2-40B4-BE49-F238E27FC236}">
                  <a16:creationId xmlns:a16="http://schemas.microsoft.com/office/drawing/2014/main" id="{FF6CD16F-B836-379F-4241-1FEE3EC2F119}"/>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8" name="TextBox 9">
            <a:extLst>
              <a:ext uri="{FF2B5EF4-FFF2-40B4-BE49-F238E27FC236}">
                <a16:creationId xmlns:a16="http://schemas.microsoft.com/office/drawing/2014/main" id="{EF658525-9AD8-BC11-B193-5A2F3315C912}"/>
              </a:ext>
            </a:extLst>
          </p:cNvPr>
          <p:cNvSpPr txBox="1"/>
          <p:nvPr/>
        </p:nvSpPr>
        <p:spPr>
          <a:xfrm>
            <a:off x="2535480" y="1902456"/>
            <a:ext cx="7644625" cy="4924425"/>
          </a:xfrm>
          <a:prstGeom prst="rect">
            <a:avLst/>
          </a:prstGeom>
        </p:spPr>
        <p:txBody>
          <a:bodyPr wrap="square" lIns="0" tIns="0" rIns="0" bIns="0" rtlCol="0" anchor="t">
            <a:spAutoFit/>
          </a:bodyPr>
          <a:lstStyle/>
          <a:p>
            <a:pPr algn="ctr"/>
            <a:r>
              <a:rPr lang="en-US" sz="1600" dirty="0">
                <a:solidFill>
                  <a:schemeClr val="bg1"/>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chemeClr val="bg1"/>
                </a:solidFill>
                <a:latin typeface="Century Gothic" panose="020B0502020202020204" pitchFamily="34" charset="0"/>
                <a:ea typeface="Glacial Indifference"/>
                <a:cs typeface="Glacial Indifference"/>
                <a:sym typeface="Glacial Indifference"/>
              </a:rPr>
              <a:t>Simulación</a:t>
            </a: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Semestre: </a:t>
            </a:r>
          </a:p>
          <a:p>
            <a:pPr algn="ctr"/>
            <a:r>
              <a:rPr lang="en-US" sz="1600" dirty="0" err="1">
                <a:solidFill>
                  <a:schemeClr val="bg1"/>
                </a:solidFill>
                <a:latin typeface="Century Gothic" panose="020B0502020202020204" pitchFamily="34" charset="0"/>
                <a:ea typeface="Glacial Indifference"/>
                <a:cs typeface="Glacial Indifference"/>
                <a:sym typeface="Glacial Indifference"/>
              </a:rPr>
              <a:t>Septimo</a:t>
            </a:r>
            <a:r>
              <a:rPr lang="en-US" sz="1600" dirty="0">
                <a:solidFill>
                  <a:schemeClr val="bg1"/>
                </a:solidFill>
                <a:latin typeface="Century Gothic" panose="020B0502020202020204" pitchFamily="34" charset="0"/>
                <a:ea typeface="Glacial Indifference"/>
                <a:cs typeface="Glacial Indifference"/>
                <a:sym typeface="Glacial Indifference"/>
              </a:rPr>
              <a:t> semestre </a:t>
            </a: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chemeClr val="bg1"/>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chemeClr val="bg1"/>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chemeClr val="bg1"/>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chemeClr val="bg1"/>
                </a:solidFill>
                <a:latin typeface="Century Gothic" panose="020B0502020202020204" pitchFamily="34" charset="0"/>
                <a:ea typeface="Glacial Indifference"/>
                <a:cs typeface="Glacial Indifference"/>
                <a:sym typeface="Glacial Indifference"/>
              </a:rPr>
              <a:t> 4.2 </a:t>
            </a:r>
            <a:r>
              <a:rPr lang="en-US" sz="1600" dirty="0" err="1">
                <a:solidFill>
                  <a:schemeClr val="bg1"/>
                </a:solidFill>
                <a:latin typeface="Century Gothic" panose="020B0502020202020204" pitchFamily="34" charset="0"/>
                <a:ea typeface="Glacial Indifference"/>
                <a:cs typeface="Glacial Indifference"/>
                <a:sym typeface="Glacial Indifference"/>
              </a:rPr>
              <a:t>Reporte</a:t>
            </a:r>
            <a:r>
              <a:rPr lang="en-US" sz="1600" dirty="0">
                <a:solidFill>
                  <a:schemeClr val="bg1"/>
                </a:solidFill>
                <a:latin typeface="Century Gothic" panose="020B0502020202020204" pitchFamily="34" charset="0"/>
                <a:ea typeface="Glacial Indifference"/>
                <a:cs typeface="Glacial Indifference"/>
                <a:sym typeface="Glacial Indifference"/>
              </a:rPr>
              <a:t> de </a:t>
            </a:r>
            <a:r>
              <a:rPr lang="en-US" sz="1600" dirty="0" err="1">
                <a:solidFill>
                  <a:schemeClr val="bg1"/>
                </a:solidFill>
                <a:latin typeface="Century Gothic" panose="020B0502020202020204" pitchFamily="34" charset="0"/>
                <a:ea typeface="Glacial Indifference"/>
                <a:cs typeface="Glacial Indifference"/>
                <a:sym typeface="Glacial Indifference"/>
              </a:rPr>
              <a:t>Practica</a:t>
            </a: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 </a:t>
            </a:r>
          </a:p>
          <a:p>
            <a:pPr algn="ctr"/>
            <a:endParaRPr lang="en-US" sz="1600" dirty="0">
              <a:solidFill>
                <a:schemeClr val="bg1"/>
              </a:solidFill>
              <a:latin typeface="Century Gothic" panose="020B0502020202020204" pitchFamily="34" charset="0"/>
              <a:ea typeface="Glacial Indifference"/>
              <a:cs typeface="Glacial Indifference"/>
              <a:sym typeface="Glacial Indifference"/>
            </a:endParaRPr>
          </a:p>
          <a:p>
            <a:pPr algn="ctr"/>
            <a:r>
              <a:rPr lang="en-US" sz="1600" dirty="0">
                <a:solidFill>
                  <a:schemeClr val="bg1"/>
                </a:solidFill>
                <a:latin typeface="Century Gothic" panose="020B0502020202020204" pitchFamily="34" charset="0"/>
                <a:ea typeface="Glacial Indifference"/>
                <a:cs typeface="Glacial Indifference"/>
                <a:sym typeface="Glacial Indifference"/>
              </a:rPr>
              <a:t> Frontera Comalapa, Chiapas. A 29 de </a:t>
            </a:r>
            <a:r>
              <a:rPr lang="en-US" sz="1600" dirty="0" err="1">
                <a:solidFill>
                  <a:schemeClr val="bg1"/>
                </a:solidFill>
                <a:latin typeface="Century Gothic" panose="020B0502020202020204" pitchFamily="34" charset="0"/>
                <a:ea typeface="Glacial Indifference"/>
                <a:cs typeface="Glacial Indifference"/>
                <a:sym typeface="Glacial Indifference"/>
              </a:rPr>
              <a:t>septiembre</a:t>
            </a:r>
            <a:r>
              <a:rPr lang="en-US" sz="1600" dirty="0">
                <a:solidFill>
                  <a:schemeClr val="bg1"/>
                </a:solidFill>
                <a:latin typeface="Century Gothic" panose="020B0502020202020204" pitchFamily="34" charset="0"/>
                <a:ea typeface="Glacial Indifference"/>
                <a:cs typeface="Glacial Indifference"/>
                <a:sym typeface="Glacial Indifference"/>
              </a:rPr>
              <a:t> del 2026.</a:t>
            </a:r>
          </a:p>
        </p:txBody>
      </p:sp>
      <p:sp>
        <p:nvSpPr>
          <p:cNvPr id="9" name="TextBox 8">
            <a:extLst>
              <a:ext uri="{FF2B5EF4-FFF2-40B4-BE49-F238E27FC236}">
                <a16:creationId xmlns:a16="http://schemas.microsoft.com/office/drawing/2014/main" id="{C0E6FBC5-D572-8E0E-F9B7-9550EE1CB0B1}"/>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chemeClr val="bg1"/>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chemeClr val="bg1"/>
                </a:solidFill>
                <a:latin typeface="Century Gothic" panose="020B0502020202020204" pitchFamily="34" charset="0"/>
                <a:ea typeface="Glacial Indifference"/>
                <a:cs typeface="Glacial Indifference"/>
                <a:sym typeface="Glacial Indifference"/>
              </a:rPr>
              <a:t>Modalidad Mixta</a:t>
            </a:r>
          </a:p>
        </p:txBody>
      </p:sp>
    </p:spTree>
    <p:extLst>
      <p:ext uri="{BB962C8B-B14F-4D97-AF65-F5344CB8AC3E}">
        <p14:creationId xmlns:p14="http://schemas.microsoft.com/office/powerpoint/2010/main" val="1656119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80960" y="640080"/>
            <a:ext cx="5120640" cy="5120640"/>
          </a:xfrm>
          <a:prstGeom prst="ellipse">
            <a:avLst/>
          </a:prstGeom>
          <a:solidFill>
            <a:schemeClr val="accent1">
              <a:alpha val="65000"/>
            </a:schemeClr>
          </a:solidFill>
          <a:ln w="12700">
            <a:solidFill>
              <a:schemeClr val="accent1"/>
            </a:solidFill>
            <a:prstDash val="solid"/>
          </a:ln>
        </p:spPr>
      </p:sp>
      <p:sp>
        <p:nvSpPr>
          <p:cNvPr id="3" name="Shape 1"/>
          <p:cNvSpPr/>
          <p:nvPr/>
        </p:nvSpPr>
        <p:spPr>
          <a:xfrm>
            <a:off x="9326880" y="3108960"/>
            <a:ext cx="3291840" cy="3291840"/>
          </a:xfrm>
          <a:prstGeom prst="ellipse">
            <a:avLst/>
          </a:prstGeom>
          <a:solidFill>
            <a:schemeClr val="accent2">
              <a:alpha val="75000"/>
            </a:schemeClr>
          </a:solidFill>
          <a:ln w="12700">
            <a:solidFill>
              <a:schemeClr val="accent2"/>
            </a:solidFill>
            <a:prstDash val="solid"/>
          </a:ln>
        </p:spPr>
      </p:sp>
      <p:sp>
        <p:nvSpPr>
          <p:cNvPr id="4" name="Shape 2"/>
          <p:cNvSpPr/>
          <p:nvPr/>
        </p:nvSpPr>
        <p:spPr>
          <a:xfrm>
            <a:off x="7315200" y="4206240"/>
            <a:ext cx="1737360" cy="1737360"/>
          </a:xfrm>
          <a:prstGeom prst="ellipse">
            <a:avLst/>
          </a:prstGeom>
          <a:solidFill>
            <a:schemeClr val="accent3">
              <a:alpha val="80000"/>
            </a:schemeClr>
          </a:solidFill>
          <a:ln w="12700">
            <a:solidFill>
              <a:schemeClr val="accent3"/>
            </a:solidFill>
            <a:prstDash val="solid"/>
          </a:ln>
        </p:spPr>
      </p:sp>
      <p:sp>
        <p:nvSpPr>
          <p:cNvPr id="5" name="Text 3"/>
          <p:cNvSpPr txBox="1"/>
          <p:nvPr/>
        </p:nvSpPr>
        <p:spPr>
          <a:xfrm>
            <a:off x="731520" y="822960"/>
            <a:ext cx="6400800" cy="365760"/>
          </a:xfrm>
          <a:prstGeom prst="rect">
            <a:avLst/>
          </a:prstGeom>
          <a:noFill/>
          <a:ln/>
        </p:spPr>
        <p:txBody>
          <a:bodyPr wrap="square" lIns="0" tIns="0" rIns="0" bIns="0" rtlCol="0" anchor="ctr"/>
          <a:lstStyle/>
          <a:p>
            <a:pPr marL="0" indent="0">
              <a:buNone/>
            </a:pPr>
            <a:r>
              <a:rPr lang="en-US" sz="1600" b="1" dirty="0">
                <a:solidFill>
                  <a:schemeClr val="accent2"/>
                </a:solidFill>
              </a:rPr>
              <a:t>SIMULACIÓN · TEMA 4</a:t>
            </a:r>
            <a:endParaRPr lang="en-US" sz="1600" dirty="0"/>
          </a:p>
        </p:txBody>
      </p:sp>
      <p:sp>
        <p:nvSpPr>
          <p:cNvPr id="6" name="Text 4"/>
          <p:cNvSpPr txBox="1"/>
          <p:nvPr/>
        </p:nvSpPr>
        <p:spPr>
          <a:xfrm>
            <a:off x="731520" y="1371600"/>
            <a:ext cx="6766560" cy="2011680"/>
          </a:xfrm>
          <a:prstGeom prst="rect">
            <a:avLst/>
          </a:prstGeom>
          <a:noFill/>
          <a:ln/>
        </p:spPr>
        <p:txBody>
          <a:bodyPr wrap="square" lIns="0" tIns="0" rIns="0" bIns="0" rtlCol="0" anchor="t"/>
          <a:lstStyle/>
          <a:p>
            <a:pPr marL="0" indent="0">
              <a:buNone/>
            </a:pPr>
            <a:r>
              <a:rPr lang="en-US" sz="4600" b="1" dirty="0">
                <a:solidFill>
                  <a:schemeClr val="bg1"/>
                </a:solidFill>
                <a:latin typeface="Cambria" pitchFamily="34" charset="0"/>
                <a:ea typeface="Cambria" pitchFamily="34" charset="-122"/>
                <a:cs typeface="Cambria" pitchFamily="34" charset="-120"/>
              </a:rPr>
              <a:t>Actividad 4.2</a:t>
            </a:r>
            <a:endParaRPr lang="en-US" sz="4600" dirty="0"/>
          </a:p>
          <a:p>
            <a:pPr marL="0" indent="0">
              <a:buNone/>
            </a:pPr>
            <a:r>
              <a:rPr lang="en-US" sz="4600" b="1" dirty="0">
                <a:solidFill>
                  <a:schemeClr val="bg1"/>
                </a:solidFill>
                <a:latin typeface="Cambria" pitchFamily="34" charset="0"/>
                <a:ea typeface="Cambria" pitchFamily="34" charset="-122"/>
                <a:cs typeface="Cambria" pitchFamily="34" charset="-120"/>
              </a:rPr>
              <a:t>Reporte de práctica</a:t>
            </a:r>
            <a:endParaRPr lang="en-US" sz="4600" dirty="0"/>
          </a:p>
        </p:txBody>
      </p:sp>
      <p:sp>
        <p:nvSpPr>
          <p:cNvPr id="7" name="Text 5"/>
          <p:cNvSpPr txBox="1"/>
          <p:nvPr/>
        </p:nvSpPr>
        <p:spPr>
          <a:xfrm>
            <a:off x="731520" y="3474720"/>
            <a:ext cx="6400800" cy="822960"/>
          </a:xfrm>
          <a:prstGeom prst="rect">
            <a:avLst/>
          </a:prstGeom>
          <a:noFill/>
          <a:ln/>
        </p:spPr>
        <p:txBody>
          <a:bodyPr wrap="square" lIns="0" tIns="0" rIns="0" bIns="0" rtlCol="0" anchor="t"/>
          <a:lstStyle/>
          <a:p>
            <a:pPr marL="0" indent="0">
              <a:buNone/>
            </a:pPr>
            <a:r>
              <a:rPr lang="en-US" sz="2000" dirty="0">
                <a:solidFill>
                  <a:schemeClr val="bg2"/>
                </a:solidFill>
              </a:rPr>
              <a:t>Lenguajes de simulación: Java, Python y 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Introducción</a:t>
            </a:r>
            <a:endParaRPr lang="en-US" sz="3200" dirty="0"/>
          </a:p>
        </p:txBody>
      </p:sp>
      <p:sp>
        <p:nvSpPr>
          <p:cNvPr id="3" name="Text 1"/>
          <p:cNvSpPr txBox="1"/>
          <p:nvPr/>
        </p:nvSpPr>
        <p:spPr>
          <a:xfrm>
            <a:off x="548640" y="1371600"/>
            <a:ext cx="6400800" cy="4846320"/>
          </a:xfrm>
          <a:prstGeom prst="rect">
            <a:avLst/>
          </a:prstGeom>
          <a:noFill/>
          <a:ln/>
        </p:spPr>
        <p:txBody>
          <a:bodyPr wrap="square" lIns="0" tIns="0" rIns="0" bIns="0" rtlCol="0" anchor="t"/>
          <a:lstStyle/>
          <a:p>
            <a:pPr marL="0" indent="0">
              <a:spcAft>
                <a:spcPts val="1200"/>
              </a:spcAft>
              <a:buNone/>
            </a:pPr>
            <a:r>
              <a:rPr lang="en-US" sz="1900" dirty="0">
                <a:solidFill>
                  <a:schemeClr val="tx1"/>
                </a:solidFill>
              </a:rPr>
              <a:t>La simulación permite estudiar el comportamiento de un sistema real mediante un modelo que se ejecuta en la computadora, sin intervenir el sistema original. En el tema 4, Lenguajes de simulación, se revisan las herramientas con las que se construyen estos modelos, desde el uso de un simulador hasta la validación de sus resultados.</a:t>
            </a:r>
            <a:endParaRPr lang="en-US" sz="1900" dirty="0"/>
          </a:p>
          <a:p>
            <a:pPr marL="0" indent="0">
              <a:spcAft>
                <a:spcPts val="1200"/>
              </a:spcAft>
              <a:buNone/>
            </a:pPr>
            <a:r>
              <a:rPr lang="en-US" sz="1900" dirty="0">
                <a:solidFill>
                  <a:schemeClr val="tx1"/>
                </a:solidFill>
              </a:rPr>
              <a:t>Este reporte documenta la práctica realizada con tres lenguajes: Java, Python y R. De cada uno se presenta un programa funcional, la captura de su código y una explicación de cómo está construido y qué problema de simulación resuelve.</a:t>
            </a:r>
            <a:endParaRPr lang="en-US" sz="1900" dirty="0"/>
          </a:p>
        </p:txBody>
      </p:sp>
      <p:sp>
        <p:nvSpPr>
          <p:cNvPr id="4" name="Shape 2"/>
          <p:cNvSpPr/>
          <p:nvPr/>
        </p:nvSpPr>
        <p:spPr>
          <a:xfrm>
            <a:off x="7406640" y="1371600"/>
            <a:ext cx="4233672" cy="1417320"/>
          </a:xfrm>
          <a:prstGeom prst="roundRect">
            <a:avLst>
              <a:gd name="adj" fmla="val 7742"/>
            </a:avLst>
          </a:prstGeom>
          <a:solidFill>
            <a:schemeClr val="bg2"/>
          </a:solidFill>
          <a:ln w="12700">
            <a:solidFill>
              <a:schemeClr val="bg2"/>
            </a:solidFill>
            <a:prstDash val="solid"/>
          </a:ln>
        </p:spPr>
      </p:sp>
      <p:sp>
        <p:nvSpPr>
          <p:cNvPr id="5" name="Shape 3"/>
          <p:cNvSpPr/>
          <p:nvPr/>
        </p:nvSpPr>
        <p:spPr>
          <a:xfrm>
            <a:off x="7635240" y="1691640"/>
            <a:ext cx="777240" cy="777240"/>
          </a:xfrm>
          <a:prstGeom prst="ellipse">
            <a:avLst/>
          </a:prstGeom>
          <a:solidFill>
            <a:schemeClr val="accent3"/>
          </a:solidFill>
          <a:ln w="12700">
            <a:solidFill>
              <a:schemeClr val="accent3"/>
            </a:solidFill>
            <a:prstDash val="solid"/>
          </a:ln>
        </p:spPr>
      </p:sp>
      <p:sp>
        <p:nvSpPr>
          <p:cNvPr id="6" name="Text 4"/>
          <p:cNvSpPr txBox="1"/>
          <p:nvPr/>
        </p:nvSpPr>
        <p:spPr>
          <a:xfrm>
            <a:off x="7635240" y="1691640"/>
            <a:ext cx="777240" cy="777240"/>
          </a:xfrm>
          <a:prstGeom prst="rect">
            <a:avLst/>
          </a:prstGeom>
          <a:noFill/>
          <a:ln/>
        </p:spPr>
        <p:txBody>
          <a:bodyPr wrap="square" lIns="0" tIns="0" rIns="0" bIns="0" rtlCol="0" anchor="ctr"/>
          <a:lstStyle/>
          <a:p>
            <a:pPr marL="0" indent="0" algn="ctr">
              <a:buNone/>
            </a:pPr>
            <a:r>
              <a:rPr lang="en-US" sz="2000" b="1" dirty="0">
                <a:solidFill>
                  <a:schemeClr val="bg1"/>
                </a:solidFill>
              </a:rPr>
              <a:t>J</a:t>
            </a:r>
            <a:endParaRPr lang="en-US" sz="2000" dirty="0"/>
          </a:p>
        </p:txBody>
      </p:sp>
      <p:sp>
        <p:nvSpPr>
          <p:cNvPr id="7" name="Text 5"/>
          <p:cNvSpPr txBox="1"/>
          <p:nvPr/>
        </p:nvSpPr>
        <p:spPr>
          <a:xfrm>
            <a:off x="8595360" y="1554480"/>
            <a:ext cx="2926080" cy="1051560"/>
          </a:xfrm>
          <a:prstGeom prst="rect">
            <a:avLst/>
          </a:prstGeom>
          <a:noFill/>
          <a:ln/>
        </p:spPr>
        <p:txBody>
          <a:bodyPr wrap="square" lIns="0" tIns="0" rIns="0" bIns="0" rtlCol="0" anchor="ctr"/>
          <a:lstStyle/>
          <a:p>
            <a:pPr marL="0" indent="0">
              <a:buNone/>
            </a:pPr>
            <a:r>
              <a:rPr lang="en-US" sz="2000" b="1" dirty="0">
                <a:solidFill>
                  <a:schemeClr val="tx2"/>
                </a:solidFill>
              </a:rPr>
              <a:t>Java</a:t>
            </a:r>
            <a:endParaRPr lang="en-US" sz="2000" dirty="0"/>
          </a:p>
          <a:p>
            <a:pPr marL="0" indent="0">
              <a:buNone/>
            </a:pPr>
            <a:r>
              <a:rPr lang="en-US" sz="1400" dirty="0">
                <a:solidFill>
                  <a:schemeClr val="accent5"/>
                </a:solidFill>
              </a:rPr>
              <a:t>Visual Studio Code · JDK 21</a:t>
            </a:r>
            <a:endParaRPr lang="en-US" sz="2000" dirty="0"/>
          </a:p>
        </p:txBody>
      </p:sp>
      <p:sp>
        <p:nvSpPr>
          <p:cNvPr id="8" name="Shape 6"/>
          <p:cNvSpPr/>
          <p:nvPr/>
        </p:nvSpPr>
        <p:spPr>
          <a:xfrm>
            <a:off x="7406640" y="2971800"/>
            <a:ext cx="4233672" cy="1417320"/>
          </a:xfrm>
          <a:prstGeom prst="roundRect">
            <a:avLst>
              <a:gd name="adj" fmla="val 7742"/>
            </a:avLst>
          </a:prstGeom>
          <a:solidFill>
            <a:schemeClr val="bg2"/>
          </a:solidFill>
          <a:ln w="12700">
            <a:solidFill>
              <a:schemeClr val="bg2"/>
            </a:solidFill>
            <a:prstDash val="solid"/>
          </a:ln>
        </p:spPr>
      </p:sp>
      <p:sp>
        <p:nvSpPr>
          <p:cNvPr id="9" name="Shape 7"/>
          <p:cNvSpPr/>
          <p:nvPr/>
        </p:nvSpPr>
        <p:spPr>
          <a:xfrm>
            <a:off x="7635240" y="3291840"/>
            <a:ext cx="777240" cy="777240"/>
          </a:xfrm>
          <a:prstGeom prst="ellipse">
            <a:avLst/>
          </a:prstGeom>
          <a:solidFill>
            <a:schemeClr val="accent2"/>
          </a:solidFill>
          <a:ln w="12700">
            <a:solidFill>
              <a:schemeClr val="accent2"/>
            </a:solidFill>
            <a:prstDash val="solid"/>
          </a:ln>
        </p:spPr>
      </p:sp>
      <p:sp>
        <p:nvSpPr>
          <p:cNvPr id="10" name="Text 8"/>
          <p:cNvSpPr txBox="1"/>
          <p:nvPr/>
        </p:nvSpPr>
        <p:spPr>
          <a:xfrm>
            <a:off x="7635240" y="3291840"/>
            <a:ext cx="777240" cy="777240"/>
          </a:xfrm>
          <a:prstGeom prst="rect">
            <a:avLst/>
          </a:prstGeom>
          <a:noFill/>
          <a:ln/>
        </p:spPr>
        <p:txBody>
          <a:bodyPr wrap="square" lIns="0" tIns="0" rIns="0" bIns="0" rtlCol="0" anchor="ctr"/>
          <a:lstStyle/>
          <a:p>
            <a:pPr marL="0" indent="0" algn="ctr">
              <a:buNone/>
            </a:pPr>
            <a:r>
              <a:rPr lang="en-US" sz="2000" b="1" dirty="0">
                <a:solidFill>
                  <a:schemeClr val="tx1"/>
                </a:solidFill>
              </a:rPr>
              <a:t>Py</a:t>
            </a:r>
            <a:endParaRPr lang="en-US" sz="2000" dirty="0"/>
          </a:p>
        </p:txBody>
      </p:sp>
      <p:sp>
        <p:nvSpPr>
          <p:cNvPr id="11" name="Text 9"/>
          <p:cNvSpPr txBox="1"/>
          <p:nvPr/>
        </p:nvSpPr>
        <p:spPr>
          <a:xfrm>
            <a:off x="8595360" y="3154680"/>
            <a:ext cx="2926080" cy="1051560"/>
          </a:xfrm>
          <a:prstGeom prst="rect">
            <a:avLst/>
          </a:prstGeom>
          <a:noFill/>
          <a:ln/>
        </p:spPr>
        <p:txBody>
          <a:bodyPr wrap="square" lIns="0" tIns="0" rIns="0" bIns="0" rtlCol="0" anchor="ctr"/>
          <a:lstStyle/>
          <a:p>
            <a:pPr marL="0" indent="0">
              <a:buNone/>
            </a:pPr>
            <a:r>
              <a:rPr lang="en-US" sz="2000" b="1" dirty="0">
                <a:solidFill>
                  <a:schemeClr val="tx2"/>
                </a:solidFill>
              </a:rPr>
              <a:t>Python</a:t>
            </a:r>
            <a:endParaRPr lang="en-US" sz="2000" dirty="0"/>
          </a:p>
          <a:p>
            <a:pPr marL="0" indent="0">
              <a:buNone/>
            </a:pPr>
            <a:r>
              <a:rPr lang="en-US" sz="1400" dirty="0">
                <a:solidFill>
                  <a:schemeClr val="accent5"/>
                </a:solidFill>
              </a:rPr>
              <a:t>Visual Studio Code · Python 3.13</a:t>
            </a:r>
            <a:endParaRPr lang="en-US" sz="2000" dirty="0"/>
          </a:p>
        </p:txBody>
      </p:sp>
      <p:sp>
        <p:nvSpPr>
          <p:cNvPr id="12" name="Shape 10"/>
          <p:cNvSpPr/>
          <p:nvPr/>
        </p:nvSpPr>
        <p:spPr>
          <a:xfrm>
            <a:off x="7406640" y="4572000"/>
            <a:ext cx="4233672" cy="1417320"/>
          </a:xfrm>
          <a:prstGeom prst="roundRect">
            <a:avLst>
              <a:gd name="adj" fmla="val 7742"/>
            </a:avLst>
          </a:prstGeom>
          <a:solidFill>
            <a:schemeClr val="bg2"/>
          </a:solidFill>
          <a:ln w="12700">
            <a:solidFill>
              <a:schemeClr val="bg2"/>
            </a:solidFill>
            <a:prstDash val="solid"/>
          </a:ln>
        </p:spPr>
      </p:sp>
      <p:sp>
        <p:nvSpPr>
          <p:cNvPr id="13" name="Shape 11"/>
          <p:cNvSpPr/>
          <p:nvPr/>
        </p:nvSpPr>
        <p:spPr>
          <a:xfrm>
            <a:off x="7635240" y="4892040"/>
            <a:ext cx="777240" cy="777240"/>
          </a:xfrm>
          <a:prstGeom prst="ellipse">
            <a:avLst/>
          </a:prstGeom>
          <a:solidFill>
            <a:schemeClr val="accent4"/>
          </a:solidFill>
          <a:ln w="12700">
            <a:solidFill>
              <a:schemeClr val="accent4"/>
            </a:solidFill>
            <a:prstDash val="solid"/>
          </a:ln>
        </p:spPr>
      </p:sp>
      <p:sp>
        <p:nvSpPr>
          <p:cNvPr id="14" name="Text 12"/>
          <p:cNvSpPr txBox="1"/>
          <p:nvPr/>
        </p:nvSpPr>
        <p:spPr>
          <a:xfrm>
            <a:off x="7635240" y="4892040"/>
            <a:ext cx="777240" cy="777240"/>
          </a:xfrm>
          <a:prstGeom prst="rect">
            <a:avLst/>
          </a:prstGeom>
          <a:noFill/>
          <a:ln/>
        </p:spPr>
        <p:txBody>
          <a:bodyPr wrap="square" lIns="0" tIns="0" rIns="0" bIns="0" rtlCol="0" anchor="ctr"/>
          <a:lstStyle/>
          <a:p>
            <a:pPr marL="0" indent="0" algn="ctr">
              <a:buNone/>
            </a:pPr>
            <a:r>
              <a:rPr lang="en-US" sz="2000" b="1" dirty="0">
                <a:solidFill>
                  <a:schemeClr val="bg1"/>
                </a:solidFill>
              </a:rPr>
              <a:t>R</a:t>
            </a:r>
            <a:endParaRPr lang="en-US" sz="2000" dirty="0"/>
          </a:p>
        </p:txBody>
      </p:sp>
      <p:sp>
        <p:nvSpPr>
          <p:cNvPr id="15" name="Text 13"/>
          <p:cNvSpPr txBox="1"/>
          <p:nvPr/>
        </p:nvSpPr>
        <p:spPr>
          <a:xfrm>
            <a:off x="8595360" y="4754880"/>
            <a:ext cx="2926080" cy="1051560"/>
          </a:xfrm>
          <a:prstGeom prst="rect">
            <a:avLst/>
          </a:prstGeom>
          <a:noFill/>
          <a:ln/>
        </p:spPr>
        <p:txBody>
          <a:bodyPr wrap="square" lIns="0" tIns="0" rIns="0" bIns="0" rtlCol="0" anchor="ctr"/>
          <a:lstStyle/>
          <a:p>
            <a:pPr marL="0" indent="0">
              <a:buNone/>
            </a:pPr>
            <a:r>
              <a:rPr lang="en-US" sz="2000" b="1" dirty="0">
                <a:solidFill>
                  <a:schemeClr val="tx2"/>
                </a:solidFill>
              </a:rPr>
              <a:t>R</a:t>
            </a:r>
            <a:endParaRPr lang="en-US" sz="2000" dirty="0"/>
          </a:p>
          <a:p>
            <a:pPr marL="0" indent="0">
              <a:buNone/>
            </a:pPr>
            <a:r>
              <a:rPr lang="en-US" sz="1400" dirty="0">
                <a:solidFill>
                  <a:schemeClr val="accent5"/>
                </a:solidFill>
              </a:rPr>
              <a:t>RStudio · R 4.5.2</a:t>
            </a:r>
            <a:endParaRPr lang="en-US" sz="20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Justificación</a:t>
            </a:r>
            <a:endParaRPr lang="en-US" sz="3200" dirty="0"/>
          </a:p>
        </p:txBody>
      </p:sp>
      <p:sp>
        <p:nvSpPr>
          <p:cNvPr id="3" name="Text 1"/>
          <p:cNvSpPr txBox="1"/>
          <p:nvPr/>
        </p:nvSpPr>
        <p:spPr>
          <a:xfrm>
            <a:off x="548640" y="1280160"/>
            <a:ext cx="11091672" cy="2011680"/>
          </a:xfrm>
          <a:prstGeom prst="rect">
            <a:avLst/>
          </a:prstGeom>
          <a:noFill/>
          <a:ln/>
        </p:spPr>
        <p:txBody>
          <a:bodyPr wrap="square" lIns="0" tIns="0" rIns="0" bIns="0" rtlCol="0" anchor="t"/>
          <a:lstStyle/>
          <a:p>
            <a:pPr marL="0" indent="0">
              <a:spcAft>
                <a:spcPts val="1200"/>
              </a:spcAft>
              <a:buNone/>
            </a:pPr>
            <a:r>
              <a:rPr lang="en-US" sz="1900" dirty="0">
                <a:solidFill>
                  <a:schemeClr val="tx1"/>
                </a:solidFill>
              </a:rPr>
              <a:t>Los lenguajes de programación son la base para construir simuladores propios cuando no existe una herramienta que se ajuste al problema. Practicar el mismo tipo de modelo en Java, Python y R permite comparar cómo cada lenguaje representa los elementos de una simulación: el tiempo, las filas, los números aleatorios y los resultados.</a:t>
            </a:r>
            <a:endParaRPr lang="en-US" sz="1900" dirty="0"/>
          </a:p>
          <a:p>
            <a:pPr marL="0" indent="0">
              <a:spcAft>
                <a:spcPts val="1200"/>
              </a:spcAft>
              <a:buNone/>
            </a:pPr>
            <a:r>
              <a:rPr lang="en-US" sz="1900" dirty="0">
                <a:solidFill>
                  <a:schemeClr val="tx1"/>
                </a:solidFill>
              </a:rPr>
              <a:t>La práctica cumple con la actividad de elaborar un reporte con los lenguajes de simulación vistos en clase y refuerza tres competencias:</a:t>
            </a:r>
            <a:endParaRPr lang="en-US" sz="1900" dirty="0"/>
          </a:p>
        </p:txBody>
      </p:sp>
      <p:sp>
        <p:nvSpPr>
          <p:cNvPr id="4" name="Shape 2"/>
          <p:cNvSpPr/>
          <p:nvPr/>
        </p:nvSpPr>
        <p:spPr>
          <a:xfrm>
            <a:off x="548640" y="3749040"/>
            <a:ext cx="3593592" cy="2377440"/>
          </a:xfrm>
          <a:prstGeom prst="roundRect">
            <a:avLst>
              <a:gd name="adj" fmla="val 4615"/>
            </a:avLst>
          </a:prstGeom>
          <a:solidFill>
            <a:schemeClr val="bg2"/>
          </a:solidFill>
          <a:ln w="12700">
            <a:solidFill>
              <a:schemeClr val="bg2"/>
            </a:solidFill>
            <a:prstDash val="solid"/>
          </a:ln>
        </p:spPr>
      </p:sp>
      <p:sp>
        <p:nvSpPr>
          <p:cNvPr id="5" name="Shape 3"/>
          <p:cNvSpPr/>
          <p:nvPr/>
        </p:nvSpPr>
        <p:spPr>
          <a:xfrm>
            <a:off x="822960" y="3977640"/>
            <a:ext cx="640080" cy="640080"/>
          </a:xfrm>
          <a:prstGeom prst="ellipse">
            <a:avLst/>
          </a:prstGeom>
          <a:solidFill>
            <a:schemeClr val="accent1"/>
          </a:solidFill>
          <a:ln w="12700">
            <a:solidFill>
              <a:schemeClr val="accent1"/>
            </a:solidFill>
            <a:prstDash val="solid"/>
          </a:ln>
        </p:spPr>
      </p:sp>
      <p:sp>
        <p:nvSpPr>
          <p:cNvPr id="6" name="Text 4"/>
          <p:cNvSpPr txBox="1"/>
          <p:nvPr/>
        </p:nvSpPr>
        <p:spPr>
          <a:xfrm>
            <a:off x="822960" y="39776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5"/>
          <p:cNvSpPr txBox="1"/>
          <p:nvPr/>
        </p:nvSpPr>
        <p:spPr>
          <a:xfrm>
            <a:off x="1600200" y="3977640"/>
            <a:ext cx="2377440" cy="64008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Modelar</a:t>
            </a:r>
            <a:endParaRPr lang="en-US" sz="2200" dirty="0"/>
          </a:p>
        </p:txBody>
      </p:sp>
      <p:sp>
        <p:nvSpPr>
          <p:cNvPr id="8" name="Text 6"/>
          <p:cNvSpPr txBox="1"/>
          <p:nvPr/>
        </p:nvSpPr>
        <p:spPr>
          <a:xfrm>
            <a:off x="822960" y="4800600"/>
            <a:ext cx="3108960" cy="1188720"/>
          </a:xfrm>
          <a:prstGeom prst="rect">
            <a:avLst/>
          </a:prstGeom>
          <a:noFill/>
          <a:ln/>
        </p:spPr>
        <p:txBody>
          <a:bodyPr wrap="square" lIns="0" tIns="0" rIns="0" bIns="0" rtlCol="0" anchor="t"/>
          <a:lstStyle/>
          <a:p>
            <a:pPr marL="0" indent="0">
              <a:buNone/>
            </a:pPr>
            <a:r>
              <a:rPr lang="en-US" sz="1500" dirty="0">
                <a:solidFill>
                  <a:schemeClr val="tx1"/>
                </a:solidFill>
              </a:rPr>
              <a:t>Representar una línea de espera con reloj, fila y servidores.</a:t>
            </a:r>
            <a:endParaRPr lang="en-US" sz="1500" dirty="0"/>
          </a:p>
        </p:txBody>
      </p:sp>
      <p:sp>
        <p:nvSpPr>
          <p:cNvPr id="9" name="Shape 7"/>
          <p:cNvSpPr/>
          <p:nvPr/>
        </p:nvSpPr>
        <p:spPr>
          <a:xfrm>
            <a:off x="4297680" y="3749040"/>
            <a:ext cx="3593592" cy="2377440"/>
          </a:xfrm>
          <a:prstGeom prst="roundRect">
            <a:avLst>
              <a:gd name="adj" fmla="val 4615"/>
            </a:avLst>
          </a:prstGeom>
          <a:solidFill>
            <a:schemeClr val="bg2"/>
          </a:solidFill>
          <a:ln w="12700">
            <a:solidFill>
              <a:schemeClr val="bg2"/>
            </a:solidFill>
            <a:prstDash val="solid"/>
          </a:ln>
        </p:spPr>
      </p:sp>
      <p:sp>
        <p:nvSpPr>
          <p:cNvPr id="10" name="Shape 8"/>
          <p:cNvSpPr/>
          <p:nvPr/>
        </p:nvSpPr>
        <p:spPr>
          <a:xfrm>
            <a:off x="4572000" y="3977640"/>
            <a:ext cx="640080" cy="640080"/>
          </a:xfrm>
          <a:prstGeom prst="ellipse">
            <a:avLst/>
          </a:prstGeom>
          <a:solidFill>
            <a:schemeClr val="accent1"/>
          </a:solidFill>
          <a:ln w="12700">
            <a:solidFill>
              <a:schemeClr val="accent1"/>
            </a:solidFill>
            <a:prstDash val="solid"/>
          </a:ln>
        </p:spPr>
      </p:sp>
      <p:sp>
        <p:nvSpPr>
          <p:cNvPr id="11" name="Text 9"/>
          <p:cNvSpPr txBox="1"/>
          <p:nvPr/>
        </p:nvSpPr>
        <p:spPr>
          <a:xfrm>
            <a:off x="4572000" y="39776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10"/>
          <p:cNvSpPr txBox="1"/>
          <p:nvPr/>
        </p:nvSpPr>
        <p:spPr>
          <a:xfrm>
            <a:off x="5349240" y="3977640"/>
            <a:ext cx="2377440" cy="64008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Validar</a:t>
            </a:r>
            <a:endParaRPr lang="en-US" sz="2200" dirty="0"/>
          </a:p>
        </p:txBody>
      </p:sp>
      <p:sp>
        <p:nvSpPr>
          <p:cNvPr id="13" name="Text 11"/>
          <p:cNvSpPr txBox="1"/>
          <p:nvPr/>
        </p:nvSpPr>
        <p:spPr>
          <a:xfrm>
            <a:off x="4572000" y="4800600"/>
            <a:ext cx="3108960" cy="1188720"/>
          </a:xfrm>
          <a:prstGeom prst="rect">
            <a:avLst/>
          </a:prstGeom>
          <a:noFill/>
          <a:ln/>
        </p:spPr>
        <p:txBody>
          <a:bodyPr wrap="square" lIns="0" tIns="0" rIns="0" bIns="0" rtlCol="0" anchor="t"/>
          <a:lstStyle/>
          <a:p>
            <a:pPr marL="0" indent="0">
              <a:buNone/>
            </a:pPr>
            <a:r>
              <a:rPr lang="en-US" sz="1500" dirty="0">
                <a:solidFill>
                  <a:schemeClr val="tx1"/>
                </a:solidFill>
              </a:rPr>
              <a:t>Comprobar un simulador contra un valor real usando réplicas y una tolerancia.</a:t>
            </a:r>
            <a:endParaRPr lang="en-US" sz="1500" dirty="0"/>
          </a:p>
        </p:txBody>
      </p:sp>
      <p:sp>
        <p:nvSpPr>
          <p:cNvPr id="14" name="Shape 12"/>
          <p:cNvSpPr/>
          <p:nvPr/>
        </p:nvSpPr>
        <p:spPr>
          <a:xfrm>
            <a:off x="8046720" y="3749040"/>
            <a:ext cx="3593592" cy="2377440"/>
          </a:xfrm>
          <a:prstGeom prst="roundRect">
            <a:avLst>
              <a:gd name="adj" fmla="val 4615"/>
            </a:avLst>
          </a:prstGeom>
          <a:solidFill>
            <a:schemeClr val="bg2"/>
          </a:solidFill>
          <a:ln w="12700">
            <a:solidFill>
              <a:schemeClr val="bg2"/>
            </a:solidFill>
            <a:prstDash val="solid"/>
          </a:ln>
        </p:spPr>
      </p:sp>
      <p:sp>
        <p:nvSpPr>
          <p:cNvPr id="15" name="Shape 13"/>
          <p:cNvSpPr/>
          <p:nvPr/>
        </p:nvSpPr>
        <p:spPr>
          <a:xfrm>
            <a:off x="8321040" y="3977640"/>
            <a:ext cx="640080" cy="640080"/>
          </a:xfrm>
          <a:prstGeom prst="ellipse">
            <a:avLst/>
          </a:prstGeom>
          <a:solidFill>
            <a:schemeClr val="accent1"/>
          </a:solidFill>
          <a:ln w="12700">
            <a:solidFill>
              <a:schemeClr val="accent1"/>
            </a:solidFill>
            <a:prstDash val="solid"/>
          </a:ln>
        </p:spPr>
      </p:sp>
      <p:sp>
        <p:nvSpPr>
          <p:cNvPr id="16" name="Text 14"/>
          <p:cNvSpPr txBox="1"/>
          <p:nvPr/>
        </p:nvSpPr>
        <p:spPr>
          <a:xfrm>
            <a:off x="8321040" y="39776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7" name="Text 15"/>
          <p:cNvSpPr txBox="1"/>
          <p:nvPr/>
        </p:nvSpPr>
        <p:spPr>
          <a:xfrm>
            <a:off x="9098280" y="3977640"/>
            <a:ext cx="2377440" cy="640080"/>
          </a:xfrm>
          <a:prstGeom prst="rect">
            <a:avLst/>
          </a:prstGeom>
          <a:noFill/>
          <a:ln/>
        </p:spPr>
        <p:txBody>
          <a:bodyPr wrap="square" lIns="0" tIns="0" rIns="0" bIns="0" rtlCol="0" anchor="ctr"/>
          <a:lstStyle/>
          <a:p>
            <a:pPr marL="0" indent="0">
              <a:buNone/>
            </a:pPr>
            <a:r>
              <a:rPr lang="en-US" sz="2200" b="1" dirty="0">
                <a:solidFill>
                  <a:schemeClr val="tx2"/>
                </a:solidFill>
                <a:latin typeface="Cambria" pitchFamily="34" charset="0"/>
                <a:ea typeface="Cambria" pitchFamily="34" charset="-122"/>
                <a:cs typeface="Cambria" pitchFamily="34" charset="-120"/>
              </a:rPr>
              <a:t>Comparar</a:t>
            </a:r>
            <a:endParaRPr lang="en-US" sz="2200" dirty="0"/>
          </a:p>
        </p:txBody>
      </p:sp>
      <p:sp>
        <p:nvSpPr>
          <p:cNvPr id="18" name="Text 16"/>
          <p:cNvSpPr txBox="1"/>
          <p:nvPr/>
        </p:nvSpPr>
        <p:spPr>
          <a:xfrm>
            <a:off x="8321040" y="4800600"/>
            <a:ext cx="3108960" cy="1188720"/>
          </a:xfrm>
          <a:prstGeom prst="rect">
            <a:avLst/>
          </a:prstGeom>
          <a:noFill/>
          <a:ln/>
        </p:spPr>
        <p:txBody>
          <a:bodyPr wrap="square" lIns="0" tIns="0" rIns="0" bIns="0" rtlCol="0" anchor="t"/>
          <a:lstStyle/>
          <a:p>
            <a:pPr marL="0" indent="0">
              <a:buNone/>
            </a:pPr>
            <a:r>
              <a:rPr lang="en-US" sz="1500" dirty="0">
                <a:solidFill>
                  <a:schemeClr val="tx1"/>
                </a:solidFill>
              </a:rPr>
              <a:t>Ver cómo Java, Python y R expresan la misma lógica de simulación.</a:t>
            </a:r>
            <a:endParaRPr lang="en-US" sz="15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Java · Banco con dos cajeros</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339580" y="457200"/>
            <a:ext cx="2313432" cy="457200"/>
          </a:xfrm>
          <a:prstGeom prst="rect">
            <a:avLst/>
          </a:prstGeom>
          <a:noFill/>
          <a:ln/>
        </p:spPr>
        <p:txBody>
          <a:bodyPr wrap="square" lIns="0" tIns="0" rIns="0" bIns="0" rtlCol="0" anchor="ctr"/>
          <a:lstStyle/>
          <a:p>
            <a:pPr marL="0" indent="0" algn="ctr">
              <a:buNone/>
            </a:pPr>
            <a:r>
              <a:rPr lang="en-US" sz="1400" b="1" dirty="0">
                <a:solidFill>
                  <a:schemeClr val="bg1"/>
                </a:solidFill>
              </a:rPr>
              <a:t>JAVA </a:t>
            </a:r>
            <a:endParaRPr lang="en-US" sz="1400" dirty="0"/>
          </a:p>
        </p:txBody>
      </p:sp>
      <p:sp>
        <p:nvSpPr>
          <p:cNvPr id="5" name="Shape 3"/>
          <p:cNvSpPr/>
          <p:nvPr/>
        </p:nvSpPr>
        <p:spPr>
          <a:xfrm>
            <a:off x="548640" y="1280160"/>
            <a:ext cx="6949440" cy="4937760"/>
          </a:xfrm>
          <a:prstGeom prst="roundRect">
            <a:avLst>
              <a:gd name="adj" fmla="val 1852"/>
            </a:avLst>
          </a:prstGeom>
          <a:solidFill>
            <a:schemeClr val="bg2"/>
          </a:solidFill>
          <a:ln w="12700">
            <a:solidFill>
              <a:schemeClr val="bg2"/>
            </a:solidFill>
            <a:prstDash val="solid"/>
          </a:ln>
        </p:spPr>
      </p:sp>
      <p:pic>
        <p:nvPicPr>
          <p:cNvPr id="6" name="Image 0" descr="Captura del código Banco con dos cajeros en Java"/>
          <p:cNvPicPr>
            <a:picLocks noChangeAspect="1"/>
          </p:cNvPicPr>
          <p:nvPr/>
        </p:nvPicPr>
        <p:blipFill>
          <a:blip r:embed="rId3"/>
          <a:stretch>
            <a:fillRect/>
          </a:stretch>
        </p:blipFill>
        <p:spPr>
          <a:xfrm>
            <a:off x="640080" y="1630143"/>
            <a:ext cx="6766560" cy="4237794"/>
          </a:xfrm>
          <a:prstGeom prst="rect">
            <a:avLst/>
          </a:prstGeom>
        </p:spPr>
      </p:pic>
      <p:sp>
        <p:nvSpPr>
          <p:cNvPr id="7" name="Text 4"/>
          <p:cNvSpPr txBox="1"/>
          <p:nvPr/>
        </p:nvSpPr>
        <p:spPr>
          <a:xfrm>
            <a:off x="7772400" y="1280160"/>
            <a:ext cx="3867912" cy="214884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¿Qué hace?</a:t>
            </a:r>
            <a:endParaRPr lang="en-US" sz="1600" dirty="0"/>
          </a:p>
          <a:p>
            <a:pPr marL="0" indent="0">
              <a:spcAft>
                <a:spcPts val="400"/>
              </a:spcAft>
              <a:buNone/>
            </a:pPr>
            <a:r>
              <a:rPr lang="en-US" sz="1700" dirty="0">
                <a:solidFill>
                  <a:schemeClr val="tx1"/>
                </a:solidFill>
              </a:rPr>
              <a:t>Simula 30 minutos en un banco con dos cajeros y una sola fila. Cada minuto puede llegar un cliente y, si hay un cajero libre, atiende al primero de la fila entre 3 y 6 minutos.</a:t>
            </a:r>
            <a:endParaRPr lang="en-US" sz="1600" dirty="0"/>
          </a:p>
        </p:txBody>
      </p:sp>
      <p:sp>
        <p:nvSpPr>
          <p:cNvPr id="8" name="Shape 5"/>
          <p:cNvSpPr/>
          <p:nvPr/>
        </p:nvSpPr>
        <p:spPr>
          <a:xfrm>
            <a:off x="7772400" y="3611880"/>
            <a:ext cx="1883664" cy="1261872"/>
          </a:xfrm>
          <a:prstGeom prst="roundRect">
            <a:avLst>
              <a:gd name="adj" fmla="val 7246"/>
            </a:avLst>
          </a:prstGeom>
          <a:solidFill>
            <a:schemeClr val="bg2"/>
          </a:solidFill>
          <a:ln w="12700">
            <a:solidFill>
              <a:schemeClr val="bg2"/>
            </a:solidFill>
            <a:prstDash val="solid"/>
          </a:ln>
        </p:spPr>
      </p:sp>
      <p:sp>
        <p:nvSpPr>
          <p:cNvPr id="9" name="Text 6"/>
          <p:cNvSpPr txBox="1"/>
          <p:nvPr/>
        </p:nvSpPr>
        <p:spPr>
          <a:xfrm>
            <a:off x="7882128"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30 min</a:t>
            </a:r>
            <a:endParaRPr lang="en-US" sz="2800" dirty="0"/>
          </a:p>
        </p:txBody>
      </p:sp>
      <p:sp>
        <p:nvSpPr>
          <p:cNvPr id="10" name="Text 7"/>
          <p:cNvSpPr txBox="1"/>
          <p:nvPr/>
        </p:nvSpPr>
        <p:spPr>
          <a:xfrm>
            <a:off x="7882128"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tiempo simulado</a:t>
            </a:r>
            <a:endParaRPr lang="en-US" sz="1200" dirty="0"/>
          </a:p>
        </p:txBody>
      </p:sp>
      <p:sp>
        <p:nvSpPr>
          <p:cNvPr id="11" name="Shape 8"/>
          <p:cNvSpPr/>
          <p:nvPr/>
        </p:nvSpPr>
        <p:spPr>
          <a:xfrm>
            <a:off x="9756648" y="3611880"/>
            <a:ext cx="1883664" cy="1261872"/>
          </a:xfrm>
          <a:prstGeom prst="roundRect">
            <a:avLst>
              <a:gd name="adj" fmla="val 7246"/>
            </a:avLst>
          </a:prstGeom>
          <a:solidFill>
            <a:schemeClr val="bg2"/>
          </a:solidFill>
          <a:ln w="12700">
            <a:solidFill>
              <a:schemeClr val="bg2"/>
            </a:solidFill>
            <a:prstDash val="solid"/>
          </a:ln>
        </p:spPr>
      </p:sp>
      <p:sp>
        <p:nvSpPr>
          <p:cNvPr id="12" name="Text 9"/>
          <p:cNvSpPr txBox="1"/>
          <p:nvPr/>
        </p:nvSpPr>
        <p:spPr>
          <a:xfrm>
            <a:off x="9866376"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2</a:t>
            </a:r>
            <a:endParaRPr lang="en-US" sz="2800" dirty="0"/>
          </a:p>
        </p:txBody>
      </p:sp>
      <p:sp>
        <p:nvSpPr>
          <p:cNvPr id="13" name="Text 10"/>
          <p:cNvSpPr txBox="1"/>
          <p:nvPr/>
        </p:nvSpPr>
        <p:spPr>
          <a:xfrm>
            <a:off x="9866376"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cajeros (servidores)</a:t>
            </a:r>
            <a:endParaRPr lang="en-US" sz="1200" dirty="0"/>
          </a:p>
        </p:txBody>
      </p:sp>
      <p:sp>
        <p:nvSpPr>
          <p:cNvPr id="14" name="Shape 11"/>
          <p:cNvSpPr/>
          <p:nvPr/>
        </p:nvSpPr>
        <p:spPr>
          <a:xfrm>
            <a:off x="7772400" y="4983480"/>
            <a:ext cx="1883664" cy="1261872"/>
          </a:xfrm>
          <a:prstGeom prst="roundRect">
            <a:avLst>
              <a:gd name="adj" fmla="val 7246"/>
            </a:avLst>
          </a:prstGeom>
          <a:solidFill>
            <a:schemeClr val="bg2"/>
          </a:solidFill>
          <a:ln w="12700">
            <a:solidFill>
              <a:schemeClr val="bg2"/>
            </a:solidFill>
            <a:prstDash val="solid"/>
          </a:ln>
        </p:spPr>
      </p:sp>
      <p:sp>
        <p:nvSpPr>
          <p:cNvPr id="15" name="Text 12"/>
          <p:cNvSpPr txBox="1"/>
          <p:nvPr/>
        </p:nvSpPr>
        <p:spPr>
          <a:xfrm>
            <a:off x="7882128" y="50566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0.6</a:t>
            </a:r>
            <a:endParaRPr lang="en-US" sz="2800" dirty="0"/>
          </a:p>
        </p:txBody>
      </p:sp>
      <p:sp>
        <p:nvSpPr>
          <p:cNvPr id="16" name="Text 13"/>
          <p:cNvSpPr txBox="1"/>
          <p:nvPr/>
        </p:nvSpPr>
        <p:spPr>
          <a:xfrm>
            <a:off x="7882128" y="56235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probabilidad de llegada por minuto</a:t>
            </a:r>
            <a:endParaRPr lang="en-US" sz="1200" dirty="0"/>
          </a:p>
        </p:txBody>
      </p:sp>
      <p:sp>
        <p:nvSpPr>
          <p:cNvPr id="17" name="Shape 14"/>
          <p:cNvSpPr/>
          <p:nvPr/>
        </p:nvSpPr>
        <p:spPr>
          <a:xfrm>
            <a:off x="9756648" y="4983480"/>
            <a:ext cx="1883664" cy="1261872"/>
          </a:xfrm>
          <a:prstGeom prst="roundRect">
            <a:avLst>
              <a:gd name="adj" fmla="val 7246"/>
            </a:avLst>
          </a:prstGeom>
          <a:solidFill>
            <a:schemeClr val="accent1"/>
          </a:solidFill>
          <a:ln w="12700">
            <a:solidFill>
              <a:schemeClr val="accent1"/>
            </a:solidFill>
            <a:prstDash val="solid"/>
          </a:ln>
        </p:spPr>
      </p:sp>
      <p:sp>
        <p:nvSpPr>
          <p:cNvPr id="18" name="Text 15"/>
          <p:cNvSpPr txBox="1"/>
          <p:nvPr/>
        </p:nvSpPr>
        <p:spPr>
          <a:xfrm>
            <a:off x="9866376" y="5056632"/>
            <a:ext cx="1664208"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21</a:t>
            </a:r>
            <a:endParaRPr lang="en-US" sz="2800" dirty="0"/>
          </a:p>
        </p:txBody>
      </p:sp>
      <p:sp>
        <p:nvSpPr>
          <p:cNvPr id="19" name="Text 16"/>
          <p:cNvSpPr txBox="1"/>
          <p:nvPr/>
        </p:nvSpPr>
        <p:spPr>
          <a:xfrm>
            <a:off x="9866376" y="5623560"/>
            <a:ext cx="1664208" cy="566928"/>
          </a:xfrm>
          <a:prstGeom prst="rect">
            <a:avLst/>
          </a:prstGeom>
          <a:noFill/>
          <a:ln/>
        </p:spPr>
        <p:txBody>
          <a:bodyPr wrap="square" lIns="0" tIns="0" rIns="0" bIns="0" rtlCol="0" anchor="t"/>
          <a:lstStyle/>
          <a:p>
            <a:pPr marL="0" indent="0">
              <a:buNone/>
            </a:pPr>
            <a:r>
              <a:rPr lang="en-US" sz="1200" dirty="0">
                <a:solidFill>
                  <a:schemeClr val="bg1"/>
                </a:solidFill>
              </a:rPr>
              <a:t>clientes llegaron en la corrida</a:t>
            </a:r>
            <a:endParaRPr lang="en-US" sz="12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Explicación del código · Java</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3"/>
          </a:solidFill>
          <a:ln w="12700">
            <a:solidFill>
              <a:schemeClr val="accent3"/>
            </a:solidFill>
            <a:prstDash val="solid"/>
          </a:ln>
        </p:spPr>
      </p:sp>
      <p:sp>
        <p:nvSpPr>
          <p:cNvPr id="4" name="Text 2"/>
          <p:cNvSpPr txBox="1"/>
          <p:nvPr/>
        </p:nvSpPr>
        <p:spPr>
          <a:xfrm>
            <a:off x="9326880" y="457200"/>
            <a:ext cx="2313432" cy="457200"/>
          </a:xfrm>
          <a:prstGeom prst="rect">
            <a:avLst/>
          </a:prstGeom>
          <a:noFill/>
          <a:ln/>
        </p:spPr>
        <p:txBody>
          <a:bodyPr wrap="square" lIns="0" tIns="0" rIns="0" bIns="0" rtlCol="0" anchor="ctr"/>
          <a:lstStyle/>
          <a:p>
            <a:pPr marL="0" indent="0" algn="ctr">
              <a:buNone/>
            </a:pPr>
            <a:r>
              <a:rPr lang="en-US" sz="1400" b="1" dirty="0">
                <a:solidFill>
                  <a:schemeClr val="bg1"/>
                </a:solidFill>
              </a:rPr>
              <a:t>JAVA </a:t>
            </a:r>
            <a:endParaRPr lang="en-US" sz="1400" dirty="0"/>
          </a:p>
        </p:txBody>
      </p:sp>
      <p:sp>
        <p:nvSpPr>
          <p:cNvPr id="5" name="Shape 3"/>
          <p:cNvSpPr/>
          <p:nvPr/>
        </p:nvSpPr>
        <p:spPr>
          <a:xfrm>
            <a:off x="548640" y="1280160"/>
            <a:ext cx="11091672" cy="914400"/>
          </a:xfrm>
          <a:prstGeom prst="roundRect">
            <a:avLst>
              <a:gd name="adj" fmla="val 10000"/>
            </a:avLst>
          </a:prstGeom>
          <a:solidFill>
            <a:schemeClr val="bg2"/>
          </a:solidFill>
          <a:ln w="12700">
            <a:solidFill>
              <a:schemeClr val="bg2"/>
            </a:solidFill>
            <a:prstDash val="solid"/>
          </a:ln>
        </p:spPr>
      </p:sp>
      <p:sp>
        <p:nvSpPr>
          <p:cNvPr id="6" name="Shape 4"/>
          <p:cNvSpPr/>
          <p:nvPr/>
        </p:nvSpPr>
        <p:spPr>
          <a:xfrm>
            <a:off x="731520" y="146304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6"/>
          <p:cNvSpPr txBox="1"/>
          <p:nvPr/>
        </p:nvSpPr>
        <p:spPr>
          <a:xfrm>
            <a:off x="1508760" y="133502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3 a 8 · Preparación</a:t>
            </a:r>
            <a:endParaRPr lang="en-US" sz="1500" dirty="0"/>
          </a:p>
          <a:p>
            <a:pPr marL="0" indent="0">
              <a:buNone/>
            </a:pPr>
            <a:r>
              <a:rPr lang="en-US" sz="1400" dirty="0">
                <a:solidFill>
                  <a:schemeClr val="tx1"/>
                </a:solidFill>
              </a:rPr>
              <a:t>Se importan LinkedList (la fila de espera) y Random (números aleatorios). La clase BancoDosCajeros crea Random(11): la semilla fija permite repetir la misma simulación.</a:t>
            </a:r>
            <a:endParaRPr lang="en-US" sz="1500" dirty="0"/>
          </a:p>
        </p:txBody>
      </p:sp>
      <p:sp>
        <p:nvSpPr>
          <p:cNvPr id="9" name="Shape 7"/>
          <p:cNvSpPr/>
          <p:nvPr/>
        </p:nvSpPr>
        <p:spPr>
          <a:xfrm>
            <a:off x="548640" y="2286000"/>
            <a:ext cx="11091672" cy="914400"/>
          </a:xfrm>
          <a:prstGeom prst="roundRect">
            <a:avLst>
              <a:gd name="adj" fmla="val 10000"/>
            </a:avLst>
          </a:prstGeom>
          <a:solidFill>
            <a:schemeClr val="bg2"/>
          </a:solidFill>
          <a:ln w="12700">
            <a:solidFill>
              <a:schemeClr val="bg2"/>
            </a:solidFill>
            <a:prstDash val="solid"/>
          </a:ln>
        </p:spPr>
      </p:sp>
      <p:sp>
        <p:nvSpPr>
          <p:cNvPr id="10" name="Shape 8"/>
          <p:cNvSpPr/>
          <p:nvPr/>
        </p:nvSpPr>
        <p:spPr>
          <a:xfrm>
            <a:off x="731520" y="246888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731520" y="24688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1508760" y="234086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10 a 14 · Variables de estado</a:t>
            </a:r>
            <a:endParaRPr lang="en-US" sz="1500" dirty="0"/>
          </a:p>
          <a:p>
            <a:pPr marL="0" indent="0">
              <a:buNone/>
            </a:pPr>
            <a:r>
              <a:rPr lang="en-US" sz="1400" dirty="0">
                <a:solidFill>
                  <a:schemeClr val="tx1"/>
                </a:solidFill>
              </a:rPr>
              <a:t>tiempoTotal = 30 minutos; tiempo es el reloj; cola guarda a los clientes en espera; tiemposCajeros = {0, 0} indica los minutos que le faltan a cada cajero (0 = libre); clienteId numera a los clientes.</a:t>
            </a:r>
            <a:endParaRPr lang="en-US" sz="1500" dirty="0"/>
          </a:p>
        </p:txBody>
      </p:sp>
      <p:sp>
        <p:nvSpPr>
          <p:cNvPr id="13" name="Shape 11"/>
          <p:cNvSpPr/>
          <p:nvPr/>
        </p:nvSpPr>
        <p:spPr>
          <a:xfrm>
            <a:off x="548640" y="3291840"/>
            <a:ext cx="11091672" cy="914400"/>
          </a:xfrm>
          <a:prstGeom prst="roundRect">
            <a:avLst>
              <a:gd name="adj" fmla="val 10000"/>
            </a:avLst>
          </a:prstGeom>
          <a:solidFill>
            <a:schemeClr val="bg2"/>
          </a:solidFill>
          <a:ln w="12700">
            <a:solidFill>
              <a:schemeClr val="bg2"/>
            </a:solidFill>
            <a:prstDash val="solid"/>
          </a:ln>
        </p:spPr>
      </p:sp>
      <p:sp>
        <p:nvSpPr>
          <p:cNvPr id="14" name="Shape 12"/>
          <p:cNvSpPr/>
          <p:nvPr/>
        </p:nvSpPr>
        <p:spPr>
          <a:xfrm>
            <a:off x="731520" y="34747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3152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1508760" y="334670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19 a 24 · Llegadas</a:t>
            </a:r>
            <a:endParaRPr lang="en-US" sz="1500" dirty="0"/>
          </a:p>
          <a:p>
            <a:pPr marL="0" indent="0">
              <a:buNone/>
            </a:pPr>
            <a:r>
              <a:rPr lang="en-US" sz="1400" dirty="0">
                <a:solidFill>
                  <a:schemeClr val="tx1"/>
                </a:solidFill>
              </a:rPr>
              <a:t>Mientras el reloj sea menor a 30, rnd.nextDouble() &lt; 0.6 decide si llega un cliente. Si llega, se numera, se agrega a la fila con cola.add() y se imprime el tamaño de la cola.</a:t>
            </a:r>
            <a:endParaRPr lang="en-US" sz="1500" dirty="0"/>
          </a:p>
        </p:txBody>
      </p:sp>
      <p:sp>
        <p:nvSpPr>
          <p:cNvPr id="17" name="Shape 15"/>
          <p:cNvSpPr/>
          <p:nvPr/>
        </p:nvSpPr>
        <p:spPr>
          <a:xfrm>
            <a:off x="548640" y="4297680"/>
            <a:ext cx="11091672" cy="914400"/>
          </a:xfrm>
          <a:prstGeom prst="roundRect">
            <a:avLst>
              <a:gd name="adj" fmla="val 10000"/>
            </a:avLst>
          </a:prstGeom>
          <a:solidFill>
            <a:schemeClr val="bg2"/>
          </a:solidFill>
          <a:ln w="12700">
            <a:solidFill>
              <a:schemeClr val="bg2"/>
            </a:solidFill>
            <a:prstDash val="solid"/>
          </a:ln>
        </p:spPr>
      </p:sp>
      <p:sp>
        <p:nvSpPr>
          <p:cNvPr id="18" name="Shape 16"/>
          <p:cNvSpPr/>
          <p:nvPr/>
        </p:nvSpPr>
        <p:spPr>
          <a:xfrm>
            <a:off x="731520" y="4480560"/>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731520" y="44805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8"/>
          <p:cNvSpPr txBox="1"/>
          <p:nvPr/>
        </p:nvSpPr>
        <p:spPr>
          <a:xfrm>
            <a:off x="1508760" y="435254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26 a 37 · Atención en los cajeros</a:t>
            </a:r>
            <a:endParaRPr lang="en-US" sz="1500" dirty="0"/>
          </a:p>
          <a:p>
            <a:pPr marL="0" indent="0">
              <a:buNone/>
            </a:pPr>
            <a:r>
              <a:rPr lang="en-US" sz="1400" dirty="0">
                <a:solidFill>
                  <a:schemeClr val="tx1"/>
                </a:solidFill>
              </a:rPr>
              <a:t>El for revisa los dos cajeros. Si uno está libre y hay fila, cola.removeFirst() toma al primer cliente y rnd.nextInt(4) + 3 le asigna de 3 a 6 minutos. Si está ocupado, resta un minuto y avisa cuando termina.</a:t>
            </a:r>
            <a:endParaRPr lang="en-US" sz="1500" dirty="0"/>
          </a:p>
        </p:txBody>
      </p:sp>
      <p:sp>
        <p:nvSpPr>
          <p:cNvPr id="21" name="Shape 19"/>
          <p:cNvSpPr/>
          <p:nvPr/>
        </p:nvSpPr>
        <p:spPr>
          <a:xfrm>
            <a:off x="548640" y="5303520"/>
            <a:ext cx="11091672" cy="914400"/>
          </a:xfrm>
          <a:prstGeom prst="roundRect">
            <a:avLst>
              <a:gd name="adj" fmla="val 10000"/>
            </a:avLst>
          </a:prstGeom>
          <a:solidFill>
            <a:schemeClr val="bg2"/>
          </a:solidFill>
          <a:ln w="12700">
            <a:solidFill>
              <a:schemeClr val="bg2"/>
            </a:solidFill>
            <a:prstDash val="solid"/>
          </a:ln>
        </p:spPr>
      </p:sp>
      <p:sp>
        <p:nvSpPr>
          <p:cNvPr id="22" name="Shape 20"/>
          <p:cNvSpPr/>
          <p:nvPr/>
        </p:nvSpPr>
        <p:spPr>
          <a:xfrm>
            <a:off x="731520" y="5486400"/>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731520" y="5486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4" name="Text 22"/>
          <p:cNvSpPr txBox="1"/>
          <p:nvPr/>
        </p:nvSpPr>
        <p:spPr>
          <a:xfrm>
            <a:off x="1508760" y="535838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39 a 43 · Avance del reloj y resumen</a:t>
            </a:r>
            <a:endParaRPr lang="en-US" sz="1500" dirty="0"/>
          </a:p>
          <a:p>
            <a:pPr marL="0" indent="0">
              <a:buNone/>
            </a:pPr>
            <a:r>
              <a:rPr lang="en-US" sz="1400" dirty="0">
                <a:solidFill>
                  <a:schemeClr val="tx1"/>
                </a:solidFill>
              </a:rPr>
              <a:t>tiempo++ avanza un minuto. Al final se imprimen los clientes que llegaron (21) y los que quedaron en la fila (8): con 0.6 llegadas por minuto, dos cajeros no alcanzan a atender a todos.</a:t>
            </a:r>
            <a:endParaRPr lang="en-US" sz="15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Python · Cajero automático</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326880" y="457200"/>
            <a:ext cx="2313432" cy="457200"/>
          </a:xfrm>
          <a:prstGeom prst="rect">
            <a:avLst/>
          </a:prstGeom>
          <a:noFill/>
          <a:ln/>
        </p:spPr>
        <p:txBody>
          <a:bodyPr wrap="square" lIns="0" tIns="0" rIns="0" bIns="0" rtlCol="0" anchor="ctr"/>
          <a:lstStyle/>
          <a:p>
            <a:pPr marL="0" indent="0" algn="ctr">
              <a:buNone/>
            </a:pPr>
            <a:r>
              <a:rPr lang="en-US" sz="1400" b="1" dirty="0">
                <a:solidFill>
                  <a:schemeClr val="tx1"/>
                </a:solidFill>
              </a:rPr>
              <a:t>PYTHON </a:t>
            </a:r>
            <a:endParaRPr lang="en-US" sz="1400" dirty="0"/>
          </a:p>
        </p:txBody>
      </p:sp>
      <p:sp>
        <p:nvSpPr>
          <p:cNvPr id="5" name="Shape 3"/>
          <p:cNvSpPr/>
          <p:nvPr/>
        </p:nvSpPr>
        <p:spPr>
          <a:xfrm>
            <a:off x="548640" y="1280160"/>
            <a:ext cx="6949440" cy="4937760"/>
          </a:xfrm>
          <a:prstGeom prst="roundRect">
            <a:avLst>
              <a:gd name="adj" fmla="val 1852"/>
            </a:avLst>
          </a:prstGeom>
          <a:solidFill>
            <a:schemeClr val="bg2"/>
          </a:solidFill>
          <a:ln w="12700">
            <a:solidFill>
              <a:schemeClr val="bg2"/>
            </a:solidFill>
            <a:prstDash val="solid"/>
          </a:ln>
        </p:spPr>
      </p:sp>
      <p:pic>
        <p:nvPicPr>
          <p:cNvPr id="6" name="Image 0" descr="Captura del código Cajero automático en Python"/>
          <p:cNvPicPr>
            <a:picLocks noChangeAspect="1"/>
          </p:cNvPicPr>
          <p:nvPr/>
        </p:nvPicPr>
        <p:blipFill>
          <a:blip r:embed="rId3"/>
          <a:stretch>
            <a:fillRect/>
          </a:stretch>
        </p:blipFill>
        <p:spPr>
          <a:xfrm>
            <a:off x="640080" y="1750845"/>
            <a:ext cx="6766560" cy="3996391"/>
          </a:xfrm>
          <a:prstGeom prst="rect">
            <a:avLst/>
          </a:prstGeom>
        </p:spPr>
      </p:pic>
      <p:sp>
        <p:nvSpPr>
          <p:cNvPr id="7" name="Text 4"/>
          <p:cNvSpPr txBox="1"/>
          <p:nvPr/>
        </p:nvSpPr>
        <p:spPr>
          <a:xfrm>
            <a:off x="7772400" y="1280160"/>
            <a:ext cx="3867912" cy="214884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¿Qué hace?</a:t>
            </a:r>
            <a:endParaRPr lang="en-US" sz="1600" dirty="0"/>
          </a:p>
          <a:p>
            <a:pPr marL="0" indent="0">
              <a:spcAft>
                <a:spcPts val="400"/>
              </a:spcAft>
              <a:buNone/>
            </a:pPr>
            <a:r>
              <a:rPr lang="en-US" sz="1700" dirty="0">
                <a:solidFill>
                  <a:schemeClr val="tx1"/>
                </a:solidFill>
              </a:rPr>
              <a:t>Simula 20 minutos de un cajero automático con un solo servidor. Los clientes llegan al azar, forman fila y son atendidos uno por uno durante 2 a 5 minutos.</a:t>
            </a:r>
            <a:endParaRPr lang="en-US" sz="1600" dirty="0"/>
          </a:p>
        </p:txBody>
      </p:sp>
      <p:sp>
        <p:nvSpPr>
          <p:cNvPr id="8" name="Shape 5"/>
          <p:cNvSpPr/>
          <p:nvPr/>
        </p:nvSpPr>
        <p:spPr>
          <a:xfrm>
            <a:off x="7772400" y="3611880"/>
            <a:ext cx="1883664" cy="1261872"/>
          </a:xfrm>
          <a:prstGeom prst="roundRect">
            <a:avLst>
              <a:gd name="adj" fmla="val 7246"/>
            </a:avLst>
          </a:prstGeom>
          <a:solidFill>
            <a:schemeClr val="bg2"/>
          </a:solidFill>
          <a:ln w="12700">
            <a:solidFill>
              <a:schemeClr val="bg2"/>
            </a:solidFill>
            <a:prstDash val="solid"/>
          </a:ln>
        </p:spPr>
      </p:sp>
      <p:sp>
        <p:nvSpPr>
          <p:cNvPr id="9" name="Text 6"/>
          <p:cNvSpPr txBox="1"/>
          <p:nvPr/>
        </p:nvSpPr>
        <p:spPr>
          <a:xfrm>
            <a:off x="7882128"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20 min</a:t>
            </a:r>
            <a:endParaRPr lang="en-US" sz="2800" dirty="0"/>
          </a:p>
        </p:txBody>
      </p:sp>
      <p:sp>
        <p:nvSpPr>
          <p:cNvPr id="10" name="Text 7"/>
          <p:cNvSpPr txBox="1"/>
          <p:nvPr/>
        </p:nvSpPr>
        <p:spPr>
          <a:xfrm>
            <a:off x="7882128"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tiempo simulado</a:t>
            </a:r>
            <a:endParaRPr lang="en-US" sz="1200" dirty="0"/>
          </a:p>
        </p:txBody>
      </p:sp>
      <p:sp>
        <p:nvSpPr>
          <p:cNvPr id="11" name="Shape 8"/>
          <p:cNvSpPr/>
          <p:nvPr/>
        </p:nvSpPr>
        <p:spPr>
          <a:xfrm>
            <a:off x="9756648" y="3611880"/>
            <a:ext cx="1883664" cy="1261872"/>
          </a:xfrm>
          <a:prstGeom prst="roundRect">
            <a:avLst>
              <a:gd name="adj" fmla="val 7246"/>
            </a:avLst>
          </a:prstGeom>
          <a:solidFill>
            <a:schemeClr val="bg2"/>
          </a:solidFill>
          <a:ln w="12700">
            <a:solidFill>
              <a:schemeClr val="bg2"/>
            </a:solidFill>
            <a:prstDash val="solid"/>
          </a:ln>
        </p:spPr>
      </p:sp>
      <p:sp>
        <p:nvSpPr>
          <p:cNvPr id="12" name="Text 9"/>
          <p:cNvSpPr txBox="1"/>
          <p:nvPr/>
        </p:nvSpPr>
        <p:spPr>
          <a:xfrm>
            <a:off x="9866376"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1</a:t>
            </a:r>
            <a:endParaRPr lang="en-US" sz="2800" dirty="0"/>
          </a:p>
        </p:txBody>
      </p:sp>
      <p:sp>
        <p:nvSpPr>
          <p:cNvPr id="13" name="Text 10"/>
          <p:cNvSpPr txBox="1"/>
          <p:nvPr/>
        </p:nvSpPr>
        <p:spPr>
          <a:xfrm>
            <a:off x="9866376"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cajero (servidor)</a:t>
            </a:r>
            <a:endParaRPr lang="en-US" sz="1200" dirty="0"/>
          </a:p>
        </p:txBody>
      </p:sp>
      <p:sp>
        <p:nvSpPr>
          <p:cNvPr id="14" name="Shape 11"/>
          <p:cNvSpPr/>
          <p:nvPr/>
        </p:nvSpPr>
        <p:spPr>
          <a:xfrm>
            <a:off x="7772400" y="4983480"/>
            <a:ext cx="1883664" cy="1261872"/>
          </a:xfrm>
          <a:prstGeom prst="roundRect">
            <a:avLst>
              <a:gd name="adj" fmla="val 7246"/>
            </a:avLst>
          </a:prstGeom>
          <a:solidFill>
            <a:schemeClr val="bg2"/>
          </a:solidFill>
          <a:ln w="12700">
            <a:solidFill>
              <a:schemeClr val="bg2"/>
            </a:solidFill>
            <a:prstDash val="solid"/>
          </a:ln>
        </p:spPr>
      </p:sp>
      <p:sp>
        <p:nvSpPr>
          <p:cNvPr id="15" name="Text 12"/>
          <p:cNvSpPr txBox="1"/>
          <p:nvPr/>
        </p:nvSpPr>
        <p:spPr>
          <a:xfrm>
            <a:off x="7882128" y="50566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0.5</a:t>
            </a:r>
            <a:endParaRPr lang="en-US" sz="2800" dirty="0"/>
          </a:p>
        </p:txBody>
      </p:sp>
      <p:sp>
        <p:nvSpPr>
          <p:cNvPr id="16" name="Text 13"/>
          <p:cNvSpPr txBox="1"/>
          <p:nvPr/>
        </p:nvSpPr>
        <p:spPr>
          <a:xfrm>
            <a:off x="7882128" y="56235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probabilidad de llegada por minuto</a:t>
            </a:r>
            <a:endParaRPr lang="en-US" sz="1200" dirty="0"/>
          </a:p>
        </p:txBody>
      </p:sp>
      <p:sp>
        <p:nvSpPr>
          <p:cNvPr id="17" name="Shape 14"/>
          <p:cNvSpPr/>
          <p:nvPr/>
        </p:nvSpPr>
        <p:spPr>
          <a:xfrm>
            <a:off x="9756648" y="4983480"/>
            <a:ext cx="1883664" cy="1261872"/>
          </a:xfrm>
          <a:prstGeom prst="roundRect">
            <a:avLst>
              <a:gd name="adj" fmla="val 7246"/>
            </a:avLst>
          </a:prstGeom>
          <a:solidFill>
            <a:schemeClr val="accent1"/>
          </a:solidFill>
          <a:ln w="12700">
            <a:solidFill>
              <a:schemeClr val="accent1"/>
            </a:solidFill>
            <a:prstDash val="solid"/>
          </a:ln>
        </p:spPr>
      </p:sp>
      <p:sp>
        <p:nvSpPr>
          <p:cNvPr id="18" name="Text 15"/>
          <p:cNvSpPr txBox="1"/>
          <p:nvPr/>
        </p:nvSpPr>
        <p:spPr>
          <a:xfrm>
            <a:off x="9866376" y="5056632"/>
            <a:ext cx="1664208"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12</a:t>
            </a:r>
            <a:endParaRPr lang="en-US" sz="2800" dirty="0"/>
          </a:p>
        </p:txBody>
      </p:sp>
      <p:sp>
        <p:nvSpPr>
          <p:cNvPr id="19" name="Text 16"/>
          <p:cNvSpPr txBox="1"/>
          <p:nvPr/>
        </p:nvSpPr>
        <p:spPr>
          <a:xfrm>
            <a:off x="9866376" y="5623560"/>
            <a:ext cx="1664208" cy="566928"/>
          </a:xfrm>
          <a:prstGeom prst="rect">
            <a:avLst/>
          </a:prstGeom>
          <a:noFill/>
          <a:ln/>
        </p:spPr>
        <p:txBody>
          <a:bodyPr wrap="square" lIns="0" tIns="0" rIns="0" bIns="0" rtlCol="0" anchor="t"/>
          <a:lstStyle/>
          <a:p>
            <a:pPr marL="0" indent="0">
              <a:buNone/>
            </a:pPr>
            <a:r>
              <a:rPr lang="en-US" sz="1200" dirty="0">
                <a:solidFill>
                  <a:schemeClr val="bg1"/>
                </a:solidFill>
              </a:rPr>
              <a:t>clientes llegaron en la corrida</a:t>
            </a:r>
            <a:endParaRPr lang="en-US" sz="12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Explicación del código · Python</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9326880" y="457200"/>
            <a:ext cx="2313432" cy="457200"/>
          </a:xfrm>
          <a:prstGeom prst="rect">
            <a:avLst/>
          </a:prstGeom>
          <a:noFill/>
          <a:ln/>
        </p:spPr>
        <p:txBody>
          <a:bodyPr wrap="square" lIns="0" tIns="0" rIns="0" bIns="0" rtlCol="0" anchor="ctr"/>
          <a:lstStyle/>
          <a:p>
            <a:pPr marL="0" indent="0" algn="ctr">
              <a:buNone/>
            </a:pPr>
            <a:r>
              <a:rPr lang="en-US" sz="1400" b="1" dirty="0">
                <a:solidFill>
                  <a:schemeClr val="tx1"/>
                </a:solidFill>
              </a:rPr>
              <a:t>PYTHON · 4.3.1</a:t>
            </a:r>
            <a:endParaRPr lang="en-US" sz="1400" dirty="0"/>
          </a:p>
        </p:txBody>
      </p:sp>
      <p:sp>
        <p:nvSpPr>
          <p:cNvPr id="5" name="Shape 3"/>
          <p:cNvSpPr/>
          <p:nvPr/>
        </p:nvSpPr>
        <p:spPr>
          <a:xfrm>
            <a:off x="548640" y="1280160"/>
            <a:ext cx="11091672" cy="914400"/>
          </a:xfrm>
          <a:prstGeom prst="roundRect">
            <a:avLst>
              <a:gd name="adj" fmla="val 10000"/>
            </a:avLst>
          </a:prstGeom>
          <a:solidFill>
            <a:schemeClr val="bg2"/>
          </a:solidFill>
          <a:ln w="12700">
            <a:solidFill>
              <a:schemeClr val="bg2"/>
            </a:solidFill>
            <a:prstDash val="solid"/>
          </a:ln>
        </p:spPr>
      </p:sp>
      <p:sp>
        <p:nvSpPr>
          <p:cNvPr id="6" name="Shape 4"/>
          <p:cNvSpPr/>
          <p:nvPr/>
        </p:nvSpPr>
        <p:spPr>
          <a:xfrm>
            <a:off x="731520" y="146304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6"/>
          <p:cNvSpPr txBox="1"/>
          <p:nvPr/>
        </p:nvSpPr>
        <p:spPr>
          <a:xfrm>
            <a:off x="1508760" y="133502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1 a 5 · Preparación</a:t>
            </a:r>
            <a:endParaRPr lang="en-US" sz="1500" dirty="0"/>
          </a:p>
          <a:p>
            <a:pPr marL="0" indent="0">
              <a:buNone/>
            </a:pPr>
            <a:r>
              <a:rPr lang="en-US" sz="1400" dirty="0">
                <a:solidFill>
                  <a:schemeClr val="tx1"/>
                </a:solidFill>
              </a:rPr>
              <a:t>Los comentarios indican que es el tema 4.3.1. Se importa el módulo random y random.seed(7) fija la semilla para que la corrida sea repetible.</a:t>
            </a:r>
            <a:endParaRPr lang="en-US" sz="1500" dirty="0"/>
          </a:p>
        </p:txBody>
      </p:sp>
      <p:sp>
        <p:nvSpPr>
          <p:cNvPr id="9" name="Shape 7"/>
          <p:cNvSpPr/>
          <p:nvPr/>
        </p:nvSpPr>
        <p:spPr>
          <a:xfrm>
            <a:off x="548640" y="2286000"/>
            <a:ext cx="11091672" cy="914400"/>
          </a:xfrm>
          <a:prstGeom prst="roundRect">
            <a:avLst>
              <a:gd name="adj" fmla="val 10000"/>
            </a:avLst>
          </a:prstGeom>
          <a:solidFill>
            <a:schemeClr val="bg2"/>
          </a:solidFill>
          <a:ln w="12700">
            <a:solidFill>
              <a:schemeClr val="bg2"/>
            </a:solidFill>
            <a:prstDash val="solid"/>
          </a:ln>
        </p:spPr>
      </p:sp>
      <p:sp>
        <p:nvSpPr>
          <p:cNvPr id="10" name="Shape 8"/>
          <p:cNvSpPr/>
          <p:nvPr/>
        </p:nvSpPr>
        <p:spPr>
          <a:xfrm>
            <a:off x="731520" y="246888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731520" y="24688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1508760" y="234086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7 a 11 · Variables de estado</a:t>
            </a:r>
            <a:endParaRPr lang="en-US" sz="1500" dirty="0"/>
          </a:p>
          <a:p>
            <a:pPr marL="0" indent="0">
              <a:buNone/>
            </a:pPr>
            <a:r>
              <a:rPr lang="en-US" sz="1400" dirty="0">
                <a:solidFill>
                  <a:schemeClr val="tx1"/>
                </a:solidFill>
              </a:rPr>
              <a:t>tiempo_total = 20 minutos; tiempo es el reloj; cola = [] es una lista vacía; tiempo_cajero son los minutos que le faltan al cajero (0 = libre); cliente_id numera a los clientes.</a:t>
            </a:r>
            <a:endParaRPr lang="en-US" sz="1500" dirty="0"/>
          </a:p>
        </p:txBody>
      </p:sp>
      <p:sp>
        <p:nvSpPr>
          <p:cNvPr id="13" name="Shape 11"/>
          <p:cNvSpPr/>
          <p:nvPr/>
        </p:nvSpPr>
        <p:spPr>
          <a:xfrm>
            <a:off x="548640" y="3291840"/>
            <a:ext cx="11091672" cy="914400"/>
          </a:xfrm>
          <a:prstGeom prst="roundRect">
            <a:avLst>
              <a:gd name="adj" fmla="val 10000"/>
            </a:avLst>
          </a:prstGeom>
          <a:solidFill>
            <a:schemeClr val="bg2"/>
          </a:solidFill>
          <a:ln w="12700">
            <a:solidFill>
              <a:schemeClr val="bg2"/>
            </a:solidFill>
            <a:prstDash val="solid"/>
          </a:ln>
        </p:spPr>
      </p:sp>
      <p:sp>
        <p:nvSpPr>
          <p:cNvPr id="14" name="Shape 12"/>
          <p:cNvSpPr/>
          <p:nvPr/>
        </p:nvSpPr>
        <p:spPr>
          <a:xfrm>
            <a:off x="731520" y="34747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3152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1508760" y="334670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16 a 20 · Llegadas</a:t>
            </a:r>
            <a:endParaRPr lang="en-US" sz="1500" dirty="0"/>
          </a:p>
          <a:p>
            <a:pPr marL="0" indent="0">
              <a:buNone/>
            </a:pPr>
            <a:r>
              <a:rPr lang="en-US" sz="1400" dirty="0">
                <a:solidFill>
                  <a:schemeClr val="tx1"/>
                </a:solidFill>
              </a:rPr>
              <a:t>El while avanza hasta tiempo_total. Si random.random() &lt; 0.5 llega un cliente: se suma a cliente_id, se agrega con cola.append() y un f-string imprime el minuto, el cliente y el tamaño de la cola.</a:t>
            </a:r>
            <a:endParaRPr lang="en-US" sz="1500" dirty="0"/>
          </a:p>
        </p:txBody>
      </p:sp>
      <p:sp>
        <p:nvSpPr>
          <p:cNvPr id="17" name="Shape 15"/>
          <p:cNvSpPr/>
          <p:nvPr/>
        </p:nvSpPr>
        <p:spPr>
          <a:xfrm>
            <a:off x="548640" y="4297680"/>
            <a:ext cx="11091672" cy="914400"/>
          </a:xfrm>
          <a:prstGeom prst="roundRect">
            <a:avLst>
              <a:gd name="adj" fmla="val 10000"/>
            </a:avLst>
          </a:prstGeom>
          <a:solidFill>
            <a:schemeClr val="bg2"/>
          </a:solidFill>
          <a:ln w="12700">
            <a:solidFill>
              <a:schemeClr val="bg2"/>
            </a:solidFill>
            <a:prstDash val="solid"/>
          </a:ln>
        </p:spPr>
      </p:sp>
      <p:sp>
        <p:nvSpPr>
          <p:cNvPr id="18" name="Shape 16"/>
          <p:cNvSpPr/>
          <p:nvPr/>
        </p:nvSpPr>
        <p:spPr>
          <a:xfrm>
            <a:off x="731520" y="4480560"/>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731520" y="44805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8"/>
          <p:cNvSpPr txBox="1"/>
          <p:nvPr/>
        </p:nvSpPr>
        <p:spPr>
          <a:xfrm>
            <a:off x="1508760" y="435254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22 a 30 · Atención</a:t>
            </a:r>
            <a:endParaRPr lang="en-US" sz="1500" dirty="0"/>
          </a:p>
          <a:p>
            <a:pPr marL="0" indent="0">
              <a:buNone/>
            </a:pPr>
            <a:r>
              <a:rPr lang="en-US" sz="1400" dirty="0">
                <a:solidFill>
                  <a:schemeClr val="tx1"/>
                </a:solidFill>
              </a:rPr>
              <a:t>Si el cajero está libre y hay cola, cola.pop(0) saca al primer cliente y random.randint(2, 5) define cuánto tarda. Si está ocupado, resta un minuto y avisa cuando el cliente termina su operación.</a:t>
            </a:r>
            <a:endParaRPr lang="en-US" sz="1500" dirty="0"/>
          </a:p>
        </p:txBody>
      </p:sp>
      <p:sp>
        <p:nvSpPr>
          <p:cNvPr id="21" name="Shape 19"/>
          <p:cNvSpPr/>
          <p:nvPr/>
        </p:nvSpPr>
        <p:spPr>
          <a:xfrm>
            <a:off x="548640" y="5303520"/>
            <a:ext cx="11091672" cy="914400"/>
          </a:xfrm>
          <a:prstGeom prst="roundRect">
            <a:avLst>
              <a:gd name="adj" fmla="val 10000"/>
            </a:avLst>
          </a:prstGeom>
          <a:solidFill>
            <a:schemeClr val="bg2"/>
          </a:solidFill>
          <a:ln w="12700">
            <a:solidFill>
              <a:schemeClr val="bg2"/>
            </a:solidFill>
            <a:prstDash val="solid"/>
          </a:ln>
        </p:spPr>
      </p:sp>
      <p:sp>
        <p:nvSpPr>
          <p:cNvPr id="22" name="Shape 20"/>
          <p:cNvSpPr/>
          <p:nvPr/>
        </p:nvSpPr>
        <p:spPr>
          <a:xfrm>
            <a:off x="731520" y="5486400"/>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731520" y="5486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4" name="Text 22"/>
          <p:cNvSpPr txBox="1"/>
          <p:nvPr/>
        </p:nvSpPr>
        <p:spPr>
          <a:xfrm>
            <a:off x="1508760" y="535838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32 a 35 · Avance del reloj y resumen</a:t>
            </a:r>
            <a:endParaRPr lang="en-US" sz="1500" dirty="0"/>
          </a:p>
          <a:p>
            <a:pPr marL="0" indent="0">
              <a:buNone/>
            </a:pPr>
            <a:r>
              <a:rPr lang="en-US" sz="1400" dirty="0">
                <a:solidFill>
                  <a:schemeClr val="tx1"/>
                </a:solidFill>
              </a:rPr>
              <a:t>tiempo += 1 avanza el reloj. Al final se imprimen 12 clientes que llegaron y 4 que siguen en la fila: llega un cliente cada 2 minutos y el cajero tarda 3.5 en promedio, por eso la fila crece.</a:t>
            </a:r>
            <a:endParaRPr lang="en-US" sz="15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 · Validación del simulador</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326880" y="457200"/>
            <a:ext cx="2313432" cy="457200"/>
          </a:xfrm>
          <a:prstGeom prst="rect">
            <a:avLst/>
          </a:prstGeom>
          <a:noFill/>
          <a:ln/>
        </p:spPr>
        <p:txBody>
          <a:bodyPr wrap="square" lIns="0" tIns="0" rIns="0" bIns="0" rtlCol="0" anchor="ctr"/>
          <a:lstStyle/>
          <a:p>
            <a:pPr marL="0" indent="0" algn="ctr">
              <a:buNone/>
            </a:pPr>
            <a:r>
              <a:rPr lang="en-US" sz="1400" b="1" dirty="0">
                <a:solidFill>
                  <a:schemeClr val="bg1"/>
                </a:solidFill>
              </a:rPr>
              <a:t>R · 4.4</a:t>
            </a:r>
            <a:endParaRPr lang="en-US" sz="1400" dirty="0"/>
          </a:p>
        </p:txBody>
      </p:sp>
      <p:sp>
        <p:nvSpPr>
          <p:cNvPr id="5" name="Shape 3"/>
          <p:cNvSpPr/>
          <p:nvPr/>
        </p:nvSpPr>
        <p:spPr>
          <a:xfrm>
            <a:off x="548640" y="1280160"/>
            <a:ext cx="6949440" cy="4937760"/>
          </a:xfrm>
          <a:prstGeom prst="roundRect">
            <a:avLst>
              <a:gd name="adj" fmla="val 1852"/>
            </a:avLst>
          </a:prstGeom>
          <a:solidFill>
            <a:schemeClr val="bg2"/>
          </a:solidFill>
          <a:ln w="12700">
            <a:solidFill>
              <a:schemeClr val="bg2"/>
            </a:solidFill>
            <a:prstDash val="solid"/>
          </a:ln>
        </p:spPr>
      </p:sp>
      <p:pic>
        <p:nvPicPr>
          <p:cNvPr id="6" name="Image 0" descr="Captura del código Validación del simulador en R"/>
          <p:cNvPicPr>
            <a:picLocks noChangeAspect="1"/>
          </p:cNvPicPr>
          <p:nvPr/>
        </p:nvPicPr>
        <p:blipFill>
          <a:blip r:embed="rId3"/>
          <a:stretch>
            <a:fillRect/>
          </a:stretch>
        </p:blipFill>
        <p:spPr>
          <a:xfrm>
            <a:off x="640080" y="1700114"/>
            <a:ext cx="6766560" cy="4097852"/>
          </a:xfrm>
          <a:prstGeom prst="rect">
            <a:avLst/>
          </a:prstGeom>
        </p:spPr>
      </p:pic>
      <p:sp>
        <p:nvSpPr>
          <p:cNvPr id="7" name="Text 4"/>
          <p:cNvSpPr txBox="1"/>
          <p:nvPr/>
        </p:nvSpPr>
        <p:spPr>
          <a:xfrm>
            <a:off x="7772400" y="1280160"/>
            <a:ext cx="3867912" cy="2148840"/>
          </a:xfrm>
          <a:prstGeom prst="rect">
            <a:avLst/>
          </a:prstGeom>
          <a:noFill/>
          <a:ln/>
        </p:spPr>
        <p:txBody>
          <a:bodyPr wrap="square" lIns="0" tIns="0" rIns="0" bIns="0" rtlCol="0" anchor="t"/>
          <a:lstStyle/>
          <a:p>
            <a:pPr marL="0" indent="0">
              <a:spcAft>
                <a:spcPts val="400"/>
              </a:spcAft>
              <a:buNone/>
            </a:pPr>
            <a:r>
              <a:rPr lang="en-US" sz="1600" b="1" dirty="0">
                <a:solidFill>
                  <a:schemeClr val="accent1"/>
                </a:solidFill>
              </a:rPr>
              <a:t>¿Qué hace?</a:t>
            </a:r>
            <a:endParaRPr lang="en-US" sz="1600" dirty="0"/>
          </a:p>
          <a:p>
            <a:pPr marL="0" indent="0">
              <a:spcAft>
                <a:spcPts val="400"/>
              </a:spcAft>
              <a:buNone/>
            </a:pPr>
            <a:r>
              <a:rPr lang="en-US" sz="1700" dirty="0">
                <a:solidFill>
                  <a:schemeClr val="tx1"/>
                </a:solidFill>
              </a:rPr>
              <a:t>Valida un simulador de inventario: lo ejecuta 30 veces y compara cada resultado, y después el promedio, contra un valor real con una tolerancia de ±5.</a:t>
            </a:r>
            <a:endParaRPr lang="en-US" sz="1600" dirty="0"/>
          </a:p>
        </p:txBody>
      </p:sp>
      <p:sp>
        <p:nvSpPr>
          <p:cNvPr id="8" name="Shape 5"/>
          <p:cNvSpPr/>
          <p:nvPr/>
        </p:nvSpPr>
        <p:spPr>
          <a:xfrm>
            <a:off x="7772400" y="3611880"/>
            <a:ext cx="1883664" cy="1261872"/>
          </a:xfrm>
          <a:prstGeom prst="roundRect">
            <a:avLst>
              <a:gd name="adj" fmla="val 7246"/>
            </a:avLst>
          </a:prstGeom>
          <a:solidFill>
            <a:schemeClr val="bg2"/>
          </a:solidFill>
          <a:ln w="12700">
            <a:solidFill>
              <a:schemeClr val="bg2"/>
            </a:solidFill>
            <a:prstDash val="solid"/>
          </a:ln>
        </p:spPr>
      </p:sp>
      <p:sp>
        <p:nvSpPr>
          <p:cNvPr id="9" name="Text 6"/>
          <p:cNvSpPr txBox="1"/>
          <p:nvPr/>
        </p:nvSpPr>
        <p:spPr>
          <a:xfrm>
            <a:off x="7882128"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30</a:t>
            </a:r>
            <a:endParaRPr lang="en-US" sz="2800" dirty="0"/>
          </a:p>
        </p:txBody>
      </p:sp>
      <p:sp>
        <p:nvSpPr>
          <p:cNvPr id="10" name="Text 7"/>
          <p:cNvSpPr txBox="1"/>
          <p:nvPr/>
        </p:nvSpPr>
        <p:spPr>
          <a:xfrm>
            <a:off x="7882128"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réplicas del simulador</a:t>
            </a:r>
            <a:endParaRPr lang="en-US" sz="1200" dirty="0"/>
          </a:p>
        </p:txBody>
      </p:sp>
      <p:sp>
        <p:nvSpPr>
          <p:cNvPr id="11" name="Shape 8"/>
          <p:cNvSpPr/>
          <p:nvPr/>
        </p:nvSpPr>
        <p:spPr>
          <a:xfrm>
            <a:off x="9756648" y="3611880"/>
            <a:ext cx="1883664" cy="1261872"/>
          </a:xfrm>
          <a:prstGeom prst="roundRect">
            <a:avLst>
              <a:gd name="adj" fmla="val 7246"/>
            </a:avLst>
          </a:prstGeom>
          <a:solidFill>
            <a:schemeClr val="bg2"/>
          </a:solidFill>
          <a:ln w="12700">
            <a:solidFill>
              <a:schemeClr val="bg2"/>
            </a:solidFill>
            <a:prstDash val="solid"/>
          </a:ln>
        </p:spPr>
      </p:sp>
      <p:sp>
        <p:nvSpPr>
          <p:cNvPr id="12" name="Text 9"/>
          <p:cNvSpPr txBox="1"/>
          <p:nvPr/>
        </p:nvSpPr>
        <p:spPr>
          <a:xfrm>
            <a:off x="9866376" y="36850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45</a:t>
            </a:r>
            <a:endParaRPr lang="en-US" sz="2800" dirty="0"/>
          </a:p>
        </p:txBody>
      </p:sp>
      <p:sp>
        <p:nvSpPr>
          <p:cNvPr id="13" name="Text 10"/>
          <p:cNvSpPr txBox="1"/>
          <p:nvPr/>
        </p:nvSpPr>
        <p:spPr>
          <a:xfrm>
            <a:off x="9866376" y="42519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valor real de referencia</a:t>
            </a:r>
            <a:endParaRPr lang="en-US" sz="1200" dirty="0"/>
          </a:p>
        </p:txBody>
      </p:sp>
      <p:sp>
        <p:nvSpPr>
          <p:cNvPr id="14" name="Shape 11"/>
          <p:cNvSpPr/>
          <p:nvPr/>
        </p:nvSpPr>
        <p:spPr>
          <a:xfrm>
            <a:off x="7772400" y="4983480"/>
            <a:ext cx="1883664" cy="1261872"/>
          </a:xfrm>
          <a:prstGeom prst="roundRect">
            <a:avLst>
              <a:gd name="adj" fmla="val 7246"/>
            </a:avLst>
          </a:prstGeom>
          <a:solidFill>
            <a:schemeClr val="bg2"/>
          </a:solidFill>
          <a:ln w="12700">
            <a:solidFill>
              <a:schemeClr val="bg2"/>
            </a:solidFill>
            <a:prstDash val="solid"/>
          </a:ln>
        </p:spPr>
      </p:sp>
      <p:sp>
        <p:nvSpPr>
          <p:cNvPr id="15" name="Text 12"/>
          <p:cNvSpPr txBox="1"/>
          <p:nvPr/>
        </p:nvSpPr>
        <p:spPr>
          <a:xfrm>
            <a:off x="7882128" y="5056632"/>
            <a:ext cx="1664208" cy="548640"/>
          </a:xfrm>
          <a:prstGeom prst="rect">
            <a:avLst/>
          </a:prstGeom>
          <a:noFill/>
          <a:ln/>
        </p:spPr>
        <p:txBody>
          <a:bodyPr wrap="square" lIns="0" tIns="0" rIns="0" bIns="0" rtlCol="0" anchor="ctr"/>
          <a:lstStyle/>
          <a:p>
            <a:pPr marL="0" indent="0">
              <a:buNone/>
            </a:pPr>
            <a:r>
              <a:rPr lang="en-US" sz="2800" b="1" dirty="0">
                <a:solidFill>
                  <a:schemeClr val="tx2"/>
                </a:solidFill>
                <a:latin typeface="Cambria" pitchFamily="34" charset="0"/>
                <a:ea typeface="Cambria" pitchFamily="34" charset="-122"/>
                <a:cs typeface="Cambria" pitchFamily="34" charset="-120"/>
              </a:rPr>
              <a:t>±5</a:t>
            </a:r>
            <a:endParaRPr lang="en-US" sz="2800" dirty="0"/>
          </a:p>
        </p:txBody>
      </p:sp>
      <p:sp>
        <p:nvSpPr>
          <p:cNvPr id="16" name="Text 13"/>
          <p:cNvSpPr txBox="1"/>
          <p:nvPr/>
        </p:nvSpPr>
        <p:spPr>
          <a:xfrm>
            <a:off x="7882128" y="5623560"/>
            <a:ext cx="1664208" cy="566928"/>
          </a:xfrm>
          <a:prstGeom prst="rect">
            <a:avLst/>
          </a:prstGeom>
          <a:noFill/>
          <a:ln/>
        </p:spPr>
        <p:txBody>
          <a:bodyPr wrap="square" lIns="0" tIns="0" rIns="0" bIns="0" rtlCol="0" anchor="t"/>
          <a:lstStyle/>
          <a:p>
            <a:pPr marL="0" indent="0">
              <a:buNone/>
            </a:pPr>
            <a:r>
              <a:rPr lang="en-US" sz="1200" dirty="0">
                <a:solidFill>
                  <a:schemeClr val="accent5"/>
                </a:solidFill>
              </a:rPr>
              <a:t>tolerancia aceptada</a:t>
            </a:r>
            <a:endParaRPr lang="en-US" sz="1200" dirty="0"/>
          </a:p>
        </p:txBody>
      </p:sp>
      <p:sp>
        <p:nvSpPr>
          <p:cNvPr id="17" name="Shape 14"/>
          <p:cNvSpPr/>
          <p:nvPr/>
        </p:nvSpPr>
        <p:spPr>
          <a:xfrm>
            <a:off x="9756648" y="4983480"/>
            <a:ext cx="1883664" cy="1261872"/>
          </a:xfrm>
          <a:prstGeom prst="roundRect">
            <a:avLst>
              <a:gd name="adj" fmla="val 7246"/>
            </a:avLst>
          </a:prstGeom>
          <a:solidFill>
            <a:schemeClr val="accent1"/>
          </a:solidFill>
          <a:ln w="12700">
            <a:solidFill>
              <a:schemeClr val="accent1"/>
            </a:solidFill>
            <a:prstDash val="solid"/>
          </a:ln>
        </p:spPr>
      </p:sp>
      <p:sp>
        <p:nvSpPr>
          <p:cNvPr id="18" name="Text 15"/>
          <p:cNvSpPr txBox="1"/>
          <p:nvPr/>
        </p:nvSpPr>
        <p:spPr>
          <a:xfrm>
            <a:off x="9866376" y="5056632"/>
            <a:ext cx="1664208" cy="548640"/>
          </a:xfrm>
          <a:prstGeom prst="rect">
            <a:avLst/>
          </a:prstGeom>
          <a:noFill/>
          <a:ln/>
        </p:spPr>
        <p:txBody>
          <a:bodyPr wrap="square" lIns="0" tIns="0" rIns="0" bIns="0" rtlCol="0" anchor="ctr"/>
          <a:lstStyle/>
          <a:p>
            <a:pPr marL="0" indent="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sp>
        <p:nvSpPr>
          <p:cNvPr id="19" name="Text 16"/>
          <p:cNvSpPr txBox="1"/>
          <p:nvPr/>
        </p:nvSpPr>
        <p:spPr>
          <a:xfrm>
            <a:off x="9866376" y="5623560"/>
            <a:ext cx="1664208" cy="566928"/>
          </a:xfrm>
          <a:prstGeom prst="rect">
            <a:avLst/>
          </a:prstGeom>
          <a:noFill/>
          <a:ln/>
        </p:spPr>
        <p:txBody>
          <a:bodyPr wrap="square" lIns="0" tIns="0" rIns="0" bIns="0" rtlCol="0" anchor="t"/>
          <a:lstStyle/>
          <a:p>
            <a:pPr marL="0" indent="0">
              <a:buNone/>
            </a:pPr>
            <a:r>
              <a:rPr lang="en-US" sz="1200" dirty="0">
                <a:solidFill>
                  <a:schemeClr val="bg1"/>
                </a:solidFill>
              </a:rPr>
              <a:t>validaciones: individual y general</a:t>
            </a:r>
            <a:endParaRPr lang="en-US" sz="12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Explicación del código · R</a:t>
            </a:r>
            <a:endParaRPr lang="en-US" sz="3200" dirty="0"/>
          </a:p>
        </p:txBody>
      </p:sp>
      <p:sp>
        <p:nvSpPr>
          <p:cNvPr id="3" name="Etiqueta de lenguaje"/>
          <p:cNvSpPr/>
          <p:nvPr/>
        </p:nvSpPr>
        <p:spPr>
          <a:xfrm>
            <a:off x="9326880" y="457200"/>
            <a:ext cx="2313432" cy="45720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326880" y="457200"/>
            <a:ext cx="2313432" cy="457200"/>
          </a:xfrm>
          <a:prstGeom prst="rect">
            <a:avLst/>
          </a:prstGeom>
          <a:noFill/>
          <a:ln/>
        </p:spPr>
        <p:txBody>
          <a:bodyPr wrap="square" lIns="0" tIns="0" rIns="0" bIns="0" rtlCol="0" anchor="ctr"/>
          <a:lstStyle/>
          <a:p>
            <a:pPr marL="0" indent="0" algn="ctr">
              <a:buNone/>
            </a:pPr>
            <a:r>
              <a:rPr lang="en-US" sz="1400" b="1" dirty="0">
                <a:solidFill>
                  <a:schemeClr val="bg1"/>
                </a:solidFill>
              </a:rPr>
              <a:t>R · 4.4</a:t>
            </a:r>
            <a:endParaRPr lang="en-US" sz="1400" dirty="0"/>
          </a:p>
        </p:txBody>
      </p:sp>
      <p:sp>
        <p:nvSpPr>
          <p:cNvPr id="5" name="Shape 3"/>
          <p:cNvSpPr/>
          <p:nvPr/>
        </p:nvSpPr>
        <p:spPr>
          <a:xfrm>
            <a:off x="548640" y="1280160"/>
            <a:ext cx="11091672" cy="914400"/>
          </a:xfrm>
          <a:prstGeom prst="roundRect">
            <a:avLst>
              <a:gd name="adj" fmla="val 10000"/>
            </a:avLst>
          </a:prstGeom>
          <a:solidFill>
            <a:schemeClr val="bg2"/>
          </a:solidFill>
          <a:ln w="12700">
            <a:solidFill>
              <a:schemeClr val="bg2"/>
            </a:solidFill>
            <a:prstDash val="solid"/>
          </a:ln>
        </p:spPr>
      </p:sp>
      <p:sp>
        <p:nvSpPr>
          <p:cNvPr id="6" name="Shape 4"/>
          <p:cNvSpPr/>
          <p:nvPr/>
        </p:nvSpPr>
        <p:spPr>
          <a:xfrm>
            <a:off x="731520" y="1463040"/>
            <a:ext cx="548640" cy="548640"/>
          </a:xfrm>
          <a:prstGeom prst="ellipse">
            <a:avLst/>
          </a:prstGeom>
          <a:solidFill>
            <a:schemeClr val="accent1"/>
          </a:solidFill>
          <a:ln w="12700">
            <a:solidFill>
              <a:schemeClr val="accent1"/>
            </a:solidFill>
            <a:prstDash val="solid"/>
          </a:ln>
        </p:spPr>
      </p:sp>
      <p:sp>
        <p:nvSpPr>
          <p:cNvPr id="7" name="Text 5"/>
          <p:cNvSpPr txBox="1"/>
          <p:nvPr/>
        </p:nvSpPr>
        <p:spPr>
          <a:xfrm>
            <a:off x="731520" y="14630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6"/>
          <p:cNvSpPr txBox="1"/>
          <p:nvPr/>
        </p:nvSpPr>
        <p:spPr>
          <a:xfrm>
            <a:off x="1508760" y="133502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 1 · Réplicas</a:t>
            </a:r>
            <a:endParaRPr lang="en-US" sz="1500" dirty="0"/>
          </a:p>
          <a:p>
            <a:pPr marL="0" indent="0">
              <a:buNone/>
            </a:pPr>
            <a:r>
              <a:rPr lang="en-US" sz="1400" dirty="0">
                <a:solidFill>
                  <a:schemeClr val="tx1"/>
                </a:solidFill>
              </a:rPr>
              <a:t>replicate(30, simulador(10)) ejecuta 30 veces la función simulador (inventario de 10 días con demanda aleatoria y reorden) y guarda los 30 resultados en el vector replicas.</a:t>
            </a:r>
            <a:endParaRPr lang="en-US" sz="1500" dirty="0"/>
          </a:p>
        </p:txBody>
      </p:sp>
      <p:sp>
        <p:nvSpPr>
          <p:cNvPr id="9" name="Shape 7"/>
          <p:cNvSpPr/>
          <p:nvPr/>
        </p:nvSpPr>
        <p:spPr>
          <a:xfrm>
            <a:off x="548640" y="2286000"/>
            <a:ext cx="11091672" cy="914400"/>
          </a:xfrm>
          <a:prstGeom prst="roundRect">
            <a:avLst>
              <a:gd name="adj" fmla="val 10000"/>
            </a:avLst>
          </a:prstGeom>
          <a:solidFill>
            <a:schemeClr val="bg2"/>
          </a:solidFill>
          <a:ln w="12700">
            <a:solidFill>
              <a:schemeClr val="bg2"/>
            </a:solidFill>
            <a:prstDash val="solid"/>
          </a:ln>
        </p:spPr>
      </p:sp>
      <p:sp>
        <p:nvSpPr>
          <p:cNvPr id="10" name="Shape 8"/>
          <p:cNvSpPr/>
          <p:nvPr/>
        </p:nvSpPr>
        <p:spPr>
          <a:xfrm>
            <a:off x="731520" y="246888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731520" y="24688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1508760" y="234086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3 y 4 · Criterios de validación</a:t>
            </a:r>
            <a:endParaRPr lang="en-US" sz="1500" dirty="0"/>
          </a:p>
          <a:p>
            <a:pPr marL="0" indent="0">
              <a:buNone/>
            </a:pPr>
            <a:r>
              <a:rPr lang="en-US" sz="1400" dirty="0">
                <a:solidFill>
                  <a:schemeClr val="tx1"/>
                </a:solidFill>
              </a:rPr>
              <a:t>valor_real &lt;- 45 es el valor de referencia y tolerancia &lt;- 5 es la diferencia máxima que se acepta entre el simulador y la realidad.</a:t>
            </a:r>
            <a:endParaRPr lang="en-US" sz="1500" dirty="0"/>
          </a:p>
        </p:txBody>
      </p:sp>
      <p:sp>
        <p:nvSpPr>
          <p:cNvPr id="13" name="Shape 11"/>
          <p:cNvSpPr/>
          <p:nvPr/>
        </p:nvSpPr>
        <p:spPr>
          <a:xfrm>
            <a:off x="548640" y="3291840"/>
            <a:ext cx="11091672" cy="914400"/>
          </a:xfrm>
          <a:prstGeom prst="roundRect">
            <a:avLst>
              <a:gd name="adj" fmla="val 10000"/>
            </a:avLst>
          </a:prstGeom>
          <a:solidFill>
            <a:schemeClr val="bg2"/>
          </a:solidFill>
          <a:ln w="12700">
            <a:solidFill>
              <a:schemeClr val="bg2"/>
            </a:solidFill>
            <a:prstDash val="solid"/>
          </a:ln>
        </p:spPr>
      </p:sp>
      <p:sp>
        <p:nvSpPr>
          <p:cNvPr id="14" name="Shape 12"/>
          <p:cNvSpPr/>
          <p:nvPr/>
        </p:nvSpPr>
        <p:spPr>
          <a:xfrm>
            <a:off x="731520" y="34747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73152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1508760" y="334670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6 a 18 · Validación individual</a:t>
            </a:r>
            <a:endParaRPr lang="en-US" sz="1500" dirty="0"/>
          </a:p>
          <a:p>
            <a:pPr marL="0" indent="0">
              <a:buNone/>
            </a:pPr>
            <a:r>
              <a:rPr lang="en-US" sz="1400" dirty="0">
                <a:solidFill>
                  <a:schemeClr val="tx1"/>
                </a:solidFill>
              </a:rPr>
              <a:t>El for recorre cada réplica y calcula diferencia = abs(replicas[i] - valor_real). Si es menor a la tolerancia imprime "Validacion exitosa"; si no, "Validacion fallida", con el número de réplica y su resultado.</a:t>
            </a:r>
            <a:endParaRPr lang="en-US" sz="1500" dirty="0"/>
          </a:p>
        </p:txBody>
      </p:sp>
      <p:sp>
        <p:nvSpPr>
          <p:cNvPr id="17" name="Shape 15"/>
          <p:cNvSpPr/>
          <p:nvPr/>
        </p:nvSpPr>
        <p:spPr>
          <a:xfrm>
            <a:off x="548640" y="4297680"/>
            <a:ext cx="11091672" cy="914400"/>
          </a:xfrm>
          <a:prstGeom prst="roundRect">
            <a:avLst>
              <a:gd name="adj" fmla="val 10000"/>
            </a:avLst>
          </a:prstGeom>
          <a:solidFill>
            <a:schemeClr val="bg2"/>
          </a:solidFill>
          <a:ln w="12700">
            <a:solidFill>
              <a:schemeClr val="bg2"/>
            </a:solidFill>
            <a:prstDash val="solid"/>
          </a:ln>
        </p:spPr>
      </p:sp>
      <p:sp>
        <p:nvSpPr>
          <p:cNvPr id="18" name="Shape 16"/>
          <p:cNvSpPr/>
          <p:nvPr/>
        </p:nvSpPr>
        <p:spPr>
          <a:xfrm>
            <a:off x="731520" y="4480560"/>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731520" y="44805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8"/>
          <p:cNvSpPr txBox="1"/>
          <p:nvPr/>
        </p:nvSpPr>
        <p:spPr>
          <a:xfrm>
            <a:off x="1508760" y="435254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19 a 25 · Validación general</a:t>
            </a:r>
            <a:endParaRPr lang="en-US" sz="1500" dirty="0"/>
          </a:p>
          <a:p>
            <a:pPr marL="0" indent="0">
              <a:buNone/>
            </a:pPr>
            <a:r>
              <a:rPr lang="en-US" sz="1400" dirty="0">
                <a:solidFill>
                  <a:schemeClr val="tx1"/>
                </a:solidFill>
              </a:rPr>
              <a:t>mean(replicas) obtiene el promedio de las 30 réplicas y se calcula su diferencia con el valor real. cat(sprintf("%.2f")) muestra promedio, valor real y diferencia con dos decimales.</a:t>
            </a:r>
            <a:endParaRPr lang="en-US" sz="1500" dirty="0"/>
          </a:p>
        </p:txBody>
      </p:sp>
      <p:sp>
        <p:nvSpPr>
          <p:cNvPr id="21" name="Shape 19"/>
          <p:cNvSpPr/>
          <p:nvPr/>
        </p:nvSpPr>
        <p:spPr>
          <a:xfrm>
            <a:off x="548640" y="5303520"/>
            <a:ext cx="11091672" cy="914400"/>
          </a:xfrm>
          <a:prstGeom prst="roundRect">
            <a:avLst>
              <a:gd name="adj" fmla="val 10000"/>
            </a:avLst>
          </a:prstGeom>
          <a:solidFill>
            <a:schemeClr val="bg2"/>
          </a:solidFill>
          <a:ln w="12700">
            <a:solidFill>
              <a:schemeClr val="bg2"/>
            </a:solidFill>
            <a:prstDash val="solid"/>
          </a:ln>
        </p:spPr>
      </p:sp>
      <p:sp>
        <p:nvSpPr>
          <p:cNvPr id="22" name="Shape 20"/>
          <p:cNvSpPr/>
          <p:nvPr/>
        </p:nvSpPr>
        <p:spPr>
          <a:xfrm>
            <a:off x="731520" y="5486400"/>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731520" y="5486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4" name="Text 22"/>
          <p:cNvSpPr txBox="1"/>
          <p:nvPr/>
        </p:nvSpPr>
        <p:spPr>
          <a:xfrm>
            <a:off x="1508760" y="5358384"/>
            <a:ext cx="9966960" cy="804672"/>
          </a:xfrm>
          <a:prstGeom prst="rect">
            <a:avLst/>
          </a:prstGeom>
          <a:noFill/>
          <a:ln/>
        </p:spPr>
        <p:txBody>
          <a:bodyPr wrap="square" lIns="0" tIns="0" rIns="0" bIns="0" rtlCol="0" anchor="ctr"/>
          <a:lstStyle/>
          <a:p>
            <a:pPr marL="0" indent="0">
              <a:buNone/>
            </a:pPr>
            <a:r>
              <a:rPr lang="en-US" sz="1500" b="1" dirty="0">
                <a:solidFill>
                  <a:schemeClr val="tx2"/>
                </a:solidFill>
              </a:rPr>
              <a:t>Líneas 27 a 31 · Decisión final</a:t>
            </a:r>
            <a:endParaRPr lang="en-US" sz="1500" dirty="0"/>
          </a:p>
          <a:p>
            <a:pPr marL="0" indent="0">
              <a:buNone/>
            </a:pPr>
            <a:r>
              <a:rPr lang="en-US" sz="1400" dirty="0">
                <a:solidFill>
                  <a:schemeClr val="tx1"/>
                </a:solidFill>
              </a:rPr>
              <a:t>Si la diferencia del promedio es menor que la tolerancia, la validación general es exitosa; si no, fallida. Es la decisión que cuenta, porque una réplica aislada puede acertar o fallar solo por azar.</a:t>
            </a:r>
            <a:endParaRPr lang="en-US" sz="15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412480" cy="82296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Los tres lenguajes lado a lado</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457200">
                <a:tc>
                  <a:txBody>
                    <a:bodyPr/>
                    <a:lstStyle/>
                    <a:p>
                      <a:pPr marL="0" indent="0" algn="ctr">
                        <a:buNone/>
                      </a:pP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Java</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accent3"/>
                    </a:solidFill>
                  </a:tcPr>
                </a:tc>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Python</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accent2"/>
                    </a:solidFill>
                  </a:tcPr>
                </a:tc>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chemeClr val="tx2"/>
                          </a:solidFill>
                          <a:latin typeface="Calibri" pitchFamily="34" charset="0"/>
                          <a:ea typeface="Calibri" pitchFamily="34" charset="-122"/>
                          <a:cs typeface="Calibri" pitchFamily="34" charset="-120"/>
                        </a:rPr>
                        <a:t>Entorno</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Visual Studio Code, JDK 21</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Visual Studio Code, Python 3.13</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RStudio, R 4.5.2</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00" b="1" dirty="0">
                          <a:solidFill>
                            <a:schemeClr val="tx2"/>
                          </a:solidFill>
                          <a:latin typeface="Calibri" pitchFamily="34" charset="0"/>
                          <a:ea typeface="Calibri" pitchFamily="34" charset="-122"/>
                          <a:cs typeface="Calibri" pitchFamily="34" charset="-120"/>
                        </a:rPr>
                        <a:t>Programa</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BancoDosCajeros</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cajero_automatico</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Validacion_simulador</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00" b="1" dirty="0">
                          <a:solidFill>
                            <a:schemeClr val="tx2"/>
                          </a:solidFill>
                          <a:latin typeface="Calibri" pitchFamily="34" charset="0"/>
                          <a:ea typeface="Calibri" pitchFamily="34" charset="-122"/>
                          <a:cs typeface="Calibri" pitchFamily="34" charset="-120"/>
                        </a:rPr>
                        <a:t>Subtema</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4.3.1 Líneas de espera</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4.3.1 Líneas de espera</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4.4 Validación de un simulador</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400" b="1" dirty="0">
                          <a:solidFill>
                            <a:schemeClr val="tx2"/>
                          </a:solidFill>
                          <a:latin typeface="Calibri" pitchFamily="34" charset="0"/>
                          <a:ea typeface="Calibri" pitchFamily="34" charset="-122"/>
                          <a:cs typeface="Calibri" pitchFamily="34" charset="-120"/>
                        </a:rPr>
                        <a:t>Estructura clave</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LinkedList y arreglo int[] con el tiempo de cada cajero</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Lista con append() y pop(0)</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Vector de réplicas con replicate()</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marL="0" indent="0">
                        <a:buNone/>
                      </a:pPr>
                      <a:r>
                        <a:rPr lang="en-US" sz="1400" b="1" dirty="0">
                          <a:solidFill>
                            <a:schemeClr val="tx2"/>
                          </a:solidFill>
                          <a:latin typeface="Calibri" pitchFamily="34" charset="0"/>
                          <a:ea typeface="Calibri" pitchFamily="34" charset="-122"/>
                          <a:cs typeface="Calibri" pitchFamily="34" charset="-120"/>
                        </a:rPr>
                        <a:t>Aleatoriedad</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java.util.Random con semilla 11</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random con semilla 7</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Función simulador() repetida 30 veces</a:t>
                      </a:r>
                      <a:endParaRPr lang="en-US" sz="1400" dirty="0">
                        <a:latin typeface="Calibri" charset="0"/>
                        <a:ea typeface="Calibri" charset="0"/>
                        <a:cs typeface="Calibri" charset="0"/>
                      </a:endParaRPr>
                    </a:p>
                  </a:txBody>
                  <a:tcPr marL="109728" marR="109728" anchor="ctr">
                    <a:lnL w="12700" cap="flat" cmpd="sng" algn="ctr">
                      <a:solidFill>
                        <a:srgbClr val="D5DEE8"/>
                      </a:solidFill>
                      <a:prstDash val="solid"/>
                      <a:round/>
                      <a:headEnd type="none" w="med" len="med"/>
                      <a:tailEnd type="none" w="med" len="med"/>
                    </a:lnL>
                    <a:lnR w="12700" cap="flat" cmpd="sng" algn="ctr">
                      <a:solidFill>
                        <a:srgbClr val="D5DEE8"/>
                      </a:solidFill>
                      <a:prstDash val="solid"/>
                      <a:round/>
                      <a:headEnd type="none" w="med" len="med"/>
                      <a:tailEnd type="none" w="med" len="med"/>
                    </a:lnR>
                    <a:lnT w="12700" cap="flat" cmpd="sng" algn="ctr">
                      <a:solidFill>
                        <a:srgbClr val="D5DEE8"/>
                      </a:solidFill>
                      <a:prstDash val="solid"/>
                      <a:round/>
                      <a:headEnd type="none" w="med" len="med"/>
                      <a:tailEnd type="none" w="med" len="med"/>
                    </a:lnT>
                    <a:lnB w="12700" cap="flat" cmpd="sng" algn="ctr">
                      <a:solidFill>
                        <a:srgbClr val="D5DE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hape 1"/>
          <p:cNvSpPr/>
          <p:nvPr/>
        </p:nvSpPr>
        <p:spPr>
          <a:xfrm>
            <a:off x="548640" y="5212080"/>
            <a:ext cx="11091672" cy="1051560"/>
          </a:xfrm>
          <a:prstGeom prst="roundRect">
            <a:avLst>
              <a:gd name="adj" fmla="val 8696"/>
            </a:avLst>
          </a:prstGeom>
          <a:solidFill>
            <a:schemeClr val="accent1"/>
          </a:solidFill>
          <a:ln w="12700">
            <a:solidFill>
              <a:schemeClr val="accent1"/>
            </a:solidFill>
            <a:prstDash val="solid"/>
          </a:ln>
        </p:spPr>
      </p:sp>
      <p:sp>
        <p:nvSpPr>
          <p:cNvPr id="5" name="Text 2"/>
          <p:cNvSpPr txBox="1"/>
          <p:nvPr/>
        </p:nvSpPr>
        <p:spPr>
          <a:xfrm>
            <a:off x="822960" y="5257800"/>
            <a:ext cx="10515600" cy="960120"/>
          </a:xfrm>
          <a:prstGeom prst="rect">
            <a:avLst/>
          </a:prstGeom>
          <a:noFill/>
          <a:ln/>
        </p:spPr>
        <p:txBody>
          <a:bodyPr wrap="square" lIns="0" tIns="0" rIns="0" bIns="0" rtlCol="0" anchor="ctr"/>
          <a:lstStyle/>
          <a:p>
            <a:pPr marL="0" indent="0">
              <a:buNone/>
            </a:pPr>
            <a:r>
              <a:rPr lang="en-US" sz="1700" dirty="0">
                <a:solidFill>
                  <a:schemeClr val="bg1"/>
                </a:solidFill>
              </a:rPr>
              <a:t>Aunque la sintaxis cambia, la lógica es la misma: un reloj que avanza, elementos que esperan o se atienden y números aleatorios que representan la incertidumbre.</a:t>
            </a:r>
            <a:endParaRPr lang="en-US" sz="1700" dirty="0"/>
          </a:p>
        </p:txBody>
      </p:sp>
      <p:sp>
        <p:nvSpPr>
          <p:cNvPr id="25" name="Slide Number Placeholder 0"/>
          <p:cNvSpPr>
            <a:spLocks noGrp="1"/>
          </p:cNvSpPr>
          <p:nvPr>
            <p:ph type="sldNum" sz="quarter" idx="4294967295"/>
          </p:nvPr>
        </p:nvSpPr>
        <p:spPr>
          <a:xfrm>
            <a:off x="10972800" y="6455664"/>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686800" cy="822960"/>
          </a:xfrm>
          <a:prstGeom prst="rect">
            <a:avLst/>
          </a:prstGeom>
          <a:noFill/>
          <a:ln/>
        </p:spPr>
        <p:txBody>
          <a:bodyPr wrap="square" lIns="0" tIns="0" rIns="0" bIns="0" rtlCol="0" anchor="ctr"/>
          <a:lstStyle/>
          <a:p>
            <a:pPr marL="0" indent="0" algn="l">
              <a:buNone/>
            </a:pPr>
            <a:r>
              <a:rPr lang="en-US" sz="3600" b="1" dirty="0">
                <a:solidFill>
                  <a:schemeClr val="bg1"/>
                </a:solidFill>
                <a:latin typeface="Cambria" pitchFamily="34" charset="0"/>
                <a:ea typeface="Cambria" pitchFamily="34" charset="-122"/>
                <a:cs typeface="Cambria" pitchFamily="34" charset="-120"/>
              </a:rPr>
              <a:t>Conclusión</a:t>
            </a:r>
            <a:endParaRPr lang="en-US" sz="3600" dirty="0"/>
          </a:p>
        </p:txBody>
      </p:sp>
      <p:sp>
        <p:nvSpPr>
          <p:cNvPr id="3" name="Text 1"/>
          <p:cNvSpPr txBox="1"/>
          <p:nvPr/>
        </p:nvSpPr>
        <p:spPr>
          <a:xfrm>
            <a:off x="548640" y="1371600"/>
            <a:ext cx="6675120" cy="4846320"/>
          </a:xfrm>
          <a:prstGeom prst="rect">
            <a:avLst/>
          </a:prstGeom>
          <a:noFill/>
          <a:ln/>
        </p:spPr>
        <p:txBody>
          <a:bodyPr wrap="square" lIns="0" tIns="0" rIns="0" bIns="0" rtlCol="0" anchor="t"/>
          <a:lstStyle/>
          <a:p>
            <a:pPr marL="0" indent="0">
              <a:spcAft>
                <a:spcPts val="1200"/>
              </a:spcAft>
              <a:buNone/>
            </a:pPr>
            <a:r>
              <a:rPr lang="en-US" sz="1900" dirty="0">
                <a:solidFill>
                  <a:schemeClr val="bg1"/>
                </a:solidFill>
              </a:rPr>
              <a:t>La práctica permitió comprobar que un mismo modelo de simulación puede construirse en distintos lenguajes sin cambiar su lógica. En Java y Python se resolvió una línea de espera, y en R la validación de un simulador mediante réplicas.</a:t>
            </a:r>
            <a:endParaRPr lang="en-US" sz="1900" dirty="0"/>
          </a:p>
          <a:p>
            <a:pPr marL="0" indent="0">
              <a:spcAft>
                <a:spcPts val="1200"/>
              </a:spcAft>
              <a:buNone/>
            </a:pPr>
            <a:r>
              <a:rPr lang="en-US" sz="1900" dirty="0">
                <a:solidFill>
                  <a:schemeClr val="bg1"/>
                </a:solidFill>
              </a:rPr>
              <a:t>También se observó que una sola corrida no basta: el resultado cambia con la semilla y con el azar, por lo que se necesitan varias réplicas y un criterio de tolerancia para validar. Conocer varios lenguajes permite elegir el más adecuado para cada problema de simulación.</a:t>
            </a:r>
            <a:endParaRPr lang="en-US" sz="1900" dirty="0"/>
          </a:p>
        </p:txBody>
      </p:sp>
      <p:sp>
        <p:nvSpPr>
          <p:cNvPr id="4" name="Shape 2"/>
          <p:cNvSpPr/>
          <p:nvPr/>
        </p:nvSpPr>
        <p:spPr>
          <a:xfrm>
            <a:off x="7589520" y="1371600"/>
            <a:ext cx="4050792" cy="1463040"/>
          </a:xfrm>
          <a:prstGeom prst="roundRect">
            <a:avLst>
              <a:gd name="adj" fmla="val 7500"/>
            </a:avLst>
          </a:prstGeom>
          <a:solidFill>
            <a:schemeClr val="bg1">
              <a:alpha val="10000"/>
            </a:schemeClr>
          </a:solidFill>
          <a:ln/>
        </p:spPr>
      </p:sp>
      <p:sp>
        <p:nvSpPr>
          <p:cNvPr id="5" name="Shape 3"/>
          <p:cNvSpPr/>
          <p:nvPr/>
        </p:nvSpPr>
        <p:spPr>
          <a:xfrm>
            <a:off x="7818120" y="1554480"/>
            <a:ext cx="457200" cy="457200"/>
          </a:xfrm>
          <a:prstGeom prst="ellipse">
            <a:avLst/>
          </a:prstGeom>
          <a:solidFill>
            <a:schemeClr val="accent3"/>
          </a:solidFill>
          <a:ln w="12700">
            <a:solidFill>
              <a:schemeClr val="accent3"/>
            </a:solidFill>
            <a:prstDash val="solid"/>
          </a:ln>
        </p:spPr>
      </p:sp>
      <p:sp>
        <p:nvSpPr>
          <p:cNvPr id="6" name="Text 4"/>
          <p:cNvSpPr txBox="1"/>
          <p:nvPr/>
        </p:nvSpPr>
        <p:spPr>
          <a:xfrm>
            <a:off x="8458200" y="1508760"/>
            <a:ext cx="3017520" cy="54864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Java</a:t>
            </a:r>
            <a:endParaRPr lang="en-US" sz="2000" dirty="0"/>
          </a:p>
        </p:txBody>
      </p:sp>
      <p:sp>
        <p:nvSpPr>
          <p:cNvPr id="7" name="Text 5"/>
          <p:cNvSpPr txBox="1"/>
          <p:nvPr/>
        </p:nvSpPr>
        <p:spPr>
          <a:xfrm>
            <a:off x="7818120" y="2148840"/>
            <a:ext cx="3657600" cy="594360"/>
          </a:xfrm>
          <a:prstGeom prst="rect">
            <a:avLst/>
          </a:prstGeom>
          <a:noFill/>
          <a:ln/>
        </p:spPr>
        <p:txBody>
          <a:bodyPr wrap="square" lIns="0" tIns="0" rIns="0" bIns="0" rtlCol="0" anchor="t"/>
          <a:lstStyle/>
          <a:p>
            <a:pPr marL="0" indent="0">
              <a:buNone/>
            </a:pPr>
            <a:r>
              <a:rPr lang="en-US" sz="1400" dirty="0">
                <a:solidFill>
                  <a:schemeClr val="bg2"/>
                </a:solidFill>
              </a:rPr>
              <a:t>Lógica explícita y tipada; el código es más extenso.</a:t>
            </a:r>
            <a:endParaRPr lang="en-US" sz="1400" dirty="0"/>
          </a:p>
        </p:txBody>
      </p:sp>
      <p:sp>
        <p:nvSpPr>
          <p:cNvPr id="8" name="Shape 6"/>
          <p:cNvSpPr/>
          <p:nvPr/>
        </p:nvSpPr>
        <p:spPr>
          <a:xfrm>
            <a:off x="7589520" y="3017520"/>
            <a:ext cx="4050792" cy="1463040"/>
          </a:xfrm>
          <a:prstGeom prst="roundRect">
            <a:avLst>
              <a:gd name="adj" fmla="val 7500"/>
            </a:avLst>
          </a:prstGeom>
          <a:solidFill>
            <a:schemeClr val="bg1">
              <a:alpha val="10000"/>
            </a:schemeClr>
          </a:solidFill>
          <a:ln/>
        </p:spPr>
      </p:sp>
      <p:sp>
        <p:nvSpPr>
          <p:cNvPr id="9" name="Shape 7"/>
          <p:cNvSpPr/>
          <p:nvPr/>
        </p:nvSpPr>
        <p:spPr>
          <a:xfrm>
            <a:off x="7818120" y="320040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8458200" y="3154680"/>
            <a:ext cx="3017520" cy="54864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Python</a:t>
            </a:r>
            <a:endParaRPr lang="en-US" sz="2000" dirty="0"/>
          </a:p>
        </p:txBody>
      </p:sp>
      <p:sp>
        <p:nvSpPr>
          <p:cNvPr id="11" name="Text 9"/>
          <p:cNvSpPr txBox="1"/>
          <p:nvPr/>
        </p:nvSpPr>
        <p:spPr>
          <a:xfrm>
            <a:off x="7818120" y="3794760"/>
            <a:ext cx="3657600" cy="594360"/>
          </a:xfrm>
          <a:prstGeom prst="rect">
            <a:avLst/>
          </a:prstGeom>
          <a:noFill/>
          <a:ln/>
        </p:spPr>
        <p:txBody>
          <a:bodyPr wrap="square" lIns="0" tIns="0" rIns="0" bIns="0" rtlCol="0" anchor="t"/>
          <a:lstStyle/>
          <a:p>
            <a:pPr marL="0" indent="0">
              <a:buNone/>
            </a:pPr>
            <a:r>
              <a:rPr lang="en-US" sz="1400" dirty="0">
                <a:solidFill>
                  <a:schemeClr val="bg2"/>
                </a:solidFill>
              </a:rPr>
              <a:t>Código breve y legible, ideal para prototipar.</a:t>
            </a:r>
            <a:endParaRPr lang="en-US" sz="1400" dirty="0"/>
          </a:p>
        </p:txBody>
      </p:sp>
      <p:sp>
        <p:nvSpPr>
          <p:cNvPr id="12" name="Shape 10"/>
          <p:cNvSpPr/>
          <p:nvPr/>
        </p:nvSpPr>
        <p:spPr>
          <a:xfrm>
            <a:off x="7589520" y="4663440"/>
            <a:ext cx="4050792" cy="1463040"/>
          </a:xfrm>
          <a:prstGeom prst="roundRect">
            <a:avLst>
              <a:gd name="adj" fmla="val 7500"/>
            </a:avLst>
          </a:prstGeom>
          <a:solidFill>
            <a:schemeClr val="bg1">
              <a:alpha val="10000"/>
            </a:schemeClr>
          </a:solidFill>
          <a:ln/>
        </p:spPr>
      </p:sp>
      <p:sp>
        <p:nvSpPr>
          <p:cNvPr id="13" name="Shape 11"/>
          <p:cNvSpPr/>
          <p:nvPr/>
        </p:nvSpPr>
        <p:spPr>
          <a:xfrm>
            <a:off x="7818120" y="4846320"/>
            <a:ext cx="457200" cy="457200"/>
          </a:xfrm>
          <a:prstGeom prst="ellipse">
            <a:avLst/>
          </a:prstGeom>
          <a:solidFill>
            <a:schemeClr val="accent4"/>
          </a:solidFill>
          <a:ln w="12700">
            <a:solidFill>
              <a:schemeClr val="accent4"/>
            </a:solidFill>
            <a:prstDash val="solid"/>
          </a:ln>
        </p:spPr>
      </p:sp>
      <p:sp>
        <p:nvSpPr>
          <p:cNvPr id="14" name="Text 12"/>
          <p:cNvSpPr txBox="1"/>
          <p:nvPr/>
        </p:nvSpPr>
        <p:spPr>
          <a:xfrm>
            <a:off x="8458200" y="4800600"/>
            <a:ext cx="3017520" cy="54864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R</a:t>
            </a:r>
            <a:endParaRPr lang="en-US" sz="2000" dirty="0"/>
          </a:p>
        </p:txBody>
      </p:sp>
      <p:sp>
        <p:nvSpPr>
          <p:cNvPr id="15" name="Text 13"/>
          <p:cNvSpPr txBox="1"/>
          <p:nvPr/>
        </p:nvSpPr>
        <p:spPr>
          <a:xfrm>
            <a:off x="7818120" y="5440680"/>
            <a:ext cx="3657600" cy="594360"/>
          </a:xfrm>
          <a:prstGeom prst="rect">
            <a:avLst/>
          </a:prstGeom>
          <a:noFill/>
          <a:ln/>
        </p:spPr>
        <p:txBody>
          <a:bodyPr wrap="square" lIns="0" tIns="0" rIns="0" bIns="0" rtlCol="0" anchor="t"/>
          <a:lstStyle/>
          <a:p>
            <a:pPr marL="0" indent="0">
              <a:buNone/>
            </a:pPr>
            <a:r>
              <a:rPr lang="en-US" sz="1400" dirty="0">
                <a:solidFill>
                  <a:schemeClr val="bg2"/>
                </a:solidFill>
              </a:rPr>
              <a:t>Muy cómodo para réplicas y pruebas estadísticas.</a:t>
            </a:r>
            <a:endParaRPr lang="en-US" sz="1400" dirty="0"/>
          </a:p>
        </p:txBody>
      </p:sp>
    </p:spTree>
  </p:cSld>
  <p:clrMapOvr>
    <a:masterClrMapping/>
  </p:clrMapOvr>
</p:sld>
</file>

<file path=ppt/theme/theme1.xml><?xml version="1.0" encoding="utf-8"?>
<a:theme xmlns:a="http://schemas.openxmlformats.org/drawingml/2006/main" name="Simulacion">
  <a:themeElements>
    <a:clrScheme name="Simulacion">
      <a:dk1>
        <a:srgbClr val="1B2433"/>
      </a:dk1>
      <a:lt1>
        <a:srgbClr val="FFFFFF"/>
      </a:lt1>
      <a:dk2>
        <a:srgbClr val="14213D"/>
      </a:dk2>
      <a:lt2>
        <a:srgbClr val="EEF3F7"/>
      </a:lt2>
      <a:accent1>
        <a:srgbClr val="0E7C86"/>
      </a:accent1>
      <a:accent2>
        <a:srgbClr val="F2A541"/>
      </a:accent2>
      <a:accent3>
        <a:srgbClr val="E4572E"/>
      </a:accent3>
      <a:accent4>
        <a:srgbClr val="5B6FD6"/>
      </a:accent4>
      <a:accent5>
        <a:srgbClr val="5F6B7D"/>
      </a:accent5>
      <a:accent6>
        <a:srgbClr val="2A9D8F"/>
      </a:accent6>
      <a:hlink>
        <a:srgbClr val="0E7C86"/>
      </a:hlink>
      <a:folHlink>
        <a:srgbClr val="5F6B7D"/>
      </a:folHlink>
    </a:clrScheme>
    <a:fontScheme name="Simulac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1569</Words>
  <Application>Microsoft Office PowerPoint</Application>
  <PresentationFormat>Panorámica</PresentationFormat>
  <Paragraphs>191</Paragraphs>
  <Slides>12</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Cambria</vt:lpstr>
      <vt:lpstr>Century Gothic</vt:lpstr>
      <vt:lpstr>Simulacion</vt:lpstr>
      <vt:lpstr>Presentación de PowerPoint</vt:lpstr>
      <vt:lpstr>Presentación de PowerPoint</vt:lpstr>
      <vt:lpstr>Introducción</vt:lpstr>
      <vt:lpstr>Justificación</vt:lpstr>
      <vt:lpstr>Java · Banco con dos cajeros</vt:lpstr>
      <vt:lpstr>Explicación del código · Java</vt:lpstr>
      <vt:lpstr>Python · Cajero automático</vt:lpstr>
      <vt:lpstr>Explicación del código · Python</vt:lpstr>
      <vt:lpstr>R · Validación del simulador</vt:lpstr>
      <vt:lpstr>Explicación del código · R</vt:lpstr>
      <vt:lpstr>Los tres lenguajes lado a lado</vt:lpstr>
      <vt:lpstr>Conclusión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4.2 Reporte de práctica</dc:title>
  <dc:subject>PptxGenJS Presentation</dc:subject>
  <dc:creator>Cynthia Jasmine Morales Torres</dc:creator>
  <cp:lastModifiedBy>Jasmine Morales</cp:lastModifiedBy>
  <cp:revision>2</cp:revision>
  <dcterms:created xsi:type="dcterms:W3CDTF">2026-10-03T16:00:56Z</dcterms:created>
  <dcterms:modified xsi:type="dcterms:W3CDTF">2026-10-03T16:08:07Z</dcterms:modified>
</cp:coreProperties>
</file>