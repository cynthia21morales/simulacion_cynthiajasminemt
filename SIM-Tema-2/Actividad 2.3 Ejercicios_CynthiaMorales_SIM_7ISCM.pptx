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7E0C28-0B42-9C4B-9F61-71A4937BD81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012347A8-CD68-9D89-F892-52EAB2D54F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14AA87CB-5F95-BC59-B28E-B27A2CDB8437}"/>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5" name="Marcador de pie de página 4">
            <a:extLst>
              <a:ext uri="{FF2B5EF4-FFF2-40B4-BE49-F238E27FC236}">
                <a16:creationId xmlns:a16="http://schemas.microsoft.com/office/drawing/2014/main" id="{38A03117-E03A-0C8A-882B-0DDA0437804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8E3844C-41A0-8799-51A3-0026D13391E1}"/>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2616621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2E5966-434D-5AA3-41BD-35147036C264}"/>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E419F0B-B366-6C1E-2D47-CF5B1BBDCE9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5913707-4BC7-1454-AA25-A6E543DAEBB1}"/>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5" name="Marcador de pie de página 4">
            <a:extLst>
              <a:ext uri="{FF2B5EF4-FFF2-40B4-BE49-F238E27FC236}">
                <a16:creationId xmlns:a16="http://schemas.microsoft.com/office/drawing/2014/main" id="{BD1AC21E-BA8C-2243-38DE-6C9EA8C6E8A6}"/>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B4EB7F6-D954-AB45-25CF-E94A369EF3AC}"/>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3455245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C3E6E1-F1EF-42D5-6E8D-039CD4F594B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C5492F7-17EF-EA5C-0847-B77EF46F99B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12A0314-3F7A-B536-6236-104BD3665FDC}"/>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5" name="Marcador de pie de página 4">
            <a:extLst>
              <a:ext uri="{FF2B5EF4-FFF2-40B4-BE49-F238E27FC236}">
                <a16:creationId xmlns:a16="http://schemas.microsoft.com/office/drawing/2014/main" id="{C795F45E-92AC-6844-6349-BAA8772519B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568F0CA-9B3A-F946-5BB2-7ED4E4E1ABE2}"/>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1145301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025F81-25EF-BE6B-5207-10985840391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209A379-523D-F08B-C18A-4F749386397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FFC50E6B-5030-A5DA-82CB-79DAF5AEC6AD}"/>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B351903C-D7A3-1CE0-8E56-1AB401E17F86}"/>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6" name="Marcador de pie de página 5">
            <a:extLst>
              <a:ext uri="{FF2B5EF4-FFF2-40B4-BE49-F238E27FC236}">
                <a16:creationId xmlns:a16="http://schemas.microsoft.com/office/drawing/2014/main" id="{1734568A-CB34-3B0D-AD83-8CCFB1E9699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2DC6470-1E4C-098C-A22E-FDFB17F61DFA}"/>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18579356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62C7FF-2DE4-21B3-A3F4-AAA69DDF3D1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28C42176-033F-A1F7-4976-71DC5A319B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071F61A-BA75-85C3-717E-ACC8BBE80C9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25471297-E4A8-0291-5444-41DEE9D67A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753BA66-2683-D0AB-D4CD-4DDF49F0D5A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B897279A-9FDB-1B55-94B7-7227863BD592}"/>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8" name="Marcador de pie de página 7">
            <a:extLst>
              <a:ext uri="{FF2B5EF4-FFF2-40B4-BE49-F238E27FC236}">
                <a16:creationId xmlns:a16="http://schemas.microsoft.com/office/drawing/2014/main" id="{D3DCD68F-5090-4819-BCBB-36B8313EF16E}"/>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070CFFC9-9B91-8ABA-3E40-5DBD0567FA90}"/>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3382458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9AD9EF-9D75-4245-61CF-C1A077E3005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B5DBAC2-87B1-A72A-D03E-97F08132624E}"/>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4" name="Marcador de pie de página 3">
            <a:extLst>
              <a:ext uri="{FF2B5EF4-FFF2-40B4-BE49-F238E27FC236}">
                <a16:creationId xmlns:a16="http://schemas.microsoft.com/office/drawing/2014/main" id="{ADCE3E16-A492-19E4-4D08-0A612EB9F2B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88B2122D-39B1-4490-9865-F84836226EBE}"/>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274057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9ABD18A-FEFC-C171-13C1-6633F14CD875}"/>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3" name="Marcador de pie de página 2">
            <a:extLst>
              <a:ext uri="{FF2B5EF4-FFF2-40B4-BE49-F238E27FC236}">
                <a16:creationId xmlns:a16="http://schemas.microsoft.com/office/drawing/2014/main" id="{2723EB4C-1019-C965-AE9B-43FD20C0C0D1}"/>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EF9C7568-8621-17E5-6CF1-364491A32874}"/>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4088784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D6F620-5FB9-B0D6-9AE4-E848847DD22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2E26F10A-BC44-5E37-CF57-A3C77CE6A4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D7FEB1E5-E7C2-8C78-C727-5D03C46B63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AF0ACA0-0E48-38B9-BF41-2E6058B2C2C6}"/>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6" name="Marcador de pie de página 5">
            <a:extLst>
              <a:ext uri="{FF2B5EF4-FFF2-40B4-BE49-F238E27FC236}">
                <a16:creationId xmlns:a16="http://schemas.microsoft.com/office/drawing/2014/main" id="{FE36F3C6-9DBF-B9A4-CEAA-51D09702E62D}"/>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6D673CFD-5CEE-C056-A3A3-C1CEE900DCAE}"/>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27101554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CD9EE6-1748-BEE1-DFAD-FA9DF3CEFDB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8E66595-C5A4-0D0A-E479-169E0A20DC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EC4660EF-1766-9270-3206-ED4F43B70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ACD09EE-59C7-CFDD-9626-8375B5E40911}"/>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6" name="Marcador de pie de página 5">
            <a:extLst>
              <a:ext uri="{FF2B5EF4-FFF2-40B4-BE49-F238E27FC236}">
                <a16:creationId xmlns:a16="http://schemas.microsoft.com/office/drawing/2014/main" id="{669342A8-5905-BBFD-2F25-6F8BD764926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9A7D5C0-0121-BF51-2415-F5C3985A197B}"/>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1959127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0AC378-F852-9998-8D3D-FA35EF9DB2B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8B966391-D7CF-1672-D435-A6CF9F498FE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85526A4D-18EF-9ED3-74BC-2A967F952522}"/>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5" name="Marcador de pie de página 4">
            <a:extLst>
              <a:ext uri="{FF2B5EF4-FFF2-40B4-BE49-F238E27FC236}">
                <a16:creationId xmlns:a16="http://schemas.microsoft.com/office/drawing/2014/main" id="{66963CEE-116F-0367-9A48-FE2D2C652E3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74ACEAC-25AD-A46E-C194-6E0A69894DAA}"/>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29528703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72FD330-0E84-FDFC-A61A-45DD349D90B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A916734-03CC-59DD-2591-C7A8E2FC4F7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F262A02-13A7-263C-085E-A99652231EFD}"/>
              </a:ext>
            </a:extLst>
          </p:cNvPr>
          <p:cNvSpPr>
            <a:spLocks noGrp="1"/>
          </p:cNvSpPr>
          <p:nvPr>
            <p:ph type="dt" sz="half" idx="10"/>
          </p:nvPr>
        </p:nvSpPr>
        <p:spPr/>
        <p:txBody>
          <a:bodyPr/>
          <a:lstStyle/>
          <a:p>
            <a:fld id="{B3A4043F-500C-43CD-ACBA-9BF3AB2EE216}" type="datetimeFigureOut">
              <a:rPr lang="es-MX" smtClean="0"/>
              <a:t>31/08/2026</a:t>
            </a:fld>
            <a:endParaRPr lang="es-MX"/>
          </a:p>
        </p:txBody>
      </p:sp>
      <p:sp>
        <p:nvSpPr>
          <p:cNvPr id="5" name="Marcador de pie de página 4">
            <a:extLst>
              <a:ext uri="{FF2B5EF4-FFF2-40B4-BE49-F238E27FC236}">
                <a16:creationId xmlns:a16="http://schemas.microsoft.com/office/drawing/2014/main" id="{523F99D8-53AC-47EB-2A4E-DEDFB2472E2D}"/>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BB1A183-4E90-B4C1-2B01-8B3B108F0E56}"/>
              </a:ext>
            </a:extLst>
          </p:cNvPr>
          <p:cNvSpPr>
            <a:spLocks noGrp="1"/>
          </p:cNvSpPr>
          <p:nvPr>
            <p:ph type="sldNum" sz="quarter" idx="12"/>
          </p:nvPr>
        </p:nvSpPr>
        <p:spPr/>
        <p:txBody>
          <a:bodyPr/>
          <a:lstStyle/>
          <a:p>
            <a:fld id="{A1C9F155-D23C-415E-A848-FABB4542DC18}" type="slidenum">
              <a:rPr lang="es-MX" smtClean="0"/>
              <a:t>‹Nº›</a:t>
            </a:fld>
            <a:endParaRPr lang="es-MX"/>
          </a:p>
        </p:txBody>
      </p:sp>
    </p:spTree>
    <p:extLst>
      <p:ext uri="{BB962C8B-B14F-4D97-AF65-F5344CB8AC3E}">
        <p14:creationId xmlns:p14="http://schemas.microsoft.com/office/powerpoint/2010/main" val="1377424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21B8C2F-4916-6930-52DE-6DE7767A4C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140995C-1605-1BE7-2AA4-C591E97656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42AE3ED-5D78-8BE8-8CDE-92BE5C97D1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A4043F-500C-43CD-ACBA-9BF3AB2EE216}" type="datetimeFigureOut">
              <a:rPr lang="es-MX" smtClean="0"/>
              <a:t>31/08/2026</a:t>
            </a:fld>
            <a:endParaRPr lang="es-MX"/>
          </a:p>
        </p:txBody>
      </p:sp>
      <p:sp>
        <p:nvSpPr>
          <p:cNvPr id="5" name="Marcador de pie de página 4">
            <a:extLst>
              <a:ext uri="{FF2B5EF4-FFF2-40B4-BE49-F238E27FC236}">
                <a16:creationId xmlns:a16="http://schemas.microsoft.com/office/drawing/2014/main" id="{0C8398D9-B3D4-01D1-8D2D-87C1F75C62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927914FF-8742-D591-4826-5D8ED1DC84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C9F155-D23C-415E-A848-FABB4542DC18}" type="slidenum">
              <a:rPr lang="es-MX" smtClean="0"/>
              <a:t>‹Nº›</a:t>
            </a:fld>
            <a:endParaRPr lang="es-MX"/>
          </a:p>
        </p:txBody>
      </p:sp>
    </p:spTree>
    <p:extLst>
      <p:ext uri="{BB962C8B-B14F-4D97-AF65-F5344CB8AC3E}">
        <p14:creationId xmlns:p14="http://schemas.microsoft.com/office/powerpoint/2010/main" val="1958972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C3E056A-FF5E-DB78-6049-C0A7482A33EB}"/>
              </a:ext>
            </a:extLst>
          </p:cNvPr>
          <p:cNvSpPr txBox="1"/>
          <p:nvPr/>
        </p:nvSpPr>
        <p:spPr>
          <a:xfrm>
            <a:off x="3522132" y="5528732"/>
            <a:ext cx="5469467" cy="802207"/>
          </a:xfrm>
          <a:prstGeom prst="rect">
            <a:avLst/>
          </a:prstGeom>
          <a:noFill/>
        </p:spPr>
        <p:txBody>
          <a:bodyPr wrap="square">
            <a:spAutoFit/>
          </a:bodyPr>
          <a:lstStyle/>
          <a:p>
            <a:pPr algn="ctr">
              <a:lnSpc>
                <a:spcPct val="150000"/>
              </a:lnSpc>
              <a:spcAft>
                <a:spcPts val="800"/>
              </a:spcAft>
            </a:pPr>
            <a:r>
              <a:rPr lang="es-MX" sz="1400" b="1" kern="100" dirty="0">
                <a:effectLst/>
                <a:latin typeface="Arial" panose="020B0604020202020204" pitchFamily="34" charset="0"/>
                <a:ea typeface="Calibri" panose="020F0502020204030204" pitchFamily="34" charset="0"/>
                <a:cs typeface="Arial" panose="020B0604020202020204" pitchFamily="34" charset="0"/>
              </a:rPr>
              <a:t>Fecha de entrega</a:t>
            </a:r>
            <a:r>
              <a:rPr lang="es-MX" sz="1400" kern="100" dirty="0">
                <a:effectLst/>
                <a:latin typeface="Arial" panose="020B0604020202020204" pitchFamily="34" charset="0"/>
                <a:ea typeface="Calibri" panose="020F0502020204030204" pitchFamily="34" charset="0"/>
                <a:cs typeface="Arial" panose="020B0604020202020204" pitchFamily="34" charset="0"/>
              </a:rPr>
              <a:t>:</a:t>
            </a:r>
            <a:endParaRPr lang="es-MX" sz="14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pPr>
            <a:r>
              <a:rPr lang="es-MX" sz="1400" kern="100" dirty="0">
                <a:effectLst/>
                <a:latin typeface="Arial" panose="020B0604020202020204" pitchFamily="34" charset="0"/>
                <a:ea typeface="Calibri" panose="020F0502020204030204" pitchFamily="34" charset="0"/>
                <a:cs typeface="Arial" panose="020B0604020202020204" pitchFamily="34" charset="0"/>
              </a:rPr>
              <a:t>Frontera Comalapa, Chiapas. A </a:t>
            </a:r>
            <a:r>
              <a:rPr lang="es-MX" sz="1400" kern="100" dirty="0">
                <a:latin typeface="Arial" panose="020B0604020202020204" pitchFamily="34" charset="0"/>
                <a:ea typeface="Calibri" panose="020F0502020204030204" pitchFamily="34" charset="0"/>
                <a:cs typeface="Arial" panose="020B0604020202020204" pitchFamily="34" charset="0"/>
              </a:rPr>
              <a:t>31</a:t>
            </a:r>
            <a:r>
              <a:rPr lang="es-MX" sz="1400" kern="100" dirty="0">
                <a:effectLst/>
                <a:latin typeface="Arial" panose="020B0604020202020204" pitchFamily="34" charset="0"/>
                <a:ea typeface="Calibri" panose="020F0502020204030204" pitchFamily="34" charset="0"/>
                <a:cs typeface="Arial" panose="020B0604020202020204" pitchFamily="34" charset="0"/>
              </a:rPr>
              <a:t> de Agosto del 2026.</a:t>
            </a:r>
            <a:endParaRPr lang="es-MX" sz="1400" dirty="0"/>
          </a:p>
        </p:txBody>
      </p:sp>
      <p:sp>
        <p:nvSpPr>
          <p:cNvPr id="5" name="Subtítulo 2">
            <a:extLst>
              <a:ext uri="{FF2B5EF4-FFF2-40B4-BE49-F238E27FC236}">
                <a16:creationId xmlns:a16="http://schemas.microsoft.com/office/drawing/2014/main" id="{2AE95B68-4EB8-67A4-645E-8531E68B2B05}"/>
              </a:ext>
            </a:extLst>
          </p:cNvPr>
          <p:cNvSpPr>
            <a:spLocks noGrp="1"/>
          </p:cNvSpPr>
          <p:nvPr>
            <p:ph type="subTitle" idx="1"/>
          </p:nvPr>
        </p:nvSpPr>
        <p:spPr>
          <a:xfrm>
            <a:off x="841584" y="1794954"/>
            <a:ext cx="10508829" cy="3008472"/>
          </a:xfrm>
        </p:spPr>
        <p:txBody>
          <a:bodyPr numCol="2">
            <a:noAutofit/>
          </a:bodyPr>
          <a:lstStyle/>
          <a:p>
            <a:pPr algn="ctr">
              <a:lnSpc>
                <a:spcPct val="100000"/>
              </a:lnSpc>
              <a:spcAft>
                <a:spcPts val="800"/>
              </a:spcAft>
            </a:pPr>
            <a:r>
              <a:rPr lang="es-MX" sz="1400" b="1" dirty="0">
                <a:latin typeface="+mj-lt"/>
              </a:rPr>
              <a:t>Nombre del alumno: </a:t>
            </a:r>
          </a:p>
          <a:p>
            <a:pPr algn="ctr">
              <a:lnSpc>
                <a:spcPct val="100000"/>
              </a:lnSpc>
              <a:spcAft>
                <a:spcPts val="800"/>
              </a:spcAft>
            </a:pPr>
            <a:r>
              <a:rPr lang="es-MX" sz="1400" b="1" dirty="0">
                <a:latin typeface="+mj-lt"/>
              </a:rPr>
              <a:t>Cynthia Jasmine Morales Torres </a:t>
            </a:r>
          </a:p>
          <a:p>
            <a:pPr algn="ctr">
              <a:lnSpc>
                <a:spcPct val="100000"/>
              </a:lnSpc>
              <a:spcAft>
                <a:spcPts val="800"/>
              </a:spcAft>
            </a:pPr>
            <a:r>
              <a:rPr lang="es-MX" sz="1400" b="1" dirty="0">
                <a:latin typeface="+mj-lt"/>
              </a:rPr>
              <a:t>Semestre:  </a:t>
            </a:r>
          </a:p>
          <a:p>
            <a:pPr algn="ctr">
              <a:lnSpc>
                <a:spcPct val="100000"/>
              </a:lnSpc>
              <a:spcAft>
                <a:spcPts val="800"/>
              </a:spcAft>
            </a:pPr>
            <a:r>
              <a:rPr lang="es-MX" sz="1400" b="1" dirty="0" err="1">
                <a:latin typeface="+mj-lt"/>
              </a:rPr>
              <a:t>Septimo</a:t>
            </a:r>
            <a:r>
              <a:rPr lang="es-MX" sz="1400" b="1" dirty="0">
                <a:latin typeface="+mj-lt"/>
              </a:rPr>
              <a:t> semestre </a:t>
            </a:r>
          </a:p>
          <a:p>
            <a:pPr algn="ctr">
              <a:lnSpc>
                <a:spcPct val="100000"/>
              </a:lnSpc>
              <a:spcAft>
                <a:spcPts val="800"/>
              </a:spcAft>
            </a:pPr>
            <a:r>
              <a:rPr lang="es-MX" sz="1400" b="1" dirty="0">
                <a:latin typeface="+mj-lt"/>
              </a:rPr>
              <a:t>Especialidad:</a:t>
            </a:r>
          </a:p>
          <a:p>
            <a:pPr algn="ctr">
              <a:lnSpc>
                <a:spcPct val="100000"/>
              </a:lnSpc>
              <a:spcAft>
                <a:spcPts val="800"/>
              </a:spcAft>
            </a:pPr>
            <a:r>
              <a:rPr lang="es-MX" sz="1400" b="1" dirty="0">
                <a:latin typeface="+mj-lt"/>
              </a:rPr>
              <a:t>Ingeniería en sistemas computacionales.</a:t>
            </a:r>
          </a:p>
          <a:p>
            <a:pPr algn="ctr">
              <a:lnSpc>
                <a:spcPct val="100000"/>
              </a:lnSpc>
              <a:spcAft>
                <a:spcPts val="800"/>
              </a:spcAft>
            </a:pPr>
            <a:r>
              <a:rPr lang="es-MX" sz="1400" b="1" dirty="0">
                <a:latin typeface="+mj-lt"/>
              </a:rPr>
              <a:t>Numero de control:</a:t>
            </a:r>
          </a:p>
          <a:p>
            <a:pPr algn="ctr">
              <a:lnSpc>
                <a:spcPct val="100000"/>
              </a:lnSpc>
              <a:spcAft>
                <a:spcPts val="800"/>
              </a:spcAft>
            </a:pPr>
            <a:r>
              <a:rPr lang="es-MX" sz="1400" b="1" dirty="0">
                <a:latin typeface="+mj-lt"/>
              </a:rPr>
              <a:t>231260014</a:t>
            </a:r>
          </a:p>
          <a:p>
            <a:pPr algn="ctr">
              <a:lnSpc>
                <a:spcPct val="150000"/>
              </a:lnSpc>
              <a:spcAft>
                <a:spcPts val="800"/>
              </a:spcAft>
            </a:pPr>
            <a:r>
              <a:rPr lang="es-MX" sz="1400" b="1" dirty="0">
                <a:latin typeface="+mj-lt"/>
              </a:rPr>
              <a:t>Materia:</a:t>
            </a:r>
          </a:p>
          <a:p>
            <a:pPr algn="ctr">
              <a:lnSpc>
                <a:spcPct val="150000"/>
              </a:lnSpc>
              <a:spcAft>
                <a:spcPts val="800"/>
              </a:spcAft>
            </a:pPr>
            <a:r>
              <a:rPr lang="es-MX" sz="1400" b="1" dirty="0">
                <a:latin typeface="+mj-lt"/>
              </a:rPr>
              <a:t>Simulación </a:t>
            </a:r>
          </a:p>
          <a:p>
            <a:pPr algn="ctr">
              <a:lnSpc>
                <a:spcPct val="150000"/>
              </a:lnSpc>
              <a:spcAft>
                <a:spcPts val="800"/>
              </a:spcAft>
            </a:pPr>
            <a:r>
              <a:rPr lang="es-MX" sz="1400" b="1" dirty="0">
                <a:latin typeface="+mj-lt"/>
              </a:rPr>
              <a:t>Nombre del docente: </a:t>
            </a:r>
          </a:p>
          <a:p>
            <a:pPr algn="ctr">
              <a:lnSpc>
                <a:spcPct val="150000"/>
              </a:lnSpc>
              <a:spcAft>
                <a:spcPts val="800"/>
              </a:spcAft>
            </a:pPr>
            <a:r>
              <a:rPr lang="es-MX" sz="1400" b="1" dirty="0">
                <a:latin typeface="+mj-lt"/>
              </a:rPr>
              <a:t>Ing. Francisco Javier Mingo Velázquez </a:t>
            </a:r>
          </a:p>
          <a:p>
            <a:pPr algn="ctr">
              <a:lnSpc>
                <a:spcPct val="150000"/>
              </a:lnSpc>
              <a:spcAft>
                <a:spcPts val="800"/>
              </a:spcAft>
            </a:pPr>
            <a:r>
              <a:rPr lang="es-MX" sz="1400" b="1" dirty="0">
                <a:latin typeface="+mj-lt"/>
              </a:rPr>
              <a:t>Nombre del trabajo:</a:t>
            </a:r>
          </a:p>
          <a:p>
            <a:pPr algn="ctr">
              <a:lnSpc>
                <a:spcPct val="150000"/>
              </a:lnSpc>
              <a:spcAft>
                <a:spcPts val="800"/>
              </a:spcAft>
            </a:pPr>
            <a:r>
              <a:rPr lang="es-MX" sz="1400" b="1" dirty="0">
                <a:latin typeface="+mj-lt"/>
              </a:rPr>
              <a:t>Ejercicios </a:t>
            </a:r>
          </a:p>
        </p:txBody>
      </p:sp>
      <p:pic>
        <p:nvPicPr>
          <p:cNvPr id="6" name="Imagen 5">
            <a:extLst>
              <a:ext uri="{FF2B5EF4-FFF2-40B4-BE49-F238E27FC236}">
                <a16:creationId xmlns:a16="http://schemas.microsoft.com/office/drawing/2014/main" id="{E9A5D2C9-4259-9A6F-3AC3-C6DA03C128B5}"/>
              </a:ext>
            </a:extLst>
          </p:cNvPr>
          <p:cNvPicPr>
            <a:picLocks noChangeAspect="1"/>
          </p:cNvPicPr>
          <p:nvPr/>
        </p:nvPicPr>
        <p:blipFill rotWithShape="1">
          <a:blip r:embed="rId2" cstate="email">
            <a:extLst>
              <a:ext uri="{28A0092B-C50C-407E-A947-70E740481C1C}">
                <a14:useLocalDpi xmlns:a14="http://schemas.microsoft.com/office/drawing/2010/main" val="0"/>
              </a:ext>
            </a:extLst>
          </a:blip>
          <a:srcRect b="-1"/>
          <a:stretch/>
        </p:blipFill>
        <p:spPr bwMode="auto">
          <a:xfrm>
            <a:off x="2561039" y="80576"/>
            <a:ext cx="7069920" cy="633095"/>
          </a:xfrm>
          <a:prstGeom prst="rect">
            <a:avLst/>
          </a:prstGeom>
          <a:ln>
            <a:noFill/>
          </a:ln>
          <a:extLst>
            <a:ext uri="{53640926-AAD7-44D8-BBD7-CCE9431645EC}">
              <a14:shadowObscured xmlns:a14="http://schemas.microsoft.com/office/drawing/2010/main"/>
            </a:ext>
          </a:extLst>
        </p:spPr>
      </p:pic>
      <p:sp>
        <p:nvSpPr>
          <p:cNvPr id="7" name="CuadroTexto 6">
            <a:extLst>
              <a:ext uri="{FF2B5EF4-FFF2-40B4-BE49-F238E27FC236}">
                <a16:creationId xmlns:a16="http://schemas.microsoft.com/office/drawing/2014/main" id="{3DF9EF32-89FA-B653-C336-911F3E352A18}"/>
              </a:ext>
            </a:extLst>
          </p:cNvPr>
          <p:cNvSpPr txBox="1"/>
          <p:nvPr/>
        </p:nvSpPr>
        <p:spPr>
          <a:xfrm>
            <a:off x="3047999" y="1069646"/>
            <a:ext cx="5943600" cy="369332"/>
          </a:xfrm>
          <a:prstGeom prst="rect">
            <a:avLst/>
          </a:prstGeom>
          <a:noFill/>
        </p:spPr>
        <p:txBody>
          <a:bodyPr wrap="square" rtlCol="0">
            <a:spAutoFit/>
          </a:bodyPr>
          <a:lstStyle/>
          <a:p>
            <a:r>
              <a:rPr lang="es-MX" b="1" dirty="0"/>
              <a:t>INSTITUTO TECNOLOGICO DE FRONTERA COMALAPA</a:t>
            </a:r>
          </a:p>
        </p:txBody>
      </p:sp>
    </p:spTree>
    <p:extLst>
      <p:ext uri="{BB962C8B-B14F-4D97-AF65-F5344CB8AC3E}">
        <p14:creationId xmlns:p14="http://schemas.microsoft.com/office/powerpoint/2010/main" val="3760337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C6DD3C-D4E4-2C3F-909C-AE6115FB6BBC}"/>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F079B99C-1318-D975-A6D3-6A06B6B92A56}"/>
              </a:ext>
            </a:extLst>
          </p:cNvPr>
          <p:cNvSpPr>
            <a:spLocks noGrp="1"/>
          </p:cNvSpPr>
          <p:nvPr>
            <p:ph idx="1"/>
          </p:nvPr>
        </p:nvSpPr>
        <p:spPr/>
        <p:txBody>
          <a:bodyPr>
            <a:normAutofit/>
          </a:bodyPr>
          <a:lstStyle/>
          <a:p>
            <a:pPr marL="0" indent="0" algn="just">
              <a:buNone/>
            </a:pPr>
            <a:r>
              <a:rPr lang="es-MX" sz="2000" dirty="0"/>
              <a:t>En la simulación de eventos, la generación de números aleatorios y pseudoaleatorios constituye la base para representar el comportamiento de sistemas reales de manera confiable. </a:t>
            </a:r>
          </a:p>
          <a:p>
            <a:pPr marL="0" indent="0" algn="just">
              <a:buNone/>
            </a:pPr>
            <a:r>
              <a:rPr lang="es-MX" sz="2000" dirty="0"/>
              <a:t>En la presente actividad se desarrollan seis ejercicios prácticos, elaborados en distintos lenguajes de programación (Java, Python y R), con el objetivo de comprender los conceptos fundamentales de aleatoriedad, independencia, uniformidad y el método de Monte Carlo, aplicados como herramientas para el análisis y validación de datos simulados.</a:t>
            </a:r>
          </a:p>
        </p:txBody>
      </p:sp>
    </p:spTree>
    <p:extLst>
      <p:ext uri="{BB962C8B-B14F-4D97-AF65-F5344CB8AC3E}">
        <p14:creationId xmlns:p14="http://schemas.microsoft.com/office/powerpoint/2010/main" val="838576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0C3B4D-C88E-54A7-314A-0E6E3159C4E4}"/>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F72415C9-D509-2413-4E3A-19C4C03861E1}"/>
              </a:ext>
            </a:extLst>
          </p:cNvPr>
          <p:cNvSpPr>
            <a:spLocks noGrp="1"/>
          </p:cNvSpPr>
          <p:nvPr>
            <p:ph idx="1"/>
          </p:nvPr>
        </p:nvSpPr>
        <p:spPr/>
        <p:txBody>
          <a:bodyPr>
            <a:normAutofit/>
          </a:bodyPr>
          <a:lstStyle/>
          <a:p>
            <a:pPr marL="0" indent="0" algn="just">
              <a:buNone/>
            </a:pPr>
            <a:r>
              <a:rPr lang="es-MX" sz="2000" dirty="0"/>
              <a:t>Comprender el funcionamiento de los generadores de números aleatorios y pseudoaleatorios es esencial para el diseño de modelos de simulación confiables, ya que de su calidad depende la validez de los resultados obtenidos. </a:t>
            </a:r>
          </a:p>
          <a:p>
            <a:pPr marL="0" indent="0" algn="just">
              <a:buNone/>
            </a:pPr>
            <a:r>
              <a:rPr lang="es-MX" sz="2000" dirty="0"/>
              <a:t>Esta actividad se realiza con la finalidad de reforzar, mediante la práctica en distintos lenguajes de programación, los conceptos vistos en la materia de Simulación, así como de desarrollar la capacidad de verificar propiedades estadísticas como la independencia y la uniformidad de los datos generados, indispensables para cualquier proceso de simulación.</a:t>
            </a:r>
          </a:p>
        </p:txBody>
      </p:sp>
    </p:spTree>
    <p:extLst>
      <p:ext uri="{BB962C8B-B14F-4D97-AF65-F5344CB8AC3E}">
        <p14:creationId xmlns:p14="http://schemas.microsoft.com/office/powerpoint/2010/main" val="2567139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3BBCAC-6F20-1525-D92E-1F158FD0A2B1}"/>
              </a:ext>
            </a:extLst>
          </p:cNvPr>
          <p:cNvSpPr>
            <a:spLocks noGrp="1"/>
          </p:cNvSpPr>
          <p:nvPr>
            <p:ph type="title"/>
          </p:nvPr>
        </p:nvSpPr>
        <p:spPr/>
        <p:txBody>
          <a:bodyPr/>
          <a:lstStyle/>
          <a:p>
            <a:r>
              <a:rPr lang="es-MX" dirty="0"/>
              <a:t>1. Aleatoriedad.java</a:t>
            </a:r>
          </a:p>
        </p:txBody>
      </p:sp>
      <p:pic>
        <p:nvPicPr>
          <p:cNvPr id="5" name="Marcador de contenido 4">
            <a:extLst>
              <a:ext uri="{FF2B5EF4-FFF2-40B4-BE49-F238E27FC236}">
                <a16:creationId xmlns:a16="http://schemas.microsoft.com/office/drawing/2014/main" id="{8DEE30B0-7D4A-3F96-1C92-62F63E066D7D}"/>
              </a:ext>
            </a:extLst>
          </p:cNvPr>
          <p:cNvPicPr>
            <a:picLocks noGrp="1" noChangeAspect="1"/>
          </p:cNvPicPr>
          <p:nvPr>
            <p:ph idx="1"/>
          </p:nvPr>
        </p:nvPicPr>
        <p:blipFill>
          <a:blip r:embed="rId2"/>
          <a:stretch>
            <a:fillRect/>
          </a:stretch>
        </p:blipFill>
        <p:spPr>
          <a:xfrm>
            <a:off x="3232926" y="1750000"/>
            <a:ext cx="5726148" cy="3500000"/>
          </a:xfrm>
        </p:spPr>
      </p:pic>
      <p:sp>
        <p:nvSpPr>
          <p:cNvPr id="6" name="Explicacion 6"/>
          <p:cNvSpPr txBox="1"/>
          <p:nvPr/>
        </p:nvSpPr>
        <p:spPr>
          <a:xfrm>
            <a:off x="900000" y="5350000"/>
            <a:ext cx="10392000" cy="1200000"/>
          </a:xfrm>
          <a:prstGeom prst="rect">
            <a:avLst/>
          </a:prstGeom>
        </p:spPr>
        <p:txBody>
          <a:bodyPr wrap="square" lIns="0" tIns="0" rIns="0" bIns="0">
            <a:normAutofit/>
          </a:bodyPr>
          <a:lstStyle/>
          <a:p>
            <a:pPr algn="ctr"/>
            <a:r>
              <a:rPr lang="es-MX" dirty="0"/>
              <a:t>Este programa en Java utiliza la clase Random para generar números enteros aleatorios entre 0 y 99 mediante el método nextInt(bound). Cada ejecución produce valores distintos, mostrando el comportamiento básico de un generador de números aleatorios.</a:t>
            </a:r>
          </a:p>
        </p:txBody>
      </p:sp>
    </p:spTree>
    <p:extLst>
      <p:ext uri="{BB962C8B-B14F-4D97-AF65-F5344CB8AC3E}">
        <p14:creationId xmlns:p14="http://schemas.microsoft.com/office/powerpoint/2010/main" val="1563257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8414F4-3D50-AD1E-95F9-9F5C147F8388}"/>
              </a:ext>
            </a:extLst>
          </p:cNvPr>
          <p:cNvSpPr>
            <a:spLocks noGrp="1"/>
          </p:cNvSpPr>
          <p:nvPr>
            <p:ph type="title"/>
          </p:nvPr>
        </p:nvSpPr>
        <p:spPr/>
        <p:txBody>
          <a:bodyPr/>
          <a:lstStyle/>
          <a:p>
            <a:r>
              <a:rPr lang="es-MX" dirty="0"/>
              <a:t>2. </a:t>
            </a:r>
            <a:r>
              <a:rPr lang="es-MX" dirty="0" err="1"/>
              <a:t>Generacion</a:t>
            </a:r>
            <a:r>
              <a:rPr lang="es-MX" dirty="0"/>
              <a:t> Seudoaleatorios.java</a:t>
            </a:r>
            <a:br>
              <a:rPr lang="es-MX" b="0" dirty="0">
                <a:solidFill>
                  <a:srgbClr val="BBBEBF"/>
                </a:solidFill>
                <a:effectLst/>
                <a:latin typeface="Consolas" panose="020B0609020204030204" pitchFamily="49" charset="0"/>
              </a:rPr>
            </a:br>
            <a:endParaRPr lang="es-MX" dirty="0"/>
          </a:p>
        </p:txBody>
      </p:sp>
      <p:pic>
        <p:nvPicPr>
          <p:cNvPr id="5" name="Marcador de contenido 4">
            <a:extLst>
              <a:ext uri="{FF2B5EF4-FFF2-40B4-BE49-F238E27FC236}">
                <a16:creationId xmlns:a16="http://schemas.microsoft.com/office/drawing/2014/main" id="{6D2482D2-A6A2-28DC-3A43-28F2B9BD7094}"/>
              </a:ext>
            </a:extLst>
          </p:cNvPr>
          <p:cNvPicPr>
            <a:picLocks noGrp="1" noChangeAspect="1"/>
          </p:cNvPicPr>
          <p:nvPr>
            <p:ph idx="1"/>
          </p:nvPr>
        </p:nvPicPr>
        <p:blipFill>
          <a:blip r:embed="rId2"/>
          <a:stretch>
            <a:fillRect/>
          </a:stretch>
        </p:blipFill>
        <p:spPr>
          <a:xfrm>
            <a:off x="3434701" y="1750000"/>
            <a:ext cx="5322598" cy="3500000"/>
          </a:xfrm>
        </p:spPr>
      </p:pic>
      <p:sp>
        <p:nvSpPr>
          <p:cNvPr id="6" name="Explicacion 6"/>
          <p:cNvSpPr txBox="1"/>
          <p:nvPr/>
        </p:nvSpPr>
        <p:spPr>
          <a:xfrm>
            <a:off x="900000" y="5350000"/>
            <a:ext cx="10392000" cy="1200000"/>
          </a:xfrm>
          <a:prstGeom prst="rect">
            <a:avLst/>
          </a:prstGeom>
        </p:spPr>
        <p:txBody>
          <a:bodyPr wrap="square" lIns="0" tIns="0" rIns="0" bIns="0">
            <a:normAutofit/>
          </a:bodyPr>
          <a:lstStyle/>
          <a:p>
            <a:pPr algn="ctr"/>
            <a:r>
              <a:rPr lang="es-MX" dirty="0"/>
              <a:t>Este código genera valores booleanos y enteros pseudoaleatorios con la clase Random. El método nextBoolean() produce verdadero o falso, mientras que nextInt(6)+1 simula el lanzamiento de un dado, obteniendo valores entre 1 y 6.</a:t>
            </a:r>
          </a:p>
        </p:txBody>
      </p:sp>
    </p:spTree>
    <p:extLst>
      <p:ext uri="{BB962C8B-B14F-4D97-AF65-F5344CB8AC3E}">
        <p14:creationId xmlns:p14="http://schemas.microsoft.com/office/powerpoint/2010/main" val="703196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50CFAF-E208-DEBA-77C6-3392873F0BA0}"/>
              </a:ext>
            </a:extLst>
          </p:cNvPr>
          <p:cNvSpPr>
            <a:spLocks noGrp="1"/>
          </p:cNvSpPr>
          <p:nvPr>
            <p:ph type="title"/>
          </p:nvPr>
        </p:nvSpPr>
        <p:spPr/>
        <p:txBody>
          <a:bodyPr/>
          <a:lstStyle/>
          <a:p>
            <a:r>
              <a:rPr lang="es-MX" dirty="0"/>
              <a:t>3. Independencia.py</a:t>
            </a:r>
          </a:p>
        </p:txBody>
      </p:sp>
      <p:pic>
        <p:nvPicPr>
          <p:cNvPr id="5" name="Marcador de contenido 4">
            <a:extLst>
              <a:ext uri="{FF2B5EF4-FFF2-40B4-BE49-F238E27FC236}">
                <a16:creationId xmlns:a16="http://schemas.microsoft.com/office/drawing/2014/main" id="{4E0EE852-706F-B0B9-37A5-95B644E04B7C}"/>
              </a:ext>
            </a:extLst>
          </p:cNvPr>
          <p:cNvPicPr>
            <a:picLocks noGrp="1" noChangeAspect="1"/>
          </p:cNvPicPr>
          <p:nvPr>
            <p:ph idx="1"/>
          </p:nvPr>
        </p:nvPicPr>
        <p:blipFill>
          <a:blip r:embed="rId2"/>
          <a:stretch>
            <a:fillRect/>
          </a:stretch>
        </p:blipFill>
        <p:spPr>
          <a:xfrm>
            <a:off x="3566359" y="1750000"/>
            <a:ext cx="5059282" cy="3500000"/>
          </a:xfrm>
        </p:spPr>
      </p:pic>
      <p:sp>
        <p:nvSpPr>
          <p:cNvPr id="6" name="Explicacion 6"/>
          <p:cNvSpPr txBox="1"/>
          <p:nvPr/>
        </p:nvSpPr>
        <p:spPr>
          <a:xfrm>
            <a:off x="900000" y="5350000"/>
            <a:ext cx="10392000" cy="1200000"/>
          </a:xfrm>
          <a:prstGeom prst="rect">
            <a:avLst/>
          </a:prstGeom>
        </p:spPr>
        <p:txBody>
          <a:bodyPr wrap="square" lIns="0" tIns="0" rIns="0" bIns="0">
            <a:normAutofit/>
          </a:bodyPr>
          <a:lstStyle/>
          <a:p>
            <a:pPr algn="ctr"/>
            <a:r>
              <a:rPr lang="es-MX" dirty="0"/>
              <a:t>Con Python se genera una secuencia de 100 números aleatorios y se aplica la función acorr de matplotlib para analizar su autocorrelación. El pico único en el desfase cero confirma que los valores generados son independientes entre sí.</a:t>
            </a:r>
          </a:p>
        </p:txBody>
      </p:sp>
    </p:spTree>
    <p:extLst>
      <p:ext uri="{BB962C8B-B14F-4D97-AF65-F5344CB8AC3E}">
        <p14:creationId xmlns:p14="http://schemas.microsoft.com/office/powerpoint/2010/main" val="1312935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AB71B6-D4F1-FA01-F5F2-124A92F66F64}"/>
              </a:ext>
            </a:extLst>
          </p:cNvPr>
          <p:cNvSpPr>
            <a:spLocks noGrp="1"/>
          </p:cNvSpPr>
          <p:nvPr>
            <p:ph type="title"/>
          </p:nvPr>
        </p:nvSpPr>
        <p:spPr/>
        <p:txBody>
          <a:bodyPr/>
          <a:lstStyle/>
          <a:p>
            <a:r>
              <a:rPr lang="es-MX" dirty="0"/>
              <a:t>4. MonteCarlo.py</a:t>
            </a:r>
          </a:p>
        </p:txBody>
      </p:sp>
      <p:pic>
        <p:nvPicPr>
          <p:cNvPr id="5" name="Marcador de contenido 4">
            <a:extLst>
              <a:ext uri="{FF2B5EF4-FFF2-40B4-BE49-F238E27FC236}">
                <a16:creationId xmlns:a16="http://schemas.microsoft.com/office/drawing/2014/main" id="{29C212E1-FD5C-A670-B8BD-E3F3E15F7B94}"/>
              </a:ext>
            </a:extLst>
          </p:cNvPr>
          <p:cNvPicPr>
            <a:picLocks noGrp="1" noChangeAspect="1"/>
          </p:cNvPicPr>
          <p:nvPr>
            <p:ph idx="1"/>
          </p:nvPr>
        </p:nvPicPr>
        <p:blipFill>
          <a:blip r:embed="rId2"/>
          <a:stretch>
            <a:fillRect/>
          </a:stretch>
        </p:blipFill>
        <p:spPr>
          <a:xfrm>
            <a:off x="4451942" y="1262742"/>
            <a:ext cx="3745876" cy="3987257"/>
          </a:xfrm>
        </p:spPr>
      </p:pic>
      <p:sp>
        <p:nvSpPr>
          <p:cNvPr id="6" name="Explicacion 6"/>
          <p:cNvSpPr txBox="1"/>
          <p:nvPr/>
        </p:nvSpPr>
        <p:spPr>
          <a:xfrm>
            <a:off x="900000" y="5350000"/>
            <a:ext cx="10392000" cy="1200000"/>
          </a:xfrm>
          <a:prstGeom prst="rect">
            <a:avLst/>
          </a:prstGeom>
        </p:spPr>
        <p:txBody>
          <a:bodyPr wrap="square" lIns="0" tIns="0" rIns="0" bIns="0">
            <a:normAutofit/>
          </a:bodyPr>
          <a:lstStyle/>
          <a:p>
            <a:pPr algn="ctr"/>
            <a:r>
              <a:rPr lang="es-MX" dirty="0"/>
              <a:t>Este ejercicio aplica el método de Monte Carlo para estimar el valor de pi. Se generan puntos aleatorios dentro de un cuadrado y se calcula la proporción que cae dentro del círculo inscrito, obteniendo aproximaciones cercanas a 3.1416 conforme aumenta el número de puntos.</a:t>
            </a:r>
          </a:p>
        </p:txBody>
      </p:sp>
    </p:spTree>
    <p:extLst>
      <p:ext uri="{BB962C8B-B14F-4D97-AF65-F5344CB8AC3E}">
        <p14:creationId xmlns:p14="http://schemas.microsoft.com/office/powerpoint/2010/main" val="1470490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903199-34EF-41E8-E1F2-DB5B712C7DC8}"/>
              </a:ext>
            </a:extLst>
          </p:cNvPr>
          <p:cNvSpPr>
            <a:spLocks noGrp="1"/>
          </p:cNvSpPr>
          <p:nvPr>
            <p:ph type="title"/>
          </p:nvPr>
        </p:nvSpPr>
        <p:spPr/>
        <p:txBody>
          <a:bodyPr/>
          <a:lstStyle/>
          <a:p>
            <a:r>
              <a:rPr lang="es-MX" dirty="0"/>
              <a:t>5.Numeros Pseudoaleatorios </a:t>
            </a:r>
          </a:p>
        </p:txBody>
      </p:sp>
      <p:pic>
        <p:nvPicPr>
          <p:cNvPr id="5" name="Marcador de contenido 4">
            <a:extLst>
              <a:ext uri="{FF2B5EF4-FFF2-40B4-BE49-F238E27FC236}">
                <a16:creationId xmlns:a16="http://schemas.microsoft.com/office/drawing/2014/main" id="{5AA6A661-D97D-CAEE-70C3-C977DE9AD537}"/>
              </a:ext>
            </a:extLst>
          </p:cNvPr>
          <p:cNvPicPr>
            <a:picLocks noGrp="1" noChangeAspect="1"/>
          </p:cNvPicPr>
          <p:nvPr>
            <p:ph idx="1"/>
          </p:nvPr>
        </p:nvPicPr>
        <p:blipFill>
          <a:blip r:embed="rId2"/>
          <a:stretch>
            <a:fillRect/>
          </a:stretch>
        </p:blipFill>
        <p:spPr>
          <a:xfrm>
            <a:off x="3812797" y="1750000"/>
            <a:ext cx="4566406" cy="3500000"/>
          </a:xfrm>
        </p:spPr>
      </p:pic>
      <p:sp>
        <p:nvSpPr>
          <p:cNvPr id="6" name="Explicacion 6"/>
          <p:cNvSpPr txBox="1"/>
          <p:nvPr/>
        </p:nvSpPr>
        <p:spPr>
          <a:xfrm>
            <a:off x="900000" y="5350000"/>
            <a:ext cx="10392000" cy="1200000"/>
          </a:xfrm>
          <a:prstGeom prst="rect">
            <a:avLst/>
          </a:prstGeom>
        </p:spPr>
        <p:txBody>
          <a:bodyPr wrap="square" lIns="0" tIns="0" rIns="0" bIns="0">
            <a:normAutofit/>
          </a:bodyPr>
          <a:lstStyle/>
          <a:p>
            <a:pPr algn="ctr"/>
            <a:r>
              <a:rPr lang="es-MX" dirty="0"/>
              <a:t>En R, la función set.seed() fija una semilla para asegurar la reproducibilidad de los resultados, mientras que runif(100) genera 100 números pseudoaleatorios distribuidos uniformemente entre 0 y 1.</a:t>
            </a:r>
          </a:p>
        </p:txBody>
      </p:sp>
    </p:spTree>
    <p:extLst>
      <p:ext uri="{BB962C8B-B14F-4D97-AF65-F5344CB8AC3E}">
        <p14:creationId xmlns:p14="http://schemas.microsoft.com/office/powerpoint/2010/main" val="4092731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836D0E-9844-0B43-767C-7E33F7830BC2}"/>
              </a:ext>
            </a:extLst>
          </p:cNvPr>
          <p:cNvSpPr>
            <a:spLocks noGrp="1"/>
          </p:cNvSpPr>
          <p:nvPr>
            <p:ph type="title"/>
          </p:nvPr>
        </p:nvSpPr>
        <p:spPr/>
        <p:txBody>
          <a:bodyPr/>
          <a:lstStyle/>
          <a:p>
            <a:r>
              <a:rPr lang="es-MX" dirty="0"/>
              <a:t>6. </a:t>
            </a:r>
            <a:r>
              <a:rPr lang="es-MX" dirty="0" err="1"/>
              <a:t>Uniformidad.R</a:t>
            </a:r>
            <a:endParaRPr lang="es-MX" dirty="0"/>
          </a:p>
        </p:txBody>
      </p:sp>
      <p:pic>
        <p:nvPicPr>
          <p:cNvPr id="5" name="Marcador de contenido 4">
            <a:extLst>
              <a:ext uri="{FF2B5EF4-FFF2-40B4-BE49-F238E27FC236}">
                <a16:creationId xmlns:a16="http://schemas.microsoft.com/office/drawing/2014/main" id="{3E9E0810-6570-1FA4-048D-14B9524A114F}"/>
              </a:ext>
            </a:extLst>
          </p:cNvPr>
          <p:cNvPicPr>
            <a:picLocks noGrp="1" noChangeAspect="1"/>
          </p:cNvPicPr>
          <p:nvPr>
            <p:ph idx="1"/>
          </p:nvPr>
        </p:nvPicPr>
        <p:blipFill>
          <a:blip r:embed="rId2"/>
          <a:stretch>
            <a:fillRect/>
          </a:stretch>
        </p:blipFill>
        <p:spPr>
          <a:xfrm>
            <a:off x="3751041" y="1750000"/>
            <a:ext cx="4689918" cy="3500000"/>
          </a:xfrm>
        </p:spPr>
      </p:pic>
      <p:sp>
        <p:nvSpPr>
          <p:cNvPr id="6" name="Explicacion 6"/>
          <p:cNvSpPr txBox="1"/>
          <p:nvPr/>
        </p:nvSpPr>
        <p:spPr>
          <a:xfrm>
            <a:off x="900000" y="5350000"/>
            <a:ext cx="10392000" cy="1200000"/>
          </a:xfrm>
          <a:prstGeom prst="rect">
            <a:avLst/>
          </a:prstGeom>
        </p:spPr>
        <p:txBody>
          <a:bodyPr wrap="square" lIns="0" tIns="0" rIns="0" bIns="0">
            <a:normAutofit/>
          </a:bodyPr>
          <a:lstStyle/>
          <a:p>
            <a:pPr algn="ctr"/>
            <a:r>
              <a:rPr lang="es-MX" dirty="0"/>
              <a:t>Este script en R evalúa la uniformidad de una muestra de números aleatorios mediante una prueba de chi-cuadrada (chisq.test), comparando las frecuencias observadas en un histograma con las frecuencias esperadas. El valor p obtenido (0.4203) indica que no hay evidencia suficiente para rechazar la uniformidad de los datos.</a:t>
            </a:r>
          </a:p>
        </p:txBody>
      </p:sp>
    </p:spTree>
    <p:extLst>
      <p:ext uri="{BB962C8B-B14F-4D97-AF65-F5344CB8AC3E}">
        <p14:creationId xmlns:p14="http://schemas.microsoft.com/office/powerpoint/2010/main" val="181576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6F78C8-F114-69A8-A934-58C47BBD2F30}"/>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E8F48004-7065-8776-D8D4-01B245B6BC2E}"/>
              </a:ext>
            </a:extLst>
          </p:cNvPr>
          <p:cNvSpPr>
            <a:spLocks noGrp="1"/>
          </p:cNvSpPr>
          <p:nvPr>
            <p:ph idx="1"/>
          </p:nvPr>
        </p:nvSpPr>
        <p:spPr/>
        <p:txBody>
          <a:bodyPr>
            <a:normAutofit/>
          </a:bodyPr>
          <a:lstStyle/>
          <a:p>
            <a:pPr marL="0" indent="0" algn="just">
              <a:buNone/>
            </a:pPr>
            <a:r>
              <a:rPr lang="es-MX" dirty="0"/>
              <a:t>A través del desarrollo de estos ejercicios se comprobó la importancia de los números pseudoaleatorios como base de cualquier proceso de simulación, así como la necesidad de validar sus propiedades de independencia y uniformidad antes de utilizarlos en un modelo. </a:t>
            </a:r>
          </a:p>
          <a:p>
            <a:pPr marL="0" indent="0" algn="just">
              <a:buNone/>
            </a:pPr>
            <a:r>
              <a:rPr lang="es-MX" dirty="0"/>
              <a:t>Asimismo, el método de Monte Carlo permitió observar cómo, a partir de la generación de puntos aleatorios, es posible aproximar resultados matemáticos como el valor de pi. En conjunto, esta práctica fortaleció las competencias en programación aplicada a la simulación y el análisis crítico de los resultados obtenidos.</a:t>
            </a:r>
          </a:p>
        </p:txBody>
      </p:sp>
    </p:spTree>
    <p:extLst>
      <p:ext uri="{BB962C8B-B14F-4D97-AF65-F5344CB8AC3E}">
        <p14:creationId xmlns:p14="http://schemas.microsoft.com/office/powerpoint/2010/main" val="232513531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TotalTime>
  <Words>631</Words>
  <Application>Microsoft Office PowerPoint</Application>
  <PresentationFormat>Panorámica</PresentationFormat>
  <Paragraphs>38</Paragraphs>
  <Slides>10</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Aptos</vt:lpstr>
      <vt:lpstr>Aptos Display</vt:lpstr>
      <vt:lpstr>Arial</vt:lpstr>
      <vt:lpstr>Consolas</vt:lpstr>
      <vt:lpstr>Tema de Office</vt:lpstr>
      <vt:lpstr>Presentación de PowerPoint</vt:lpstr>
      <vt:lpstr>Introducción  </vt:lpstr>
      <vt:lpstr>Justificación </vt:lpstr>
      <vt:lpstr>1. Aleatoriedad.java</vt:lpstr>
      <vt:lpstr>2. Generacion Seudoaleatorios.java </vt:lpstr>
      <vt:lpstr>3. Independencia.py</vt:lpstr>
      <vt:lpstr>4. MonteCarlo.py</vt:lpstr>
      <vt:lpstr>5.Numeros Pseudoaleatorios </vt:lpstr>
      <vt:lpstr>6. Uniformidad.R</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2</cp:revision>
  <dcterms:created xsi:type="dcterms:W3CDTF">2026-08-31T18:00:31Z</dcterms:created>
  <dcterms:modified xsi:type="dcterms:W3CDTF">2026-08-31T18:46:16Z</dcterms:modified>
</cp:coreProperties>
</file>