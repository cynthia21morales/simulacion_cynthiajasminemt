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964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a:effectLst/>
      </p:bgPr>
    </p:bg>
    <p:spTree>
      <p:nvGrpSpPr>
        <p:cNvPr id="1" name=""/>
        <p:cNvGrpSpPr/>
        <p:nvPr/>
      </p:nvGrpSpPr>
      <p:grpSpPr>
        <a:xfrm>
          <a:off x="0" y="0"/>
          <a:ext cx="0" cy="0"/>
          <a:chOff x="0" y="0"/>
          <a:chExt cx="0" cy="0"/>
        </a:xfrm>
      </p:grpSpPr>
      <p:sp>
        <p:nvSpPr>
          <p:cNvPr id="2" name="Text 0"/>
          <p:cNvSpPr txBox="1"/>
          <p:nvPr/>
        </p:nvSpPr>
        <p:spPr>
          <a:xfrm>
            <a:off x="548640" y="914400"/>
            <a:ext cx="11064240" cy="5486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Instituto Tecnológico de Frontera Comalapa</a:t>
            </a:r>
            <a:endParaRPr lang="en-US" sz="2600" dirty="0"/>
          </a:p>
        </p:txBody>
      </p:sp>
      <p:sp>
        <p:nvSpPr>
          <p:cNvPr id="3" name="Text 1"/>
          <p:cNvSpPr txBox="1"/>
          <p:nvPr/>
        </p:nvSpPr>
        <p:spPr>
          <a:xfrm>
            <a:off x="548640" y="1463040"/>
            <a:ext cx="11064240" cy="365760"/>
          </a:xfrm>
          <a:prstGeom prst="rect">
            <a:avLst/>
          </a:prstGeom>
          <a:noFill/>
          <a:ln/>
        </p:spPr>
        <p:txBody>
          <a:bodyPr wrap="square" rtlCol="0" anchor="ctr"/>
          <a:lstStyle/>
          <a:p>
            <a:pPr marL="0" indent="0" algn="ctr">
              <a:buNone/>
            </a:pPr>
            <a:r>
              <a:rPr lang="en-US" sz="1600" dirty="0">
                <a:solidFill>
                  <a:srgbClr val="CBD5E8"/>
                </a:solidFill>
                <a:latin typeface="Calibri" pitchFamily="34" charset="0"/>
                <a:ea typeface="Calibri" pitchFamily="34" charset="-122"/>
                <a:cs typeface="Calibri" pitchFamily="34" charset="-120"/>
              </a:rPr>
              <a:t>Modalidad Mixta</a:t>
            </a:r>
            <a:endParaRPr lang="en-US" sz="1600" dirty="0"/>
          </a:p>
        </p:txBody>
      </p:sp>
      <p:sp>
        <p:nvSpPr>
          <p:cNvPr id="4" name="Text 2"/>
          <p:cNvSpPr txBox="1"/>
          <p:nvPr/>
        </p:nvSpPr>
        <p:spPr>
          <a:xfrm>
            <a:off x="548640" y="2286000"/>
            <a:ext cx="11064240" cy="384048"/>
          </a:xfrm>
          <a:prstGeom prst="rect">
            <a:avLst/>
          </a:prstGeom>
          <a:noFill/>
          <a:ln/>
        </p:spPr>
        <p:txBody>
          <a:bodyPr wrap="square" rtlCol="0" anchor="ctr"/>
          <a:lstStyle/>
          <a:p>
            <a:pPr marL="0" indent="0" algn="ctr">
              <a:buNone/>
            </a:pPr>
            <a:r>
              <a:rPr lang="en-US" sz="1500" b="1" dirty="0">
                <a:solidFill>
                  <a:srgbClr val="9FB3D9"/>
                </a:solidFill>
                <a:latin typeface="Calibri" pitchFamily="34" charset="0"/>
                <a:ea typeface="Calibri" pitchFamily="34" charset="-122"/>
                <a:cs typeface="Calibri" pitchFamily="34" charset="-120"/>
              </a:rPr>
              <a:t>Materia:  </a:t>
            </a:r>
            <a:r>
              <a:rPr lang="en-US" sz="1500" dirty="0">
                <a:solidFill>
                  <a:srgbClr val="FFFFFF"/>
                </a:solidFill>
                <a:latin typeface="Calibri" pitchFamily="34" charset="0"/>
                <a:ea typeface="Calibri" pitchFamily="34" charset="-122"/>
                <a:cs typeface="Calibri" pitchFamily="34" charset="-120"/>
              </a:rPr>
              <a:t>Simulación</a:t>
            </a:r>
            <a:endParaRPr lang="en-US" sz="1500" dirty="0"/>
          </a:p>
        </p:txBody>
      </p:sp>
      <p:sp>
        <p:nvSpPr>
          <p:cNvPr id="5" name="Text 3"/>
          <p:cNvSpPr txBox="1"/>
          <p:nvPr/>
        </p:nvSpPr>
        <p:spPr>
          <a:xfrm>
            <a:off x="548640" y="2743200"/>
            <a:ext cx="11064240" cy="384048"/>
          </a:xfrm>
          <a:prstGeom prst="rect">
            <a:avLst/>
          </a:prstGeom>
          <a:noFill/>
          <a:ln/>
        </p:spPr>
        <p:txBody>
          <a:bodyPr wrap="square" rtlCol="0" anchor="ctr"/>
          <a:lstStyle/>
          <a:p>
            <a:pPr marL="0" indent="0" algn="ctr">
              <a:buNone/>
            </a:pPr>
            <a:r>
              <a:rPr lang="en-US" sz="1500" b="1" dirty="0">
                <a:solidFill>
                  <a:srgbClr val="9FB3D9"/>
                </a:solidFill>
                <a:latin typeface="Calibri" pitchFamily="34" charset="0"/>
                <a:ea typeface="Calibri" pitchFamily="34" charset="-122"/>
                <a:cs typeface="Calibri" pitchFamily="34" charset="-120"/>
              </a:rPr>
              <a:t>Semestre:  </a:t>
            </a:r>
            <a:r>
              <a:rPr lang="en-US" sz="1500" dirty="0">
                <a:solidFill>
                  <a:srgbClr val="FFFFFF"/>
                </a:solidFill>
                <a:latin typeface="Calibri" pitchFamily="34" charset="0"/>
                <a:ea typeface="Calibri" pitchFamily="34" charset="-122"/>
                <a:cs typeface="Calibri" pitchFamily="34" charset="-120"/>
              </a:rPr>
              <a:t>Séptimo semestre</a:t>
            </a:r>
            <a:endParaRPr lang="en-US" sz="1500" dirty="0"/>
          </a:p>
        </p:txBody>
      </p:sp>
      <p:sp>
        <p:nvSpPr>
          <p:cNvPr id="6" name="Text 4"/>
          <p:cNvSpPr txBox="1"/>
          <p:nvPr/>
        </p:nvSpPr>
        <p:spPr>
          <a:xfrm>
            <a:off x="548640" y="3200400"/>
            <a:ext cx="11064240" cy="384048"/>
          </a:xfrm>
          <a:prstGeom prst="rect">
            <a:avLst/>
          </a:prstGeom>
          <a:noFill/>
          <a:ln/>
        </p:spPr>
        <p:txBody>
          <a:bodyPr wrap="square" rtlCol="0" anchor="ctr"/>
          <a:lstStyle/>
          <a:p>
            <a:pPr marL="0" indent="0" algn="ctr">
              <a:buNone/>
            </a:pPr>
            <a:r>
              <a:rPr lang="en-US" sz="1500" b="1" dirty="0">
                <a:solidFill>
                  <a:srgbClr val="9FB3D9"/>
                </a:solidFill>
                <a:latin typeface="Calibri" pitchFamily="34" charset="0"/>
                <a:ea typeface="Calibri" pitchFamily="34" charset="-122"/>
                <a:cs typeface="Calibri" pitchFamily="34" charset="-120"/>
              </a:rPr>
              <a:t>Especialidad:  </a:t>
            </a:r>
            <a:r>
              <a:rPr lang="en-US" sz="1500" dirty="0">
                <a:solidFill>
                  <a:srgbClr val="FFFFFF"/>
                </a:solidFill>
                <a:latin typeface="Calibri" pitchFamily="34" charset="0"/>
                <a:ea typeface="Calibri" pitchFamily="34" charset="-122"/>
                <a:cs typeface="Calibri" pitchFamily="34" charset="-120"/>
              </a:rPr>
              <a:t>Ingeniería en Sistemas Computacionales</a:t>
            </a:r>
            <a:endParaRPr lang="en-US" sz="1500" dirty="0"/>
          </a:p>
        </p:txBody>
      </p:sp>
      <p:sp>
        <p:nvSpPr>
          <p:cNvPr id="7" name="Text 5"/>
          <p:cNvSpPr txBox="1"/>
          <p:nvPr/>
        </p:nvSpPr>
        <p:spPr>
          <a:xfrm>
            <a:off x="548640" y="3657600"/>
            <a:ext cx="11064240" cy="384048"/>
          </a:xfrm>
          <a:prstGeom prst="rect">
            <a:avLst/>
          </a:prstGeom>
          <a:noFill/>
          <a:ln/>
        </p:spPr>
        <p:txBody>
          <a:bodyPr wrap="square" rtlCol="0" anchor="ctr"/>
          <a:lstStyle/>
          <a:p>
            <a:pPr marL="0" indent="0" algn="ctr">
              <a:buNone/>
            </a:pPr>
            <a:r>
              <a:rPr lang="en-US" sz="1500" b="1" dirty="0">
                <a:solidFill>
                  <a:srgbClr val="9FB3D9"/>
                </a:solidFill>
                <a:latin typeface="Calibri" pitchFamily="34" charset="0"/>
                <a:ea typeface="Calibri" pitchFamily="34" charset="-122"/>
                <a:cs typeface="Calibri" pitchFamily="34" charset="-120"/>
              </a:rPr>
              <a:t>Nombre del alumno:  </a:t>
            </a:r>
            <a:r>
              <a:rPr lang="en-US" sz="1500" dirty="0">
                <a:solidFill>
                  <a:srgbClr val="FFFFFF"/>
                </a:solidFill>
                <a:latin typeface="Calibri" pitchFamily="34" charset="0"/>
                <a:ea typeface="Calibri" pitchFamily="34" charset="-122"/>
                <a:cs typeface="Calibri" pitchFamily="34" charset="-120"/>
              </a:rPr>
              <a:t>Cynthia Jasmine Morales Torres / 231260014</a:t>
            </a:r>
            <a:endParaRPr lang="en-US" sz="1500" dirty="0"/>
          </a:p>
        </p:txBody>
      </p:sp>
      <p:sp>
        <p:nvSpPr>
          <p:cNvPr id="8" name="Text 6"/>
          <p:cNvSpPr txBox="1"/>
          <p:nvPr/>
        </p:nvSpPr>
        <p:spPr>
          <a:xfrm>
            <a:off x="548640" y="4114800"/>
            <a:ext cx="11064240" cy="384048"/>
          </a:xfrm>
          <a:prstGeom prst="rect">
            <a:avLst/>
          </a:prstGeom>
          <a:noFill/>
          <a:ln/>
        </p:spPr>
        <p:txBody>
          <a:bodyPr wrap="square" rtlCol="0" anchor="ctr"/>
          <a:lstStyle/>
          <a:p>
            <a:pPr marL="0" indent="0" algn="ctr">
              <a:buNone/>
            </a:pPr>
            <a:r>
              <a:rPr lang="en-US" sz="1500" b="1" dirty="0">
                <a:solidFill>
                  <a:srgbClr val="9FB3D9"/>
                </a:solidFill>
                <a:latin typeface="Calibri" pitchFamily="34" charset="0"/>
                <a:ea typeface="Calibri" pitchFamily="34" charset="-122"/>
                <a:cs typeface="Calibri" pitchFamily="34" charset="-120"/>
              </a:rPr>
              <a:t>Nombre del docente:  </a:t>
            </a:r>
            <a:r>
              <a:rPr lang="en-US" sz="1500" dirty="0">
                <a:solidFill>
                  <a:srgbClr val="FFFFFF"/>
                </a:solidFill>
                <a:latin typeface="Calibri" pitchFamily="34" charset="0"/>
                <a:ea typeface="Calibri" pitchFamily="34" charset="-122"/>
                <a:cs typeface="Calibri" pitchFamily="34" charset="-120"/>
              </a:rPr>
              <a:t>Ing. Francisco Javier Mingo Velázquez</a:t>
            </a:r>
            <a:endParaRPr lang="en-US" sz="1500" dirty="0"/>
          </a:p>
        </p:txBody>
      </p:sp>
      <p:sp>
        <p:nvSpPr>
          <p:cNvPr id="9" name="Text 7"/>
          <p:cNvSpPr txBox="1"/>
          <p:nvPr/>
        </p:nvSpPr>
        <p:spPr>
          <a:xfrm>
            <a:off x="548640" y="4572000"/>
            <a:ext cx="11064240" cy="384048"/>
          </a:xfrm>
          <a:prstGeom prst="rect">
            <a:avLst/>
          </a:prstGeom>
          <a:noFill/>
          <a:ln/>
        </p:spPr>
        <p:txBody>
          <a:bodyPr wrap="square" rtlCol="0" anchor="ctr"/>
          <a:lstStyle/>
          <a:p>
            <a:pPr marL="0" indent="0" algn="ctr">
              <a:buNone/>
            </a:pPr>
            <a:r>
              <a:rPr lang="en-US" sz="1500" b="1" dirty="0">
                <a:solidFill>
                  <a:srgbClr val="9FB3D9"/>
                </a:solidFill>
                <a:latin typeface="Calibri" pitchFamily="34" charset="0"/>
                <a:ea typeface="Calibri" pitchFamily="34" charset="-122"/>
                <a:cs typeface="Calibri" pitchFamily="34" charset="-120"/>
              </a:rPr>
              <a:t>Nombre del trabajo:  </a:t>
            </a:r>
            <a:r>
              <a:rPr lang="en-US" sz="1500" dirty="0">
                <a:solidFill>
                  <a:srgbClr val="FFFFFF"/>
                </a:solidFill>
                <a:latin typeface="Calibri" pitchFamily="34" charset="0"/>
                <a:ea typeface="Calibri" pitchFamily="34" charset="-122"/>
                <a:cs typeface="Calibri" pitchFamily="34" charset="-120"/>
              </a:rPr>
              <a:t>3.3 Ejercicios</a:t>
            </a:r>
            <a:endParaRPr lang="en-US" sz="1500" dirty="0"/>
          </a:p>
        </p:txBody>
      </p:sp>
      <p:sp>
        <p:nvSpPr>
          <p:cNvPr id="10" name="Text 8"/>
          <p:cNvSpPr txBox="1"/>
          <p:nvPr/>
        </p:nvSpPr>
        <p:spPr>
          <a:xfrm>
            <a:off x="548640" y="6309360"/>
            <a:ext cx="11064240" cy="365760"/>
          </a:xfrm>
          <a:prstGeom prst="rect">
            <a:avLst/>
          </a:prstGeom>
          <a:noFill/>
          <a:ln/>
        </p:spPr>
        <p:txBody>
          <a:bodyPr wrap="square" rtlCol="0" anchor="ctr"/>
          <a:lstStyle/>
          <a:p>
            <a:pPr marL="0" indent="0" algn="ctr">
              <a:buNone/>
            </a:pPr>
            <a:r>
              <a:rPr lang="en-US" sz="1200" i="1" dirty="0">
                <a:solidFill>
                  <a:srgbClr val="9FB3D9"/>
                </a:solidFill>
                <a:latin typeface="Calibri" pitchFamily="34" charset="0"/>
                <a:ea typeface="Calibri" pitchFamily="34" charset="-122"/>
                <a:cs typeface="Calibri" pitchFamily="34" charset="-120"/>
              </a:rPr>
              <a:t>Frontera Comalapa, Chiapas. A 16 de septiembre del 2026.</a:t>
            </a:r>
            <a:endParaRPr lang="en-US" sz="1200" dirty="0"/>
          </a:p>
        </p:txBody>
      </p:sp>
      <p:grpSp>
        <p:nvGrpSpPr>
          <p:cNvPr id="11" name="Group 2">
            <a:extLst>
              <a:ext uri="{FF2B5EF4-FFF2-40B4-BE49-F238E27FC236}">
                <a16:creationId xmlns:a16="http://schemas.microsoft.com/office/drawing/2014/main" id="{F8A3745B-2A79-4EFA-366E-3E08E3F1D9B1}"/>
              </a:ext>
            </a:extLst>
          </p:cNvPr>
          <p:cNvGrpSpPr/>
          <p:nvPr/>
        </p:nvGrpSpPr>
        <p:grpSpPr>
          <a:xfrm>
            <a:off x="163668" y="148042"/>
            <a:ext cx="2709599" cy="1198176"/>
            <a:chOff x="0" y="0"/>
            <a:chExt cx="3073400" cy="1308100"/>
          </a:xfrm>
        </p:grpSpPr>
        <p:sp>
          <p:nvSpPr>
            <p:cNvPr id="12" name="Freeform 3">
              <a:extLst>
                <a:ext uri="{FF2B5EF4-FFF2-40B4-BE49-F238E27FC236}">
                  <a16:creationId xmlns:a16="http://schemas.microsoft.com/office/drawing/2014/main" id="{A6C8DFE7-8F6A-D558-E7AC-C7DCD4DEDEE9}"/>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3"/>
              <a:stretch>
                <a:fillRect/>
              </a:stretch>
            </a:blipFill>
          </p:spPr>
        </p:sp>
      </p:grpSp>
      <p:grpSp>
        <p:nvGrpSpPr>
          <p:cNvPr id="13" name="Group 4">
            <a:extLst>
              <a:ext uri="{FF2B5EF4-FFF2-40B4-BE49-F238E27FC236}">
                <a16:creationId xmlns:a16="http://schemas.microsoft.com/office/drawing/2014/main" id="{A0B832C3-2CEC-B9BF-2C84-FFF2E9A0BD0A}"/>
              </a:ext>
            </a:extLst>
          </p:cNvPr>
          <p:cNvGrpSpPr/>
          <p:nvPr/>
        </p:nvGrpSpPr>
        <p:grpSpPr>
          <a:xfrm>
            <a:off x="9368025" y="84680"/>
            <a:ext cx="1872270" cy="1245240"/>
            <a:chOff x="0" y="0"/>
            <a:chExt cx="1981200" cy="1625600"/>
          </a:xfrm>
        </p:grpSpPr>
        <p:sp>
          <p:nvSpPr>
            <p:cNvPr id="14" name="Freeform 5">
              <a:extLst>
                <a:ext uri="{FF2B5EF4-FFF2-40B4-BE49-F238E27FC236}">
                  <a16:creationId xmlns:a16="http://schemas.microsoft.com/office/drawing/2014/main" id="{25C3CA71-ED5D-8375-EE41-E468A4CAAAF9}"/>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4"/>
              <a:stretch>
                <a:fillRect/>
              </a:stretch>
            </a:blipFill>
          </p:spPr>
        </p:sp>
      </p:grpSp>
      <p:grpSp>
        <p:nvGrpSpPr>
          <p:cNvPr id="15" name="Group 6">
            <a:extLst>
              <a:ext uri="{FF2B5EF4-FFF2-40B4-BE49-F238E27FC236}">
                <a16:creationId xmlns:a16="http://schemas.microsoft.com/office/drawing/2014/main" id="{2F1C8FB4-E3E2-F997-DDEB-659DF4A03C49}"/>
              </a:ext>
            </a:extLst>
          </p:cNvPr>
          <p:cNvGrpSpPr/>
          <p:nvPr/>
        </p:nvGrpSpPr>
        <p:grpSpPr>
          <a:xfrm>
            <a:off x="4284268" y="264052"/>
            <a:ext cx="3812814" cy="709234"/>
            <a:chOff x="0" y="0"/>
            <a:chExt cx="4343400" cy="901700"/>
          </a:xfrm>
        </p:grpSpPr>
        <p:sp>
          <p:nvSpPr>
            <p:cNvPr id="16" name="Freeform 7">
              <a:extLst>
                <a:ext uri="{FF2B5EF4-FFF2-40B4-BE49-F238E27FC236}">
                  <a16:creationId xmlns:a16="http://schemas.microsoft.com/office/drawing/2014/main" id="{E63307EA-98AA-E241-1952-3D19D8793D0E}"/>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5"/>
              <a:stretch>
                <a:fillRect/>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5F6F8"/>
          </a:solidFill>
          <a:ln/>
        </p:spPr>
      </p:sp>
      <p:sp>
        <p:nvSpPr>
          <p:cNvPr id="3" name="Text 1"/>
          <p:cNvSpPr txBox="1"/>
          <p:nvPr/>
        </p:nvSpPr>
        <p:spPr>
          <a:xfrm>
            <a:off x="548640" y="164592"/>
            <a:ext cx="11064240" cy="640080"/>
          </a:xfrm>
          <a:prstGeom prst="rect">
            <a:avLst/>
          </a:prstGeom>
          <a:noFill/>
          <a:ln/>
        </p:spPr>
        <p:txBody>
          <a:bodyPr wrap="square" rtlCol="0" anchor="ctr"/>
          <a:lstStyle/>
          <a:p>
            <a:pPr marL="0" indent="0">
              <a:buNone/>
            </a:pPr>
            <a:r>
              <a:rPr lang="en-US" sz="2400" b="1" dirty="0">
                <a:solidFill>
                  <a:srgbClr val="1F3864"/>
                </a:solidFill>
                <a:latin typeface="Calibri" pitchFamily="34" charset="0"/>
                <a:ea typeface="Calibri" pitchFamily="34" charset="-122"/>
                <a:cs typeface="Calibri" pitchFamily="34" charset="-120"/>
              </a:rPr>
              <a:t>Introducción</a:t>
            </a:r>
            <a:endParaRPr lang="en-US" sz="2400" dirty="0"/>
          </a:p>
        </p:txBody>
      </p:sp>
      <p:sp>
        <p:nvSpPr>
          <p:cNvPr id="4" name="Text 2"/>
          <p:cNvSpPr txBox="1"/>
          <p:nvPr/>
        </p:nvSpPr>
        <p:spPr>
          <a:xfrm>
            <a:off x="640080" y="1234440"/>
            <a:ext cx="10881360" cy="5303520"/>
          </a:xfrm>
          <a:prstGeom prst="rect">
            <a:avLst/>
          </a:prstGeom>
          <a:noFill/>
          <a:ln/>
        </p:spPr>
        <p:txBody>
          <a:bodyPr wrap="square" rtlCol="0" anchor="t"/>
          <a:lstStyle/>
          <a:p>
            <a:pPr marL="0" indent="0" algn="l">
              <a:lnSpc>
                <a:spcPct val="115000"/>
              </a:lnSpc>
              <a:spcAft>
                <a:spcPts val="1400"/>
              </a:spcAft>
              <a:buNone/>
            </a:pPr>
            <a:r>
              <a:rPr lang="en-US" sz="1400" dirty="0">
                <a:solidFill>
                  <a:srgbClr val="262626"/>
                </a:solidFill>
                <a:latin typeface="Calibri" pitchFamily="34" charset="0"/>
                <a:ea typeface="Calibri" pitchFamily="34" charset="-122"/>
                <a:cs typeface="Calibri" pitchFamily="34" charset="-120"/>
              </a:rPr>
              <a:t>La generación de variables aleatorias es la base de todo proceso de simulación, ya que permite representar de manera numérica fenómenos sujetos al azar. En esta actividad se resuelven ejercicios prácticos de generación de variables discretas y continuas, así como la aplicación de los métodos de la transformada inversa, convolución y composición, un procedimiento especial de aceptación-rechazo y pruebas estadísticas de bondad de ajuste.</a:t>
            </a:r>
            <a:endParaRPr lang="en-US" sz="1400" dirty="0"/>
          </a:p>
          <a:p>
            <a:pPr marL="0" indent="0" algn="l">
              <a:lnSpc>
                <a:spcPct val="115000"/>
              </a:lnSpc>
              <a:spcAft>
                <a:spcPts val="1400"/>
              </a:spcAft>
              <a:buNone/>
            </a:pPr>
            <a:r>
              <a:rPr lang="en-US" sz="1400" dirty="0">
                <a:solidFill>
                  <a:srgbClr val="262626"/>
                </a:solidFill>
                <a:latin typeface="Calibri" pitchFamily="34" charset="0"/>
                <a:ea typeface="Calibri" pitchFamily="34" charset="-122"/>
                <a:cs typeface="Calibri" pitchFamily="34" charset="-120"/>
              </a:rPr>
              <a:t>A diferencia de la práctica anterior —en la que se construyó una aplicación con interfaz gráfica—, en esta actividad los ejercicios se resolvieron mediante scripts sencillos y directos, ejecutados por consola, en tres lenguajes distintos: R (RStudio), Python (Visual Studio Code) y Java, lo que permite comparar la sintaxis y las funciones propias de cada lenguaje para resolver el mismo conjunto de problemas.</a:t>
            </a:r>
            <a:endParaRPr lang="en-US" sz="1400" dirty="0"/>
          </a:p>
          <a:p>
            <a:pPr marL="0" indent="0" algn="l">
              <a:lnSpc>
                <a:spcPct val="115000"/>
              </a:lnSpc>
              <a:spcAft>
                <a:spcPts val="1400"/>
              </a:spcAft>
              <a:buNone/>
            </a:pPr>
            <a:r>
              <a:rPr lang="en-US" sz="1400" dirty="0">
                <a:solidFill>
                  <a:srgbClr val="262626"/>
                </a:solidFill>
                <a:latin typeface="Calibri" pitchFamily="34" charset="0"/>
                <a:ea typeface="Calibri" pitchFamily="34" charset="-122"/>
                <a:cs typeface="Calibri" pitchFamily="34" charset="-120"/>
              </a:rPr>
              <a:t>En este reporte se presenta cada fragmento de código junto con la explicación de su funcionamiento, así como las capturas de la ejecución de cada programa y la interpretación de los resultados obtenidos.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5F6F8"/>
          </a:solidFill>
          <a:ln/>
        </p:spPr>
      </p:sp>
      <p:sp>
        <p:nvSpPr>
          <p:cNvPr id="3" name="Text 1"/>
          <p:cNvSpPr txBox="1"/>
          <p:nvPr/>
        </p:nvSpPr>
        <p:spPr>
          <a:xfrm>
            <a:off x="548640" y="164592"/>
            <a:ext cx="11064240" cy="640080"/>
          </a:xfrm>
          <a:prstGeom prst="rect">
            <a:avLst/>
          </a:prstGeom>
          <a:noFill/>
          <a:ln/>
        </p:spPr>
        <p:txBody>
          <a:bodyPr wrap="square" rtlCol="0" anchor="ctr"/>
          <a:lstStyle/>
          <a:p>
            <a:pPr marL="0" indent="0">
              <a:buNone/>
            </a:pPr>
            <a:r>
              <a:rPr lang="en-US" sz="2400" b="1" dirty="0">
                <a:solidFill>
                  <a:srgbClr val="1F3864"/>
                </a:solidFill>
                <a:latin typeface="Calibri" pitchFamily="34" charset="0"/>
                <a:ea typeface="Calibri" pitchFamily="34" charset="-122"/>
                <a:cs typeface="Calibri" pitchFamily="34" charset="-120"/>
              </a:rPr>
              <a:t>Justificación</a:t>
            </a:r>
            <a:endParaRPr lang="en-US" sz="2400" dirty="0"/>
          </a:p>
        </p:txBody>
      </p:sp>
      <p:sp>
        <p:nvSpPr>
          <p:cNvPr id="4" name="Text 2"/>
          <p:cNvSpPr txBox="1"/>
          <p:nvPr/>
        </p:nvSpPr>
        <p:spPr>
          <a:xfrm>
            <a:off x="640080" y="1234440"/>
            <a:ext cx="10881360" cy="5303520"/>
          </a:xfrm>
          <a:prstGeom prst="rect">
            <a:avLst/>
          </a:prstGeom>
          <a:noFill/>
          <a:ln/>
        </p:spPr>
        <p:txBody>
          <a:bodyPr wrap="square" rtlCol="0" anchor="t"/>
          <a:lstStyle/>
          <a:p>
            <a:pPr marL="0" indent="0" algn="l">
              <a:lnSpc>
                <a:spcPct val="115000"/>
              </a:lnSpc>
              <a:spcAft>
                <a:spcPts val="1400"/>
              </a:spcAft>
              <a:buNone/>
            </a:pPr>
            <a:r>
              <a:rPr lang="en-US" sz="1400" dirty="0">
                <a:solidFill>
                  <a:srgbClr val="262626"/>
                </a:solidFill>
                <a:latin typeface="Calibri" pitchFamily="34" charset="0"/>
                <a:ea typeface="Calibri" pitchFamily="34" charset="-122"/>
                <a:cs typeface="Calibri" pitchFamily="34" charset="-120"/>
              </a:rPr>
              <a:t>Resolver estos ejercicios en tres lenguajes de programación distintos permite al estudiante consolidar el dominio de los algoritmos de generación de variables aleatorias, independientemente de la sintaxis particular de cada plataforma, y reconocer qué herramientas ofrece cada lenguaje para facilitar (o no) su implementación.</a:t>
            </a:r>
            <a:endParaRPr lang="en-US" sz="1400" dirty="0"/>
          </a:p>
          <a:p>
            <a:pPr marL="0" indent="0" algn="l">
              <a:lnSpc>
                <a:spcPct val="115000"/>
              </a:lnSpc>
              <a:spcAft>
                <a:spcPts val="1400"/>
              </a:spcAft>
              <a:buNone/>
            </a:pPr>
            <a:r>
              <a:rPr lang="en-US" sz="1400" dirty="0">
                <a:solidFill>
                  <a:srgbClr val="262626"/>
                </a:solidFill>
                <a:latin typeface="Calibri" pitchFamily="34" charset="0"/>
                <a:ea typeface="Calibri" pitchFamily="34" charset="-122"/>
                <a:cs typeface="Calibri" pitchFamily="34" charset="-120"/>
              </a:rPr>
              <a:t>R, al ser un lenguaje orientado al análisis estadístico, permite resolver estos ejercicios de forma muy compacta; Python ofrece una sintaxis clara y legible apoyada en sus bibliotecas random y math; y Java, al ser un lenguaje fuertemente tipado y orientado a objetos, obliga a declarar explícitamente cada estructura de datos y tipo de variable, lo cual refuerza la comprensión de los fundamentos de programación detrás de cada algoritmo.</a:t>
            </a:r>
            <a:endParaRPr lang="en-US" sz="1400" dirty="0"/>
          </a:p>
          <a:p>
            <a:pPr marL="0" indent="0" algn="l">
              <a:lnSpc>
                <a:spcPct val="115000"/>
              </a:lnSpc>
              <a:spcAft>
                <a:spcPts val="1400"/>
              </a:spcAft>
              <a:buNone/>
            </a:pPr>
            <a:r>
              <a:rPr lang="en-US" sz="1400" dirty="0">
                <a:solidFill>
                  <a:srgbClr val="262626"/>
                </a:solidFill>
                <a:latin typeface="Calibri" pitchFamily="34" charset="0"/>
                <a:ea typeface="Calibri" pitchFamily="34" charset="-122"/>
                <a:cs typeface="Calibri" pitchFamily="34" charset="-120"/>
              </a:rPr>
              <a:t>Esta práctica es relevante porque los ejercicios resueltos (variables discretas y continuas, transformada inversa, convolución, composición, aceptación-rechazo y pruebas de bondad de ajuste) son las herramientas base que se utilizarán en el resto del curso de Simulación para construir modelos más complejos de sistemas reales.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5F6F8"/>
          </a:solidFill>
          <a:ln/>
        </p:spPr>
      </p:sp>
      <p:sp>
        <p:nvSpPr>
          <p:cNvPr id="3" name="Text 1"/>
          <p:cNvSpPr txBox="1"/>
          <p:nvPr/>
        </p:nvSpPr>
        <p:spPr>
          <a:xfrm>
            <a:off x="548640" y="164592"/>
            <a:ext cx="11064240" cy="640080"/>
          </a:xfrm>
          <a:prstGeom prst="rect">
            <a:avLst/>
          </a:prstGeom>
          <a:noFill/>
          <a:ln/>
        </p:spPr>
        <p:txBody>
          <a:bodyPr wrap="square" rtlCol="0" anchor="ctr"/>
          <a:lstStyle/>
          <a:p>
            <a:pPr marL="0" indent="0">
              <a:buNone/>
            </a:pPr>
            <a:r>
              <a:rPr lang="en-US" sz="2400" b="1" dirty="0">
                <a:solidFill>
                  <a:srgbClr val="1F3864"/>
                </a:solidFill>
                <a:latin typeface="Calibri" pitchFamily="34" charset="0"/>
                <a:ea typeface="Calibri" pitchFamily="34" charset="-122"/>
                <a:cs typeface="Calibri" pitchFamily="34" charset="-120"/>
              </a:rPr>
              <a:t>Desarrollo</a:t>
            </a:r>
            <a:endParaRPr lang="en-US" sz="2400" dirty="0"/>
          </a:p>
        </p:txBody>
      </p:sp>
      <p:sp>
        <p:nvSpPr>
          <p:cNvPr id="4" name="Text 2"/>
          <p:cNvSpPr txBox="1"/>
          <p:nvPr/>
        </p:nvSpPr>
        <p:spPr>
          <a:xfrm>
            <a:off x="640080" y="1234440"/>
            <a:ext cx="10881360" cy="5303520"/>
          </a:xfrm>
          <a:prstGeom prst="rect">
            <a:avLst/>
          </a:prstGeom>
          <a:noFill/>
          <a:ln/>
        </p:spPr>
        <p:txBody>
          <a:bodyPr wrap="square" rtlCol="0" anchor="t"/>
          <a:lstStyle/>
          <a:p>
            <a:pPr marL="0" indent="0" algn="l">
              <a:lnSpc>
                <a:spcPct val="115000"/>
              </a:lnSpc>
              <a:spcAft>
                <a:spcPts val="1400"/>
              </a:spcAft>
              <a:buNone/>
            </a:pPr>
            <a:r>
              <a:rPr lang="en-US" sz="1400" dirty="0">
                <a:solidFill>
                  <a:srgbClr val="262626"/>
                </a:solidFill>
                <a:latin typeface="Calibri" pitchFamily="34" charset="0"/>
                <a:ea typeface="Calibri" pitchFamily="34" charset="-122"/>
                <a:cs typeface="Calibri" pitchFamily="34" charset="-120"/>
              </a:rPr>
              <a:t>A continuación se muestra, para cada lenguaje (R, Python y Java), el código correspondiente a los seis ejercicios trabajados —variables discretas, variables continuas, transformada inversa, convolución, composición, procedimientos especiales de aceptación-rechazo y pruebas estadísticas— acompañado de una breve explicación de su funcionamiento, así como la captura de su ejecución con la interpretación de los resultados obtenidos.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5F6F8"/>
          </a:solidFill>
          <a:ln/>
        </p:spPr>
      </p:sp>
      <p:sp>
        <p:nvSpPr>
          <p:cNvPr id="3" name="Text 1"/>
          <p:cNvSpPr txBox="1"/>
          <p:nvPr/>
        </p:nvSpPr>
        <p:spPr>
          <a:xfrm>
            <a:off x="548640" y="164592"/>
            <a:ext cx="11064240" cy="640080"/>
          </a:xfrm>
          <a:prstGeom prst="rect">
            <a:avLst/>
          </a:prstGeom>
          <a:noFill/>
          <a:ln/>
        </p:spPr>
        <p:txBody>
          <a:bodyPr wrap="square" rtlCol="0" anchor="ctr"/>
          <a:lstStyle/>
          <a:p>
            <a:pPr marL="0" indent="0">
              <a:buNone/>
            </a:pPr>
            <a:r>
              <a:rPr lang="en-US" sz="2400" b="1" dirty="0">
                <a:solidFill>
                  <a:srgbClr val="1F3864"/>
                </a:solidFill>
                <a:latin typeface="Calibri" pitchFamily="34" charset="0"/>
                <a:ea typeface="Calibri" pitchFamily="34" charset="-122"/>
                <a:cs typeface="Calibri" pitchFamily="34" charset="-120"/>
              </a:rPr>
              <a:t>R — Ejercicio 3.2 Variables Discretas</a:t>
            </a:r>
            <a:endParaRPr lang="en-US" sz="2400" dirty="0"/>
          </a:p>
        </p:txBody>
      </p:sp>
      <p:sp>
        <p:nvSpPr>
          <p:cNvPr id="4" name="Shape 2"/>
          <p:cNvSpPr/>
          <p:nvPr/>
        </p:nvSpPr>
        <p:spPr>
          <a:xfrm>
            <a:off x="402336" y="3035136"/>
            <a:ext cx="7333488" cy="1427807"/>
          </a:xfrm>
          <a:prstGeom prst="rect">
            <a:avLst/>
          </a:prstGeom>
          <a:solidFill>
            <a:srgbClr val="FFFFFF"/>
          </a:solidFill>
          <a:ln w="12700">
            <a:solidFill>
              <a:srgbClr val="D9D9D9"/>
            </a:solidFill>
            <a:prstDash val="solid"/>
          </a:ln>
        </p:spPr>
      </p:sp>
      <p:pic>
        <p:nvPicPr>
          <p:cNvPr id="5" name="Image 0" descr="/home/claude/report3_imgs/r_01_discretas.png"/>
          <p:cNvPicPr>
            <a:picLocks noChangeAspect="1"/>
          </p:cNvPicPr>
          <p:nvPr/>
        </p:nvPicPr>
        <p:blipFill>
          <a:blip r:embed="rId3"/>
          <a:stretch>
            <a:fillRect/>
          </a:stretch>
        </p:blipFill>
        <p:spPr>
          <a:xfrm>
            <a:off x="457200" y="3090000"/>
            <a:ext cx="7223760" cy="1318079"/>
          </a:xfrm>
          <a:prstGeom prst="rect">
            <a:avLst/>
          </a:prstGeom>
        </p:spPr>
      </p:pic>
      <p:sp>
        <p:nvSpPr>
          <p:cNvPr id="6" name="Shape 3"/>
          <p:cNvSpPr/>
          <p:nvPr/>
        </p:nvSpPr>
        <p:spPr>
          <a:xfrm>
            <a:off x="457200" y="1051560"/>
            <a:ext cx="1371600" cy="274320"/>
          </a:xfrm>
          <a:prstGeom prst="roundRect">
            <a:avLst>
              <a:gd name="adj" fmla="val 20000"/>
            </a:avLst>
          </a:prstGeom>
          <a:solidFill>
            <a:srgbClr val="2E5395"/>
          </a:solidFill>
          <a:ln/>
        </p:spPr>
      </p:sp>
      <p:sp>
        <p:nvSpPr>
          <p:cNvPr id="7" name="Text 4"/>
          <p:cNvSpPr txBox="1"/>
          <p:nvPr/>
        </p:nvSpPr>
        <p:spPr>
          <a:xfrm>
            <a:off x="457200" y="1051560"/>
            <a:ext cx="137160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Código</a:t>
            </a:r>
            <a:endParaRPr lang="en-US" sz="1100" dirty="0"/>
          </a:p>
        </p:txBody>
      </p:sp>
      <p:sp>
        <p:nvSpPr>
          <p:cNvPr id="8" name="Shape 5"/>
          <p:cNvSpPr/>
          <p:nvPr/>
        </p:nvSpPr>
        <p:spPr>
          <a:xfrm>
            <a:off x="7863840" y="1143000"/>
            <a:ext cx="3840480" cy="5257800"/>
          </a:xfrm>
          <a:prstGeom prst="rect">
            <a:avLst/>
          </a:prstGeom>
          <a:solidFill>
            <a:srgbClr val="F5F6F8"/>
          </a:solidFill>
          <a:ln/>
        </p:spPr>
      </p:sp>
      <p:sp>
        <p:nvSpPr>
          <p:cNvPr id="9" name="Text 6"/>
          <p:cNvSpPr txBox="1"/>
          <p:nvPr/>
        </p:nvSpPr>
        <p:spPr>
          <a:xfrm>
            <a:off x="8092440" y="1325880"/>
            <a:ext cx="3383280" cy="36576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¿Qué hace el código?</a:t>
            </a:r>
            <a:endParaRPr lang="en-US" sz="1400" dirty="0"/>
          </a:p>
        </p:txBody>
      </p:sp>
      <p:sp>
        <p:nvSpPr>
          <p:cNvPr id="10" name="Text 7"/>
          <p:cNvSpPr txBox="1"/>
          <p:nvPr/>
        </p:nvSpPr>
        <p:spPr>
          <a:xfrm>
            <a:off x="8092440" y="1737360"/>
            <a:ext cx="3383280" cy="4572000"/>
          </a:xfrm>
          <a:prstGeom prst="rect">
            <a:avLst/>
          </a:prstGeom>
          <a:noFill/>
          <a:ln/>
        </p:spPr>
        <p:txBody>
          <a:bodyPr wrap="square" rtlCol="0" anchor="t"/>
          <a:lstStyle/>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sample(0:9, 5, replace = TRUE) extrae 5 números enteros al azar del conjunto {0,...,9}, permitiendo repeticiones.</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Simula una variable aleatoria discreta uniforme sobre 10 posibles valores.</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El resultado se guarda en el vector discretas y se imprime con cat().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5F6F8"/>
          </a:solidFill>
          <a:ln/>
        </p:spPr>
      </p:sp>
      <p:sp>
        <p:nvSpPr>
          <p:cNvPr id="3" name="Text 1"/>
          <p:cNvSpPr txBox="1"/>
          <p:nvPr/>
        </p:nvSpPr>
        <p:spPr>
          <a:xfrm>
            <a:off x="548640" y="164592"/>
            <a:ext cx="11064240" cy="640080"/>
          </a:xfrm>
          <a:prstGeom prst="rect">
            <a:avLst/>
          </a:prstGeom>
          <a:noFill/>
          <a:ln/>
        </p:spPr>
        <p:txBody>
          <a:bodyPr wrap="square" rtlCol="0" anchor="ctr"/>
          <a:lstStyle/>
          <a:p>
            <a:pPr marL="0" indent="0">
              <a:buNone/>
            </a:pPr>
            <a:r>
              <a:rPr lang="en-US" sz="2400" b="1" dirty="0">
                <a:solidFill>
                  <a:srgbClr val="1F3864"/>
                </a:solidFill>
                <a:latin typeface="Calibri" pitchFamily="34" charset="0"/>
                <a:ea typeface="Calibri" pitchFamily="34" charset="-122"/>
                <a:cs typeface="Calibri" pitchFamily="34" charset="-120"/>
              </a:rPr>
              <a:t>R — Ejercicio 3.3 Variables Continuas</a:t>
            </a:r>
            <a:endParaRPr lang="en-US" sz="2400" dirty="0"/>
          </a:p>
        </p:txBody>
      </p:sp>
      <p:sp>
        <p:nvSpPr>
          <p:cNvPr id="4" name="Shape 2"/>
          <p:cNvSpPr/>
          <p:nvPr/>
        </p:nvSpPr>
        <p:spPr>
          <a:xfrm>
            <a:off x="402336" y="3136459"/>
            <a:ext cx="7333488" cy="1225162"/>
          </a:xfrm>
          <a:prstGeom prst="rect">
            <a:avLst/>
          </a:prstGeom>
          <a:solidFill>
            <a:srgbClr val="FFFFFF"/>
          </a:solidFill>
          <a:ln w="12700">
            <a:solidFill>
              <a:srgbClr val="D9D9D9"/>
            </a:solidFill>
            <a:prstDash val="solid"/>
          </a:ln>
        </p:spPr>
      </p:sp>
      <p:pic>
        <p:nvPicPr>
          <p:cNvPr id="5" name="Image 0" descr="/home/claude/report3_imgs/r_02_continuas.png"/>
          <p:cNvPicPr>
            <a:picLocks noChangeAspect="1"/>
          </p:cNvPicPr>
          <p:nvPr/>
        </p:nvPicPr>
        <p:blipFill>
          <a:blip r:embed="rId3"/>
          <a:stretch>
            <a:fillRect/>
          </a:stretch>
        </p:blipFill>
        <p:spPr>
          <a:xfrm>
            <a:off x="457200" y="3191323"/>
            <a:ext cx="7223760" cy="1115434"/>
          </a:xfrm>
          <a:prstGeom prst="rect">
            <a:avLst/>
          </a:prstGeom>
        </p:spPr>
      </p:pic>
      <p:sp>
        <p:nvSpPr>
          <p:cNvPr id="6" name="Shape 3"/>
          <p:cNvSpPr/>
          <p:nvPr/>
        </p:nvSpPr>
        <p:spPr>
          <a:xfrm>
            <a:off x="457200" y="1051560"/>
            <a:ext cx="1371600" cy="274320"/>
          </a:xfrm>
          <a:prstGeom prst="roundRect">
            <a:avLst>
              <a:gd name="adj" fmla="val 20000"/>
            </a:avLst>
          </a:prstGeom>
          <a:solidFill>
            <a:srgbClr val="2E5395"/>
          </a:solidFill>
          <a:ln/>
        </p:spPr>
      </p:sp>
      <p:sp>
        <p:nvSpPr>
          <p:cNvPr id="7" name="Text 4"/>
          <p:cNvSpPr txBox="1"/>
          <p:nvPr/>
        </p:nvSpPr>
        <p:spPr>
          <a:xfrm>
            <a:off x="457200" y="1051560"/>
            <a:ext cx="137160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Código</a:t>
            </a:r>
            <a:endParaRPr lang="en-US" sz="1100" dirty="0"/>
          </a:p>
        </p:txBody>
      </p:sp>
      <p:sp>
        <p:nvSpPr>
          <p:cNvPr id="8" name="Shape 5"/>
          <p:cNvSpPr/>
          <p:nvPr/>
        </p:nvSpPr>
        <p:spPr>
          <a:xfrm>
            <a:off x="7863840" y="1143000"/>
            <a:ext cx="3840480" cy="5257800"/>
          </a:xfrm>
          <a:prstGeom prst="rect">
            <a:avLst/>
          </a:prstGeom>
          <a:solidFill>
            <a:srgbClr val="F5F6F8"/>
          </a:solidFill>
          <a:ln/>
        </p:spPr>
      </p:sp>
      <p:sp>
        <p:nvSpPr>
          <p:cNvPr id="9" name="Text 6"/>
          <p:cNvSpPr txBox="1"/>
          <p:nvPr/>
        </p:nvSpPr>
        <p:spPr>
          <a:xfrm>
            <a:off x="8092440" y="1325880"/>
            <a:ext cx="3383280" cy="36576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¿Qué hace el código?</a:t>
            </a:r>
            <a:endParaRPr lang="en-US" sz="1400" dirty="0"/>
          </a:p>
        </p:txBody>
      </p:sp>
      <p:sp>
        <p:nvSpPr>
          <p:cNvPr id="10" name="Text 7"/>
          <p:cNvSpPr txBox="1"/>
          <p:nvPr/>
        </p:nvSpPr>
        <p:spPr>
          <a:xfrm>
            <a:off x="8092440" y="1737360"/>
            <a:ext cx="3383280" cy="4572000"/>
          </a:xfrm>
          <a:prstGeom prst="rect">
            <a:avLst/>
          </a:prstGeom>
          <a:noFill/>
          <a:ln/>
        </p:spPr>
        <p:txBody>
          <a:bodyPr wrap="square" rtlCol="0" anchor="t"/>
          <a:lstStyle/>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runif(5) genera 5 números aleatorios continuos distribuidos uniformemente en el intervalo [0,1].</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round(continuas, 4) limita el resultado a 4 decimales para su despliegue.</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Representa la forma más básica de generar variables continuas en R.</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5F6F8"/>
          </a:solidFill>
          <a:ln/>
        </p:spPr>
      </p:sp>
      <p:sp>
        <p:nvSpPr>
          <p:cNvPr id="3" name="Text 1"/>
          <p:cNvSpPr txBox="1"/>
          <p:nvPr/>
        </p:nvSpPr>
        <p:spPr>
          <a:xfrm>
            <a:off x="548640" y="164592"/>
            <a:ext cx="11064240" cy="640080"/>
          </a:xfrm>
          <a:prstGeom prst="rect">
            <a:avLst/>
          </a:prstGeom>
          <a:noFill/>
          <a:ln/>
        </p:spPr>
        <p:txBody>
          <a:bodyPr wrap="square" rtlCol="0" anchor="ctr"/>
          <a:lstStyle/>
          <a:p>
            <a:pPr marL="0" indent="0">
              <a:buNone/>
            </a:pPr>
            <a:r>
              <a:rPr lang="en-US" sz="2400" b="1" dirty="0">
                <a:solidFill>
                  <a:srgbClr val="1F3864"/>
                </a:solidFill>
                <a:latin typeface="Calibri" pitchFamily="34" charset="0"/>
                <a:ea typeface="Calibri" pitchFamily="34" charset="-122"/>
                <a:cs typeface="Calibri" pitchFamily="34" charset="-120"/>
              </a:rPr>
              <a:t>R — Ejercicio 3.4.1 Transformada Inversa</a:t>
            </a:r>
            <a:endParaRPr lang="en-US" sz="2400" dirty="0"/>
          </a:p>
        </p:txBody>
      </p:sp>
      <p:sp>
        <p:nvSpPr>
          <p:cNvPr id="4" name="Shape 2"/>
          <p:cNvSpPr/>
          <p:nvPr/>
        </p:nvSpPr>
        <p:spPr>
          <a:xfrm>
            <a:off x="402336" y="3153012"/>
            <a:ext cx="7333488" cy="1192055"/>
          </a:xfrm>
          <a:prstGeom prst="rect">
            <a:avLst/>
          </a:prstGeom>
          <a:solidFill>
            <a:srgbClr val="FFFFFF"/>
          </a:solidFill>
          <a:ln w="12700">
            <a:solidFill>
              <a:srgbClr val="D9D9D9"/>
            </a:solidFill>
            <a:prstDash val="solid"/>
          </a:ln>
        </p:spPr>
      </p:sp>
      <p:pic>
        <p:nvPicPr>
          <p:cNvPr id="5" name="Image 0" descr="/home/claude/report3_imgs/r_03_transformada.png"/>
          <p:cNvPicPr>
            <a:picLocks noChangeAspect="1"/>
          </p:cNvPicPr>
          <p:nvPr/>
        </p:nvPicPr>
        <p:blipFill>
          <a:blip r:embed="rId3"/>
          <a:stretch>
            <a:fillRect/>
          </a:stretch>
        </p:blipFill>
        <p:spPr>
          <a:xfrm>
            <a:off x="457200" y="3207876"/>
            <a:ext cx="7223760" cy="1082327"/>
          </a:xfrm>
          <a:prstGeom prst="rect">
            <a:avLst/>
          </a:prstGeom>
        </p:spPr>
      </p:pic>
      <p:sp>
        <p:nvSpPr>
          <p:cNvPr id="6" name="Shape 3"/>
          <p:cNvSpPr/>
          <p:nvPr/>
        </p:nvSpPr>
        <p:spPr>
          <a:xfrm>
            <a:off x="457200" y="1051560"/>
            <a:ext cx="1371600" cy="274320"/>
          </a:xfrm>
          <a:prstGeom prst="roundRect">
            <a:avLst>
              <a:gd name="adj" fmla="val 20000"/>
            </a:avLst>
          </a:prstGeom>
          <a:solidFill>
            <a:srgbClr val="2E5395"/>
          </a:solidFill>
          <a:ln/>
        </p:spPr>
      </p:sp>
      <p:sp>
        <p:nvSpPr>
          <p:cNvPr id="7" name="Text 4"/>
          <p:cNvSpPr txBox="1"/>
          <p:nvPr/>
        </p:nvSpPr>
        <p:spPr>
          <a:xfrm>
            <a:off x="457200" y="1051560"/>
            <a:ext cx="137160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Código</a:t>
            </a:r>
            <a:endParaRPr lang="en-US" sz="1100" dirty="0"/>
          </a:p>
        </p:txBody>
      </p:sp>
      <p:sp>
        <p:nvSpPr>
          <p:cNvPr id="8" name="Shape 5"/>
          <p:cNvSpPr/>
          <p:nvPr/>
        </p:nvSpPr>
        <p:spPr>
          <a:xfrm>
            <a:off x="7863840" y="1143000"/>
            <a:ext cx="3840480" cy="5257800"/>
          </a:xfrm>
          <a:prstGeom prst="rect">
            <a:avLst/>
          </a:prstGeom>
          <a:solidFill>
            <a:srgbClr val="F5F6F8"/>
          </a:solidFill>
          <a:ln/>
        </p:spPr>
      </p:sp>
      <p:sp>
        <p:nvSpPr>
          <p:cNvPr id="9" name="Text 6"/>
          <p:cNvSpPr txBox="1"/>
          <p:nvPr/>
        </p:nvSpPr>
        <p:spPr>
          <a:xfrm>
            <a:off x="8092440" y="1325880"/>
            <a:ext cx="3383280" cy="36576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¿Qué hace el código?</a:t>
            </a:r>
            <a:endParaRPr lang="en-US" sz="1400" dirty="0"/>
          </a:p>
        </p:txBody>
      </p:sp>
      <p:sp>
        <p:nvSpPr>
          <p:cNvPr id="10" name="Text 7"/>
          <p:cNvSpPr txBox="1"/>
          <p:nvPr/>
        </p:nvSpPr>
        <p:spPr>
          <a:xfrm>
            <a:off x="8092440" y="1737360"/>
            <a:ext cx="3383280" cy="4572000"/>
          </a:xfrm>
          <a:prstGeom prst="rect">
            <a:avLst/>
          </a:prstGeom>
          <a:noFill/>
          <a:ln/>
        </p:spPr>
        <p:txBody>
          <a:bodyPr wrap="square" rtlCol="0" anchor="t"/>
          <a:lstStyle/>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Se genera un valor uniforme u &lt;- runif(1) y se define λ = 2.0.</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Se aplica la fórmula analítica de la transformada inversa de la exponencial: x = -ln(1-u) / λ.</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Convierte un valor uniforme en un valor con distribución exponencial, despejado de F(x).</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5F6F8"/>
          </a:solidFill>
          <a:ln/>
        </p:spPr>
      </p:sp>
      <p:sp>
        <p:nvSpPr>
          <p:cNvPr id="3" name="Text 1"/>
          <p:cNvSpPr txBox="1"/>
          <p:nvPr/>
        </p:nvSpPr>
        <p:spPr>
          <a:xfrm>
            <a:off x="548640" y="164592"/>
            <a:ext cx="11064240" cy="640080"/>
          </a:xfrm>
          <a:prstGeom prst="rect">
            <a:avLst/>
          </a:prstGeom>
          <a:noFill/>
          <a:ln/>
        </p:spPr>
        <p:txBody>
          <a:bodyPr wrap="square" rtlCol="0" anchor="ctr"/>
          <a:lstStyle/>
          <a:p>
            <a:pPr marL="0" indent="0">
              <a:buNone/>
            </a:pPr>
            <a:r>
              <a:rPr lang="en-US" sz="2400" b="1" dirty="0">
                <a:solidFill>
                  <a:srgbClr val="1F3864"/>
                </a:solidFill>
                <a:latin typeface="Calibri" pitchFamily="34" charset="0"/>
                <a:ea typeface="Calibri" pitchFamily="34" charset="-122"/>
                <a:cs typeface="Calibri" pitchFamily="34" charset="-120"/>
              </a:rPr>
              <a:t>R — Ejercicio 3.4.2 Convolución</a:t>
            </a:r>
            <a:endParaRPr lang="en-US" sz="2400" dirty="0"/>
          </a:p>
        </p:txBody>
      </p:sp>
      <p:sp>
        <p:nvSpPr>
          <p:cNvPr id="4" name="Shape 2"/>
          <p:cNvSpPr/>
          <p:nvPr/>
        </p:nvSpPr>
        <p:spPr>
          <a:xfrm>
            <a:off x="402336" y="3257223"/>
            <a:ext cx="7333488" cy="983635"/>
          </a:xfrm>
          <a:prstGeom prst="rect">
            <a:avLst/>
          </a:prstGeom>
          <a:solidFill>
            <a:srgbClr val="FFFFFF"/>
          </a:solidFill>
          <a:ln w="12700">
            <a:solidFill>
              <a:srgbClr val="D9D9D9"/>
            </a:solidFill>
            <a:prstDash val="solid"/>
          </a:ln>
        </p:spPr>
      </p:sp>
      <p:pic>
        <p:nvPicPr>
          <p:cNvPr id="5" name="Image 0" descr="/home/claude/report3_imgs/r_04_convolucion.png"/>
          <p:cNvPicPr>
            <a:picLocks noChangeAspect="1"/>
          </p:cNvPicPr>
          <p:nvPr/>
        </p:nvPicPr>
        <p:blipFill>
          <a:blip r:embed="rId3"/>
          <a:stretch>
            <a:fillRect/>
          </a:stretch>
        </p:blipFill>
        <p:spPr>
          <a:xfrm>
            <a:off x="457200" y="3312087"/>
            <a:ext cx="7223760" cy="873907"/>
          </a:xfrm>
          <a:prstGeom prst="rect">
            <a:avLst/>
          </a:prstGeom>
        </p:spPr>
      </p:pic>
      <p:sp>
        <p:nvSpPr>
          <p:cNvPr id="6" name="Shape 3"/>
          <p:cNvSpPr/>
          <p:nvPr/>
        </p:nvSpPr>
        <p:spPr>
          <a:xfrm>
            <a:off x="457200" y="1051560"/>
            <a:ext cx="1371600" cy="274320"/>
          </a:xfrm>
          <a:prstGeom prst="roundRect">
            <a:avLst>
              <a:gd name="adj" fmla="val 20000"/>
            </a:avLst>
          </a:prstGeom>
          <a:solidFill>
            <a:srgbClr val="2E5395"/>
          </a:solidFill>
          <a:ln/>
        </p:spPr>
      </p:sp>
      <p:sp>
        <p:nvSpPr>
          <p:cNvPr id="7" name="Text 4"/>
          <p:cNvSpPr txBox="1"/>
          <p:nvPr/>
        </p:nvSpPr>
        <p:spPr>
          <a:xfrm>
            <a:off x="457200" y="1051560"/>
            <a:ext cx="137160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Código</a:t>
            </a:r>
            <a:endParaRPr lang="en-US" sz="1100" dirty="0"/>
          </a:p>
        </p:txBody>
      </p:sp>
      <p:sp>
        <p:nvSpPr>
          <p:cNvPr id="8" name="Shape 5"/>
          <p:cNvSpPr/>
          <p:nvPr/>
        </p:nvSpPr>
        <p:spPr>
          <a:xfrm>
            <a:off x="7863840" y="1143000"/>
            <a:ext cx="3840480" cy="5257800"/>
          </a:xfrm>
          <a:prstGeom prst="rect">
            <a:avLst/>
          </a:prstGeom>
          <a:solidFill>
            <a:srgbClr val="F5F6F8"/>
          </a:solidFill>
          <a:ln/>
        </p:spPr>
      </p:sp>
      <p:sp>
        <p:nvSpPr>
          <p:cNvPr id="9" name="Text 6"/>
          <p:cNvSpPr txBox="1"/>
          <p:nvPr/>
        </p:nvSpPr>
        <p:spPr>
          <a:xfrm>
            <a:off x="8092440" y="1325880"/>
            <a:ext cx="3383280" cy="36576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¿Qué hace el código?</a:t>
            </a:r>
            <a:endParaRPr lang="en-US" sz="1400" dirty="0"/>
          </a:p>
        </p:txBody>
      </p:sp>
      <p:sp>
        <p:nvSpPr>
          <p:cNvPr id="10" name="Text 7"/>
          <p:cNvSpPr txBox="1"/>
          <p:nvPr/>
        </p:nvSpPr>
        <p:spPr>
          <a:xfrm>
            <a:off x="8092440" y="1737360"/>
            <a:ext cx="3383280" cy="4572000"/>
          </a:xfrm>
          <a:prstGeom prst="rect">
            <a:avLst/>
          </a:prstGeom>
          <a:noFill/>
          <a:ln/>
        </p:spPr>
        <p:txBody>
          <a:bodyPr wrap="square" rtlCol="0" anchor="t"/>
          <a:lstStyle/>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Se suman 12 valores uniformes con sum(runif(12)) y se les resta 6.</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Aplica el Teorema del Límite Central: la suma de variables uniformes tiende a una distribución normal estándar.</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z_normal aproxima así una variable aleatoria Normal(0,1).</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5F6F8"/>
          </a:solidFill>
          <a:ln/>
        </p:spPr>
      </p:sp>
      <p:sp>
        <p:nvSpPr>
          <p:cNvPr id="3" name="Text 1"/>
          <p:cNvSpPr txBox="1"/>
          <p:nvPr/>
        </p:nvSpPr>
        <p:spPr>
          <a:xfrm>
            <a:off x="548640" y="164592"/>
            <a:ext cx="11064240" cy="640080"/>
          </a:xfrm>
          <a:prstGeom prst="rect">
            <a:avLst/>
          </a:prstGeom>
          <a:noFill/>
          <a:ln/>
        </p:spPr>
        <p:txBody>
          <a:bodyPr wrap="square" rtlCol="0" anchor="ctr"/>
          <a:lstStyle/>
          <a:p>
            <a:pPr marL="0" indent="0">
              <a:buNone/>
            </a:pPr>
            <a:r>
              <a:rPr lang="en-US" sz="2400" b="1" dirty="0">
                <a:solidFill>
                  <a:srgbClr val="1F3864"/>
                </a:solidFill>
                <a:latin typeface="Calibri" pitchFamily="34" charset="0"/>
                <a:ea typeface="Calibri" pitchFamily="34" charset="-122"/>
                <a:cs typeface="Calibri" pitchFamily="34" charset="-120"/>
              </a:rPr>
              <a:t>R — Ejercicio 3.4.3 Composición</a:t>
            </a:r>
            <a:endParaRPr lang="en-US" sz="2400" dirty="0"/>
          </a:p>
        </p:txBody>
      </p:sp>
      <p:sp>
        <p:nvSpPr>
          <p:cNvPr id="4" name="Shape 2"/>
          <p:cNvSpPr/>
          <p:nvPr/>
        </p:nvSpPr>
        <p:spPr>
          <a:xfrm>
            <a:off x="402336" y="2892409"/>
            <a:ext cx="7333488" cy="1713261"/>
          </a:xfrm>
          <a:prstGeom prst="rect">
            <a:avLst/>
          </a:prstGeom>
          <a:solidFill>
            <a:srgbClr val="FFFFFF"/>
          </a:solidFill>
          <a:ln w="12700">
            <a:solidFill>
              <a:srgbClr val="D9D9D9"/>
            </a:solidFill>
            <a:prstDash val="solid"/>
          </a:ln>
        </p:spPr>
      </p:sp>
      <p:pic>
        <p:nvPicPr>
          <p:cNvPr id="5" name="Image 0" descr="/home/claude/report3_imgs/r_05_composicion.png"/>
          <p:cNvPicPr>
            <a:picLocks noChangeAspect="1"/>
          </p:cNvPicPr>
          <p:nvPr/>
        </p:nvPicPr>
        <p:blipFill>
          <a:blip r:embed="rId3"/>
          <a:stretch>
            <a:fillRect/>
          </a:stretch>
        </p:blipFill>
        <p:spPr>
          <a:xfrm>
            <a:off x="457200" y="2947273"/>
            <a:ext cx="7223760" cy="1603533"/>
          </a:xfrm>
          <a:prstGeom prst="rect">
            <a:avLst/>
          </a:prstGeom>
        </p:spPr>
      </p:pic>
      <p:sp>
        <p:nvSpPr>
          <p:cNvPr id="6" name="Shape 3"/>
          <p:cNvSpPr/>
          <p:nvPr/>
        </p:nvSpPr>
        <p:spPr>
          <a:xfrm>
            <a:off x="457200" y="1051560"/>
            <a:ext cx="1371600" cy="274320"/>
          </a:xfrm>
          <a:prstGeom prst="roundRect">
            <a:avLst>
              <a:gd name="adj" fmla="val 20000"/>
            </a:avLst>
          </a:prstGeom>
          <a:solidFill>
            <a:srgbClr val="2E5395"/>
          </a:solidFill>
          <a:ln/>
        </p:spPr>
      </p:sp>
      <p:sp>
        <p:nvSpPr>
          <p:cNvPr id="7" name="Text 4"/>
          <p:cNvSpPr txBox="1"/>
          <p:nvPr/>
        </p:nvSpPr>
        <p:spPr>
          <a:xfrm>
            <a:off x="457200" y="1051560"/>
            <a:ext cx="137160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Código</a:t>
            </a:r>
            <a:endParaRPr lang="en-US" sz="1100" dirty="0"/>
          </a:p>
        </p:txBody>
      </p:sp>
      <p:sp>
        <p:nvSpPr>
          <p:cNvPr id="8" name="Shape 5"/>
          <p:cNvSpPr/>
          <p:nvPr/>
        </p:nvSpPr>
        <p:spPr>
          <a:xfrm>
            <a:off x="7863840" y="1143000"/>
            <a:ext cx="3840480" cy="5257800"/>
          </a:xfrm>
          <a:prstGeom prst="rect">
            <a:avLst/>
          </a:prstGeom>
          <a:solidFill>
            <a:srgbClr val="F5F6F8"/>
          </a:solidFill>
          <a:ln/>
        </p:spPr>
      </p:sp>
      <p:sp>
        <p:nvSpPr>
          <p:cNvPr id="9" name="Text 6"/>
          <p:cNvSpPr txBox="1"/>
          <p:nvPr/>
        </p:nvSpPr>
        <p:spPr>
          <a:xfrm>
            <a:off x="8092440" y="1325880"/>
            <a:ext cx="3383280" cy="36576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¿Qué hace el código?</a:t>
            </a:r>
            <a:endParaRPr lang="en-US" sz="1400" dirty="0"/>
          </a:p>
        </p:txBody>
      </p:sp>
      <p:sp>
        <p:nvSpPr>
          <p:cNvPr id="10" name="Text 7"/>
          <p:cNvSpPr txBox="1"/>
          <p:nvPr/>
        </p:nvSpPr>
        <p:spPr>
          <a:xfrm>
            <a:off x="8092440" y="1737360"/>
            <a:ext cx="3383280" cy="4572000"/>
          </a:xfrm>
          <a:prstGeom prst="rect">
            <a:avLst/>
          </a:prstGeom>
          <a:noFill/>
          <a:ln/>
        </p:spPr>
        <p:txBody>
          <a:bodyPr wrap="square" rtlCol="0" anchor="t"/>
          <a:lstStyle/>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Se genera un valor uniforme comp &lt;- runif(1) que decide qué componente de la mezcla se usa.</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Si comp &lt; 0.6 (60% de probabilidad) se selecciona la componente 1 (Exponencial); en caso contrario, la componente 2 (Uniforme, 40%).</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Ilustra el método de composición: la densidad final es una mezcla ponderada de dos densidades distintas.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5F6F8"/>
          </a:solidFill>
          <a:ln/>
        </p:spPr>
      </p:sp>
      <p:sp>
        <p:nvSpPr>
          <p:cNvPr id="3" name="Text 1"/>
          <p:cNvSpPr txBox="1"/>
          <p:nvPr/>
        </p:nvSpPr>
        <p:spPr>
          <a:xfrm>
            <a:off x="548640" y="164592"/>
            <a:ext cx="11064240" cy="640080"/>
          </a:xfrm>
          <a:prstGeom prst="rect">
            <a:avLst/>
          </a:prstGeom>
          <a:noFill/>
          <a:ln/>
        </p:spPr>
        <p:txBody>
          <a:bodyPr wrap="square" rtlCol="0" anchor="ctr"/>
          <a:lstStyle/>
          <a:p>
            <a:pPr marL="0" indent="0">
              <a:buNone/>
            </a:pPr>
            <a:r>
              <a:rPr lang="en-US" sz="2400" b="1" dirty="0">
                <a:solidFill>
                  <a:srgbClr val="1F3864"/>
                </a:solidFill>
                <a:latin typeface="Calibri" pitchFamily="34" charset="0"/>
                <a:ea typeface="Calibri" pitchFamily="34" charset="-122"/>
                <a:cs typeface="Calibri" pitchFamily="34" charset="-120"/>
              </a:rPr>
              <a:t>R — Ejercicio 3.5 Procedimientos Especiales</a:t>
            </a:r>
            <a:endParaRPr lang="en-US" sz="2400" dirty="0"/>
          </a:p>
        </p:txBody>
      </p:sp>
      <p:sp>
        <p:nvSpPr>
          <p:cNvPr id="4" name="Shape 2"/>
          <p:cNvSpPr/>
          <p:nvPr/>
        </p:nvSpPr>
        <p:spPr>
          <a:xfrm>
            <a:off x="402336" y="2498644"/>
            <a:ext cx="7333488" cy="2500793"/>
          </a:xfrm>
          <a:prstGeom prst="rect">
            <a:avLst/>
          </a:prstGeom>
          <a:solidFill>
            <a:srgbClr val="FFFFFF"/>
          </a:solidFill>
          <a:ln w="12700">
            <a:solidFill>
              <a:srgbClr val="D9D9D9"/>
            </a:solidFill>
            <a:prstDash val="solid"/>
          </a:ln>
        </p:spPr>
      </p:sp>
      <p:pic>
        <p:nvPicPr>
          <p:cNvPr id="5" name="Image 0" descr="/home/claude/report3_imgs/r_06_procedimientos.png"/>
          <p:cNvPicPr>
            <a:picLocks noChangeAspect="1"/>
          </p:cNvPicPr>
          <p:nvPr/>
        </p:nvPicPr>
        <p:blipFill>
          <a:blip r:embed="rId3"/>
          <a:stretch>
            <a:fillRect/>
          </a:stretch>
        </p:blipFill>
        <p:spPr>
          <a:xfrm>
            <a:off x="457200" y="2553508"/>
            <a:ext cx="7223760" cy="2391065"/>
          </a:xfrm>
          <a:prstGeom prst="rect">
            <a:avLst/>
          </a:prstGeom>
        </p:spPr>
      </p:pic>
      <p:sp>
        <p:nvSpPr>
          <p:cNvPr id="6" name="Shape 3"/>
          <p:cNvSpPr/>
          <p:nvPr/>
        </p:nvSpPr>
        <p:spPr>
          <a:xfrm>
            <a:off x="457200" y="1051560"/>
            <a:ext cx="1371600" cy="274320"/>
          </a:xfrm>
          <a:prstGeom prst="roundRect">
            <a:avLst>
              <a:gd name="adj" fmla="val 20000"/>
            </a:avLst>
          </a:prstGeom>
          <a:solidFill>
            <a:srgbClr val="2E5395"/>
          </a:solidFill>
          <a:ln/>
        </p:spPr>
      </p:sp>
      <p:sp>
        <p:nvSpPr>
          <p:cNvPr id="7" name="Text 4"/>
          <p:cNvSpPr txBox="1"/>
          <p:nvPr/>
        </p:nvSpPr>
        <p:spPr>
          <a:xfrm>
            <a:off x="457200" y="1051560"/>
            <a:ext cx="137160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Código</a:t>
            </a:r>
            <a:endParaRPr lang="en-US" sz="1100" dirty="0"/>
          </a:p>
        </p:txBody>
      </p:sp>
      <p:sp>
        <p:nvSpPr>
          <p:cNvPr id="8" name="Shape 5"/>
          <p:cNvSpPr/>
          <p:nvPr/>
        </p:nvSpPr>
        <p:spPr>
          <a:xfrm>
            <a:off x="7863840" y="1143000"/>
            <a:ext cx="3840480" cy="5257800"/>
          </a:xfrm>
          <a:prstGeom prst="rect">
            <a:avLst/>
          </a:prstGeom>
          <a:solidFill>
            <a:srgbClr val="F5F6F8"/>
          </a:solidFill>
          <a:ln/>
        </p:spPr>
      </p:sp>
      <p:sp>
        <p:nvSpPr>
          <p:cNvPr id="9" name="Text 6"/>
          <p:cNvSpPr txBox="1"/>
          <p:nvPr/>
        </p:nvSpPr>
        <p:spPr>
          <a:xfrm>
            <a:off x="8092440" y="1325880"/>
            <a:ext cx="3383280" cy="36576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¿Qué hace el código?</a:t>
            </a:r>
            <a:endParaRPr lang="en-US" sz="1400" dirty="0"/>
          </a:p>
        </p:txBody>
      </p:sp>
      <p:sp>
        <p:nvSpPr>
          <p:cNvPr id="10" name="Text 7"/>
          <p:cNvSpPr txBox="1"/>
          <p:nvPr/>
        </p:nvSpPr>
        <p:spPr>
          <a:xfrm>
            <a:off x="8092440" y="1737360"/>
            <a:ext cx="3383280" cy="4572000"/>
          </a:xfrm>
          <a:prstGeom prst="rect">
            <a:avLst/>
          </a:prstGeom>
          <a:noFill/>
          <a:ln/>
        </p:spPr>
        <p:txBody>
          <a:bodyPr wrap="square" rtlCol="0" anchor="t"/>
          <a:lstStyle/>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Implementa el algoritmo de aceptación-rechazo de von Neumann mediante un ciclo while.</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En cada intento genera dos valores uniformes u1 y u2; si se cumple u2 ≤ (1 - u1), u1 se acepta como valor válido.</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El ciclo se detiene al aceptar un valor o al llegar a 100 intentos, y reporta el valor aceptado junto con el número de intentos requeridos.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5F6F8"/>
          </a:solidFill>
          <a:ln/>
        </p:spPr>
      </p:sp>
      <p:sp>
        <p:nvSpPr>
          <p:cNvPr id="3" name="Text 1"/>
          <p:cNvSpPr txBox="1"/>
          <p:nvPr/>
        </p:nvSpPr>
        <p:spPr>
          <a:xfrm>
            <a:off x="548640" y="164592"/>
            <a:ext cx="11064240" cy="640080"/>
          </a:xfrm>
          <a:prstGeom prst="rect">
            <a:avLst/>
          </a:prstGeom>
          <a:noFill/>
          <a:ln/>
        </p:spPr>
        <p:txBody>
          <a:bodyPr wrap="square" rtlCol="0" anchor="ctr"/>
          <a:lstStyle/>
          <a:p>
            <a:pPr marL="0" indent="0">
              <a:buNone/>
            </a:pPr>
            <a:r>
              <a:rPr lang="en-US" sz="2400" b="1" dirty="0">
                <a:solidFill>
                  <a:srgbClr val="1F3864"/>
                </a:solidFill>
                <a:latin typeface="Calibri" pitchFamily="34" charset="0"/>
                <a:ea typeface="Calibri" pitchFamily="34" charset="-122"/>
                <a:cs typeface="Calibri" pitchFamily="34" charset="-120"/>
              </a:rPr>
              <a:t>R — Ejercicio 3.6 Pruebas Estadísticas</a:t>
            </a:r>
            <a:endParaRPr lang="en-US" sz="2400" dirty="0"/>
          </a:p>
        </p:txBody>
      </p:sp>
      <p:sp>
        <p:nvSpPr>
          <p:cNvPr id="4" name="Shape 2"/>
          <p:cNvSpPr/>
          <p:nvPr/>
        </p:nvSpPr>
        <p:spPr>
          <a:xfrm>
            <a:off x="402336" y="2966438"/>
            <a:ext cx="7333488" cy="1565205"/>
          </a:xfrm>
          <a:prstGeom prst="rect">
            <a:avLst/>
          </a:prstGeom>
          <a:solidFill>
            <a:srgbClr val="FFFFFF"/>
          </a:solidFill>
          <a:ln w="12700">
            <a:solidFill>
              <a:srgbClr val="D9D9D9"/>
            </a:solidFill>
            <a:prstDash val="solid"/>
          </a:ln>
        </p:spPr>
      </p:sp>
      <p:pic>
        <p:nvPicPr>
          <p:cNvPr id="5" name="Image 0" descr="/home/claude/report3_imgs/r_07_pruebas.png"/>
          <p:cNvPicPr>
            <a:picLocks noChangeAspect="1"/>
          </p:cNvPicPr>
          <p:nvPr/>
        </p:nvPicPr>
        <p:blipFill>
          <a:blip r:embed="rId3"/>
          <a:stretch>
            <a:fillRect/>
          </a:stretch>
        </p:blipFill>
        <p:spPr>
          <a:xfrm>
            <a:off x="457200" y="3021302"/>
            <a:ext cx="7223760" cy="1455477"/>
          </a:xfrm>
          <a:prstGeom prst="rect">
            <a:avLst/>
          </a:prstGeom>
        </p:spPr>
      </p:pic>
      <p:sp>
        <p:nvSpPr>
          <p:cNvPr id="6" name="Shape 3"/>
          <p:cNvSpPr/>
          <p:nvPr/>
        </p:nvSpPr>
        <p:spPr>
          <a:xfrm>
            <a:off x="457200" y="1051560"/>
            <a:ext cx="1371600" cy="274320"/>
          </a:xfrm>
          <a:prstGeom prst="roundRect">
            <a:avLst>
              <a:gd name="adj" fmla="val 20000"/>
            </a:avLst>
          </a:prstGeom>
          <a:solidFill>
            <a:srgbClr val="2E5395"/>
          </a:solidFill>
          <a:ln/>
        </p:spPr>
      </p:sp>
      <p:sp>
        <p:nvSpPr>
          <p:cNvPr id="7" name="Text 4"/>
          <p:cNvSpPr txBox="1"/>
          <p:nvPr/>
        </p:nvSpPr>
        <p:spPr>
          <a:xfrm>
            <a:off x="457200" y="1051560"/>
            <a:ext cx="137160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Código</a:t>
            </a:r>
            <a:endParaRPr lang="en-US" sz="1100" dirty="0"/>
          </a:p>
        </p:txBody>
      </p:sp>
      <p:sp>
        <p:nvSpPr>
          <p:cNvPr id="8" name="Shape 5"/>
          <p:cNvSpPr/>
          <p:nvPr/>
        </p:nvSpPr>
        <p:spPr>
          <a:xfrm>
            <a:off x="7863840" y="1143000"/>
            <a:ext cx="3840480" cy="5257800"/>
          </a:xfrm>
          <a:prstGeom prst="rect">
            <a:avLst/>
          </a:prstGeom>
          <a:solidFill>
            <a:srgbClr val="F5F6F8"/>
          </a:solidFill>
          <a:ln/>
        </p:spPr>
      </p:sp>
      <p:sp>
        <p:nvSpPr>
          <p:cNvPr id="9" name="Text 6"/>
          <p:cNvSpPr txBox="1"/>
          <p:nvPr/>
        </p:nvSpPr>
        <p:spPr>
          <a:xfrm>
            <a:off x="8092440" y="1325880"/>
            <a:ext cx="3383280" cy="36576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¿Qué hace el código?</a:t>
            </a:r>
            <a:endParaRPr lang="en-US" sz="1400" dirty="0"/>
          </a:p>
        </p:txBody>
      </p:sp>
      <p:sp>
        <p:nvSpPr>
          <p:cNvPr id="10" name="Text 7"/>
          <p:cNvSpPr txBox="1"/>
          <p:nvPr/>
        </p:nvSpPr>
        <p:spPr>
          <a:xfrm>
            <a:off x="8092440" y="1737360"/>
            <a:ext cx="3383280" cy="4572000"/>
          </a:xfrm>
          <a:prstGeom prst="rect">
            <a:avLst/>
          </a:prstGeom>
          <a:noFill/>
          <a:ln/>
        </p:spPr>
        <p:txBody>
          <a:bodyPr wrap="square" rtlCol="0" anchor="t"/>
          <a:lstStyle/>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Se simulan un estadístico Chi-cuadrada (entre 5 y 15) y un valor p (entre 0.01 y 0.99) con runif().</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estado &lt;- ifelse(p_val &gt; 0.05, "Aprobada", "Rechazada") aplica la regla de decisión típica de una prueba de hipótesis: si p &gt; 0.05 no se rechaza la uniformidad.</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Ejemplifica cómo se interpreta el resultado de una prueba de bondad de ajuste a partir de su p-value.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5F6F8"/>
          </a:solidFill>
          <a:ln/>
        </p:spPr>
      </p:sp>
      <p:sp>
        <p:nvSpPr>
          <p:cNvPr id="3" name="Text 1"/>
          <p:cNvSpPr txBox="1"/>
          <p:nvPr/>
        </p:nvSpPr>
        <p:spPr>
          <a:xfrm>
            <a:off x="548640" y="164592"/>
            <a:ext cx="11064240" cy="640080"/>
          </a:xfrm>
          <a:prstGeom prst="rect">
            <a:avLst/>
          </a:prstGeom>
          <a:noFill/>
          <a:ln/>
        </p:spPr>
        <p:txBody>
          <a:bodyPr wrap="square" rtlCol="0" anchor="ctr"/>
          <a:lstStyle/>
          <a:p>
            <a:pPr marL="0" indent="0">
              <a:buNone/>
            </a:pPr>
            <a:r>
              <a:rPr lang="en-US" sz="2400" b="1" dirty="0">
                <a:solidFill>
                  <a:srgbClr val="1F3864"/>
                </a:solidFill>
                <a:latin typeface="Calibri" pitchFamily="34" charset="0"/>
                <a:ea typeface="Calibri" pitchFamily="34" charset="-122"/>
                <a:cs typeface="Calibri" pitchFamily="34" charset="-120"/>
              </a:rPr>
              <a:t>R — Ejecución en RStudio (1/2)</a:t>
            </a:r>
            <a:endParaRPr lang="en-US" sz="2400" dirty="0"/>
          </a:p>
        </p:txBody>
      </p:sp>
      <p:sp>
        <p:nvSpPr>
          <p:cNvPr id="4" name="Shape 2"/>
          <p:cNvSpPr/>
          <p:nvPr/>
        </p:nvSpPr>
        <p:spPr>
          <a:xfrm>
            <a:off x="402336" y="1816744"/>
            <a:ext cx="7333488" cy="3864591"/>
          </a:xfrm>
          <a:prstGeom prst="rect">
            <a:avLst/>
          </a:prstGeom>
          <a:solidFill>
            <a:srgbClr val="FFFFFF"/>
          </a:solidFill>
          <a:ln w="12700">
            <a:solidFill>
              <a:srgbClr val="D9D9D9"/>
            </a:solidFill>
            <a:prstDash val="solid"/>
          </a:ln>
        </p:spPr>
      </p:sp>
      <p:pic>
        <p:nvPicPr>
          <p:cNvPr id="5" name="Image 0" descr="/home/claude/report3_imgs/r_08_ejecucion1.png"/>
          <p:cNvPicPr>
            <a:picLocks noChangeAspect="1"/>
          </p:cNvPicPr>
          <p:nvPr/>
        </p:nvPicPr>
        <p:blipFill>
          <a:blip r:embed="rId3"/>
          <a:stretch>
            <a:fillRect/>
          </a:stretch>
        </p:blipFill>
        <p:spPr>
          <a:xfrm>
            <a:off x="457200" y="1871608"/>
            <a:ext cx="7223760" cy="3754863"/>
          </a:xfrm>
          <a:prstGeom prst="rect">
            <a:avLst/>
          </a:prstGeom>
        </p:spPr>
      </p:pic>
      <p:sp>
        <p:nvSpPr>
          <p:cNvPr id="6" name="Shape 3"/>
          <p:cNvSpPr/>
          <p:nvPr/>
        </p:nvSpPr>
        <p:spPr>
          <a:xfrm>
            <a:off x="457200" y="1051560"/>
            <a:ext cx="1371600" cy="274320"/>
          </a:xfrm>
          <a:prstGeom prst="roundRect">
            <a:avLst>
              <a:gd name="adj" fmla="val 20000"/>
            </a:avLst>
          </a:prstGeom>
          <a:solidFill>
            <a:srgbClr val="2E7D32"/>
          </a:solidFill>
          <a:ln/>
        </p:spPr>
      </p:sp>
      <p:sp>
        <p:nvSpPr>
          <p:cNvPr id="7" name="Text 4"/>
          <p:cNvSpPr txBox="1"/>
          <p:nvPr/>
        </p:nvSpPr>
        <p:spPr>
          <a:xfrm>
            <a:off x="457200" y="1051560"/>
            <a:ext cx="137160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Ejecutado</a:t>
            </a:r>
            <a:endParaRPr lang="en-US" sz="1100" dirty="0"/>
          </a:p>
        </p:txBody>
      </p:sp>
      <p:sp>
        <p:nvSpPr>
          <p:cNvPr id="8" name="Shape 5"/>
          <p:cNvSpPr/>
          <p:nvPr/>
        </p:nvSpPr>
        <p:spPr>
          <a:xfrm>
            <a:off x="7863840" y="1143000"/>
            <a:ext cx="3840480" cy="5257800"/>
          </a:xfrm>
          <a:prstGeom prst="rect">
            <a:avLst/>
          </a:prstGeom>
          <a:solidFill>
            <a:srgbClr val="F5F6F8"/>
          </a:solidFill>
          <a:ln/>
        </p:spPr>
      </p:sp>
      <p:sp>
        <p:nvSpPr>
          <p:cNvPr id="9" name="Text 6"/>
          <p:cNvSpPr txBox="1"/>
          <p:nvPr/>
        </p:nvSpPr>
        <p:spPr>
          <a:xfrm>
            <a:off x="8092440" y="1325880"/>
            <a:ext cx="3383280" cy="36576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¿Qué muestra el resultado?</a:t>
            </a:r>
            <a:endParaRPr lang="en-US" sz="1400" dirty="0"/>
          </a:p>
        </p:txBody>
      </p:sp>
      <p:sp>
        <p:nvSpPr>
          <p:cNvPr id="10" name="Text 7"/>
          <p:cNvSpPr txBox="1"/>
          <p:nvPr/>
        </p:nvSpPr>
        <p:spPr>
          <a:xfrm>
            <a:off x="8092440" y="1737360"/>
            <a:ext cx="3383280" cy="4572000"/>
          </a:xfrm>
          <a:prstGeom prst="rect">
            <a:avLst/>
          </a:prstGeom>
          <a:noFill/>
          <a:ln/>
        </p:spPr>
        <p:txBody>
          <a:bodyPr wrap="square" rtlCol="0" anchor="t"/>
          <a:lstStyle/>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Consola de RStudio con set.seed(42), lo que garantiza resultados reproducibles en cada corrida.</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Variables discretas: muestra generada [7 7 3 6 5 4 5 2 5 5], con media muestral de 4.9 y varianza de 2.544.</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Variables continuas: se genera la muestra y se calcula su media muestral (0.5649), confirmando que los valores están dentro del comportamiento esperado.</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Al final inicia el bloque del método de la transformada inversa.</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5F6F8"/>
          </a:solidFill>
          <a:ln/>
        </p:spPr>
      </p:sp>
      <p:sp>
        <p:nvSpPr>
          <p:cNvPr id="3" name="Text 1"/>
          <p:cNvSpPr txBox="1"/>
          <p:nvPr/>
        </p:nvSpPr>
        <p:spPr>
          <a:xfrm>
            <a:off x="548640" y="164592"/>
            <a:ext cx="11064240" cy="640080"/>
          </a:xfrm>
          <a:prstGeom prst="rect">
            <a:avLst/>
          </a:prstGeom>
          <a:noFill/>
          <a:ln/>
        </p:spPr>
        <p:txBody>
          <a:bodyPr wrap="square" rtlCol="0" anchor="ctr"/>
          <a:lstStyle/>
          <a:p>
            <a:pPr marL="0" indent="0">
              <a:buNone/>
            </a:pPr>
            <a:r>
              <a:rPr lang="en-US" sz="2400" b="1" dirty="0">
                <a:solidFill>
                  <a:srgbClr val="1F3864"/>
                </a:solidFill>
                <a:latin typeface="Calibri" pitchFamily="34" charset="0"/>
                <a:ea typeface="Calibri" pitchFamily="34" charset="-122"/>
                <a:cs typeface="Calibri" pitchFamily="34" charset="-120"/>
              </a:rPr>
              <a:t>R — Ejecución en RStudio (2/2)</a:t>
            </a:r>
            <a:endParaRPr lang="en-US" sz="2400" dirty="0"/>
          </a:p>
        </p:txBody>
      </p:sp>
      <p:sp>
        <p:nvSpPr>
          <p:cNvPr id="4" name="Shape 2"/>
          <p:cNvSpPr/>
          <p:nvPr/>
        </p:nvSpPr>
        <p:spPr>
          <a:xfrm>
            <a:off x="402336" y="1604705"/>
            <a:ext cx="7333488" cy="4288670"/>
          </a:xfrm>
          <a:prstGeom prst="rect">
            <a:avLst/>
          </a:prstGeom>
          <a:solidFill>
            <a:srgbClr val="FFFFFF"/>
          </a:solidFill>
          <a:ln w="12700">
            <a:solidFill>
              <a:srgbClr val="D9D9D9"/>
            </a:solidFill>
            <a:prstDash val="solid"/>
          </a:ln>
        </p:spPr>
      </p:sp>
      <p:pic>
        <p:nvPicPr>
          <p:cNvPr id="5" name="Image 0" descr="/home/claude/report3_imgs/r_09_ejecucion2.png"/>
          <p:cNvPicPr>
            <a:picLocks noChangeAspect="1"/>
          </p:cNvPicPr>
          <p:nvPr/>
        </p:nvPicPr>
        <p:blipFill>
          <a:blip r:embed="rId3"/>
          <a:stretch>
            <a:fillRect/>
          </a:stretch>
        </p:blipFill>
        <p:spPr>
          <a:xfrm>
            <a:off x="457200" y="1659569"/>
            <a:ext cx="7223760" cy="4178942"/>
          </a:xfrm>
          <a:prstGeom prst="rect">
            <a:avLst/>
          </a:prstGeom>
        </p:spPr>
      </p:pic>
      <p:sp>
        <p:nvSpPr>
          <p:cNvPr id="6" name="Shape 3"/>
          <p:cNvSpPr/>
          <p:nvPr/>
        </p:nvSpPr>
        <p:spPr>
          <a:xfrm>
            <a:off x="457200" y="1051560"/>
            <a:ext cx="1371600" cy="274320"/>
          </a:xfrm>
          <a:prstGeom prst="roundRect">
            <a:avLst>
              <a:gd name="adj" fmla="val 20000"/>
            </a:avLst>
          </a:prstGeom>
          <a:solidFill>
            <a:srgbClr val="2E7D32"/>
          </a:solidFill>
          <a:ln/>
        </p:spPr>
      </p:sp>
      <p:sp>
        <p:nvSpPr>
          <p:cNvPr id="7" name="Text 4"/>
          <p:cNvSpPr txBox="1"/>
          <p:nvPr/>
        </p:nvSpPr>
        <p:spPr>
          <a:xfrm>
            <a:off x="457200" y="1051560"/>
            <a:ext cx="137160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Ejecutado</a:t>
            </a:r>
            <a:endParaRPr lang="en-US" sz="1100" dirty="0"/>
          </a:p>
        </p:txBody>
      </p:sp>
      <p:sp>
        <p:nvSpPr>
          <p:cNvPr id="8" name="Shape 5"/>
          <p:cNvSpPr/>
          <p:nvPr/>
        </p:nvSpPr>
        <p:spPr>
          <a:xfrm>
            <a:off x="7863840" y="1143000"/>
            <a:ext cx="3840480" cy="5257800"/>
          </a:xfrm>
          <a:prstGeom prst="rect">
            <a:avLst/>
          </a:prstGeom>
          <a:solidFill>
            <a:srgbClr val="F5F6F8"/>
          </a:solidFill>
          <a:ln/>
        </p:spPr>
      </p:sp>
      <p:sp>
        <p:nvSpPr>
          <p:cNvPr id="9" name="Text 6"/>
          <p:cNvSpPr txBox="1"/>
          <p:nvPr/>
        </p:nvSpPr>
        <p:spPr>
          <a:xfrm>
            <a:off x="8092440" y="1325880"/>
            <a:ext cx="3383280" cy="36576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¿Qué muestra el resultado?</a:t>
            </a:r>
            <a:endParaRPr lang="en-US" sz="1400" dirty="0"/>
          </a:p>
        </p:txBody>
      </p:sp>
      <p:sp>
        <p:nvSpPr>
          <p:cNvPr id="10" name="Text 7"/>
          <p:cNvSpPr txBox="1"/>
          <p:nvPr/>
        </p:nvSpPr>
        <p:spPr>
          <a:xfrm>
            <a:off x="8092440" y="1737360"/>
            <a:ext cx="3383280" cy="4572000"/>
          </a:xfrm>
          <a:prstGeom prst="rect">
            <a:avLst/>
          </a:prstGeom>
          <a:noFill/>
          <a:ln/>
        </p:spPr>
        <p:txBody>
          <a:bodyPr wrap="square" rtlCol="0" anchor="t"/>
          <a:lstStyle/>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Continúa la salida: en el método de composición se seleccionó la componente 2 (Uniforme, peso 40%) en esta corrida.</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En el procedimiento de aceptación-rechazo se aceptó el valor 0.127 tras 2 intentos, es decir, el algoritmo convergió rápidamente.</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En la prueba estadística el estadístico Chi-cuadrada fue 11.9035 y el resultado fue "Rechazada" (p-value: 0.0414), ya que el p-value obtenido fue menor a 0.05.</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5F6F8"/>
          </a:solidFill>
          <a:ln/>
        </p:spPr>
      </p:sp>
      <p:sp>
        <p:nvSpPr>
          <p:cNvPr id="3" name="Text 1"/>
          <p:cNvSpPr txBox="1"/>
          <p:nvPr/>
        </p:nvSpPr>
        <p:spPr>
          <a:xfrm>
            <a:off x="548640" y="164592"/>
            <a:ext cx="11064240" cy="640080"/>
          </a:xfrm>
          <a:prstGeom prst="rect">
            <a:avLst/>
          </a:prstGeom>
          <a:noFill/>
          <a:ln/>
        </p:spPr>
        <p:txBody>
          <a:bodyPr wrap="square" rtlCol="0" anchor="ctr"/>
          <a:lstStyle/>
          <a:p>
            <a:pPr marL="0" indent="0">
              <a:buNone/>
            </a:pPr>
            <a:r>
              <a:rPr lang="en-US" sz="2400" b="1" dirty="0">
                <a:solidFill>
                  <a:srgbClr val="1F3864"/>
                </a:solidFill>
                <a:latin typeface="Calibri" pitchFamily="34" charset="0"/>
                <a:ea typeface="Calibri" pitchFamily="34" charset="-122"/>
                <a:cs typeface="Calibri" pitchFamily="34" charset="-120"/>
              </a:rPr>
              <a:t>Python — Código (1/2)</a:t>
            </a:r>
            <a:endParaRPr lang="en-US" sz="2400" dirty="0"/>
          </a:p>
        </p:txBody>
      </p:sp>
      <p:sp>
        <p:nvSpPr>
          <p:cNvPr id="4" name="Shape 2"/>
          <p:cNvSpPr/>
          <p:nvPr/>
        </p:nvSpPr>
        <p:spPr>
          <a:xfrm>
            <a:off x="402336" y="1946614"/>
            <a:ext cx="7333488" cy="3604853"/>
          </a:xfrm>
          <a:prstGeom prst="rect">
            <a:avLst/>
          </a:prstGeom>
          <a:solidFill>
            <a:srgbClr val="FFFFFF"/>
          </a:solidFill>
          <a:ln w="12700">
            <a:solidFill>
              <a:srgbClr val="D9D9D9"/>
            </a:solidFill>
            <a:prstDash val="solid"/>
          </a:ln>
        </p:spPr>
      </p:sp>
      <p:pic>
        <p:nvPicPr>
          <p:cNvPr id="5" name="Image 0" descr="/home/claude/report3_imgs/py_01_codigo1.png"/>
          <p:cNvPicPr>
            <a:picLocks noChangeAspect="1"/>
          </p:cNvPicPr>
          <p:nvPr/>
        </p:nvPicPr>
        <p:blipFill>
          <a:blip r:embed="rId3"/>
          <a:stretch>
            <a:fillRect/>
          </a:stretch>
        </p:blipFill>
        <p:spPr>
          <a:xfrm>
            <a:off x="457200" y="2001478"/>
            <a:ext cx="7223760" cy="3495125"/>
          </a:xfrm>
          <a:prstGeom prst="rect">
            <a:avLst/>
          </a:prstGeom>
        </p:spPr>
      </p:pic>
      <p:sp>
        <p:nvSpPr>
          <p:cNvPr id="6" name="Shape 3"/>
          <p:cNvSpPr/>
          <p:nvPr/>
        </p:nvSpPr>
        <p:spPr>
          <a:xfrm>
            <a:off x="457200" y="1051560"/>
            <a:ext cx="1371600" cy="274320"/>
          </a:xfrm>
          <a:prstGeom prst="roundRect">
            <a:avLst>
              <a:gd name="adj" fmla="val 20000"/>
            </a:avLst>
          </a:prstGeom>
          <a:solidFill>
            <a:srgbClr val="2E5395"/>
          </a:solidFill>
          <a:ln/>
        </p:spPr>
      </p:sp>
      <p:sp>
        <p:nvSpPr>
          <p:cNvPr id="7" name="Text 4"/>
          <p:cNvSpPr txBox="1"/>
          <p:nvPr/>
        </p:nvSpPr>
        <p:spPr>
          <a:xfrm>
            <a:off x="457200" y="1051560"/>
            <a:ext cx="137160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Código</a:t>
            </a:r>
            <a:endParaRPr lang="en-US" sz="1100" dirty="0"/>
          </a:p>
        </p:txBody>
      </p:sp>
      <p:sp>
        <p:nvSpPr>
          <p:cNvPr id="8" name="Shape 5"/>
          <p:cNvSpPr/>
          <p:nvPr/>
        </p:nvSpPr>
        <p:spPr>
          <a:xfrm>
            <a:off x="7863840" y="1143000"/>
            <a:ext cx="3840480" cy="5257800"/>
          </a:xfrm>
          <a:prstGeom prst="rect">
            <a:avLst/>
          </a:prstGeom>
          <a:solidFill>
            <a:srgbClr val="F5F6F8"/>
          </a:solidFill>
          <a:ln/>
        </p:spPr>
      </p:sp>
      <p:sp>
        <p:nvSpPr>
          <p:cNvPr id="9" name="Text 6"/>
          <p:cNvSpPr txBox="1"/>
          <p:nvPr/>
        </p:nvSpPr>
        <p:spPr>
          <a:xfrm>
            <a:off x="8092440" y="1325880"/>
            <a:ext cx="3383280" cy="36576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¿Qué hace el código?</a:t>
            </a:r>
            <a:endParaRPr lang="en-US" sz="1400" dirty="0"/>
          </a:p>
        </p:txBody>
      </p:sp>
      <p:sp>
        <p:nvSpPr>
          <p:cNvPr id="10" name="Text 7"/>
          <p:cNvSpPr txBox="1"/>
          <p:nvPr/>
        </p:nvSpPr>
        <p:spPr>
          <a:xfrm>
            <a:off x="8092440" y="1737360"/>
            <a:ext cx="3383280" cy="4572000"/>
          </a:xfrm>
          <a:prstGeom prst="rect">
            <a:avLst/>
          </a:prstGeom>
          <a:noFill/>
          <a:ln/>
        </p:spPr>
        <p:txBody>
          <a:bodyPr wrap="square" rtlCol="0" anchor="t"/>
          <a:lstStyle/>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Importa las bibliotecas random y math, usadas para toda la generación de números aleatorios.</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3.2 Discretas: [random.randint(0,9) for _ in range(5)] genera 5 enteros aleatorios entre 0 y 9.</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3.3 Continuas: [round(random.random(), 4) for _ in range(5)] genera 5 valores uniformes en [0,1].</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3.4.1 Transformada inversa: u = random.random(); x_trans = -math.log(1-u)/lamb, con λ=2.0.</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3.4.2 Convolución (inicio): suma_u = sum(...) acumula 12 valores uniformes.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5F6F8"/>
          </a:solidFill>
          <a:ln/>
        </p:spPr>
      </p:sp>
      <p:sp>
        <p:nvSpPr>
          <p:cNvPr id="3" name="Text 1"/>
          <p:cNvSpPr txBox="1"/>
          <p:nvPr/>
        </p:nvSpPr>
        <p:spPr>
          <a:xfrm>
            <a:off x="548640" y="164592"/>
            <a:ext cx="11064240" cy="640080"/>
          </a:xfrm>
          <a:prstGeom prst="rect">
            <a:avLst/>
          </a:prstGeom>
          <a:noFill/>
          <a:ln/>
        </p:spPr>
        <p:txBody>
          <a:bodyPr wrap="square" rtlCol="0" anchor="ctr"/>
          <a:lstStyle/>
          <a:p>
            <a:pPr marL="0" indent="0">
              <a:buNone/>
            </a:pPr>
            <a:r>
              <a:rPr lang="en-US" sz="2400" b="1" dirty="0">
                <a:solidFill>
                  <a:srgbClr val="1F3864"/>
                </a:solidFill>
                <a:latin typeface="Calibri" pitchFamily="34" charset="0"/>
                <a:ea typeface="Calibri" pitchFamily="34" charset="-122"/>
                <a:cs typeface="Calibri" pitchFamily="34" charset="-120"/>
              </a:rPr>
              <a:t>Python — Código (2/2)</a:t>
            </a:r>
            <a:endParaRPr lang="en-US" sz="2400" dirty="0"/>
          </a:p>
        </p:txBody>
      </p:sp>
      <p:sp>
        <p:nvSpPr>
          <p:cNvPr id="4" name="Shape 2"/>
          <p:cNvSpPr/>
          <p:nvPr/>
        </p:nvSpPr>
        <p:spPr>
          <a:xfrm>
            <a:off x="402336" y="1908951"/>
            <a:ext cx="7333488" cy="3680179"/>
          </a:xfrm>
          <a:prstGeom prst="rect">
            <a:avLst/>
          </a:prstGeom>
          <a:solidFill>
            <a:srgbClr val="FFFFFF"/>
          </a:solidFill>
          <a:ln w="12700">
            <a:solidFill>
              <a:srgbClr val="D9D9D9"/>
            </a:solidFill>
            <a:prstDash val="solid"/>
          </a:ln>
        </p:spPr>
      </p:sp>
      <p:pic>
        <p:nvPicPr>
          <p:cNvPr id="5" name="Image 0" descr="/home/claude/report3_imgs/py_02_codigo2.png"/>
          <p:cNvPicPr>
            <a:picLocks noChangeAspect="1"/>
          </p:cNvPicPr>
          <p:nvPr/>
        </p:nvPicPr>
        <p:blipFill>
          <a:blip r:embed="rId3"/>
          <a:stretch>
            <a:fillRect/>
          </a:stretch>
        </p:blipFill>
        <p:spPr>
          <a:xfrm>
            <a:off x="457200" y="1963815"/>
            <a:ext cx="7223760" cy="3570451"/>
          </a:xfrm>
          <a:prstGeom prst="rect">
            <a:avLst/>
          </a:prstGeom>
        </p:spPr>
      </p:pic>
      <p:sp>
        <p:nvSpPr>
          <p:cNvPr id="6" name="Shape 3"/>
          <p:cNvSpPr/>
          <p:nvPr/>
        </p:nvSpPr>
        <p:spPr>
          <a:xfrm>
            <a:off x="457200" y="1051560"/>
            <a:ext cx="1371600" cy="274320"/>
          </a:xfrm>
          <a:prstGeom prst="roundRect">
            <a:avLst>
              <a:gd name="adj" fmla="val 20000"/>
            </a:avLst>
          </a:prstGeom>
          <a:solidFill>
            <a:srgbClr val="2E5395"/>
          </a:solidFill>
          <a:ln/>
        </p:spPr>
      </p:sp>
      <p:sp>
        <p:nvSpPr>
          <p:cNvPr id="7" name="Text 4"/>
          <p:cNvSpPr txBox="1"/>
          <p:nvPr/>
        </p:nvSpPr>
        <p:spPr>
          <a:xfrm>
            <a:off x="457200" y="1051560"/>
            <a:ext cx="137160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Código</a:t>
            </a:r>
            <a:endParaRPr lang="en-US" sz="1100" dirty="0"/>
          </a:p>
        </p:txBody>
      </p:sp>
      <p:sp>
        <p:nvSpPr>
          <p:cNvPr id="8" name="Shape 5"/>
          <p:cNvSpPr/>
          <p:nvPr/>
        </p:nvSpPr>
        <p:spPr>
          <a:xfrm>
            <a:off x="7863840" y="1143000"/>
            <a:ext cx="3840480" cy="5257800"/>
          </a:xfrm>
          <a:prstGeom prst="rect">
            <a:avLst/>
          </a:prstGeom>
          <a:solidFill>
            <a:srgbClr val="F5F6F8"/>
          </a:solidFill>
          <a:ln/>
        </p:spPr>
      </p:sp>
      <p:sp>
        <p:nvSpPr>
          <p:cNvPr id="9" name="Text 6"/>
          <p:cNvSpPr txBox="1"/>
          <p:nvPr/>
        </p:nvSpPr>
        <p:spPr>
          <a:xfrm>
            <a:off x="8092440" y="1325880"/>
            <a:ext cx="3383280" cy="36576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¿Qué hace el código?</a:t>
            </a:r>
            <a:endParaRPr lang="en-US" sz="1400" dirty="0"/>
          </a:p>
        </p:txBody>
      </p:sp>
      <p:sp>
        <p:nvSpPr>
          <p:cNvPr id="10" name="Text 7"/>
          <p:cNvSpPr txBox="1"/>
          <p:nvPr/>
        </p:nvSpPr>
        <p:spPr>
          <a:xfrm>
            <a:off x="8092440" y="1737360"/>
            <a:ext cx="3383280" cy="4572000"/>
          </a:xfrm>
          <a:prstGeom prst="rect">
            <a:avLst/>
          </a:prstGeom>
          <a:noFill/>
          <a:ln/>
        </p:spPr>
        <p:txBody>
          <a:bodyPr wrap="square" rtlCol="0" anchor="t"/>
          <a:lstStyle/>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3.4.2 Convolución: z_normal = suma_u - 6 aproxima una variable normal estándar (Teorema del Límite Central).</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3.4.3 Composición: si comp &lt; 0.6 se elige la componente Exponencial (60%); si no, la Uniforme (40%).</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3.5 Procedimientos especiales: ciclo while que genera u1 y u2 hasta que u2 ≤ (1-u1) o se llega a 100 intentos (aceptación-rechazo).</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3.6 Pruebas estadísticas: chi_est y p_val se simulan con random.uniform(); resultado = "Aprobada" si p_val &gt; 0.05, si no "Rechazada".</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5F6F8"/>
          </a:solidFill>
          <a:ln/>
        </p:spPr>
      </p:sp>
      <p:sp>
        <p:nvSpPr>
          <p:cNvPr id="3" name="Text 1"/>
          <p:cNvSpPr txBox="1"/>
          <p:nvPr/>
        </p:nvSpPr>
        <p:spPr>
          <a:xfrm>
            <a:off x="548640" y="164592"/>
            <a:ext cx="11064240" cy="640080"/>
          </a:xfrm>
          <a:prstGeom prst="rect">
            <a:avLst/>
          </a:prstGeom>
          <a:noFill/>
          <a:ln/>
        </p:spPr>
        <p:txBody>
          <a:bodyPr wrap="square" rtlCol="0" anchor="ctr"/>
          <a:lstStyle/>
          <a:p>
            <a:pPr marL="0" indent="0">
              <a:buNone/>
            </a:pPr>
            <a:r>
              <a:rPr lang="en-US" sz="2400" b="1" dirty="0">
                <a:solidFill>
                  <a:srgbClr val="1F3864"/>
                </a:solidFill>
                <a:latin typeface="Calibri" pitchFamily="34" charset="0"/>
                <a:ea typeface="Calibri" pitchFamily="34" charset="-122"/>
                <a:cs typeface="Calibri" pitchFamily="34" charset="-120"/>
              </a:rPr>
              <a:t>Python — Ejecución en VS Code</a:t>
            </a:r>
            <a:endParaRPr lang="en-US" sz="2400" dirty="0"/>
          </a:p>
        </p:txBody>
      </p:sp>
      <p:sp>
        <p:nvSpPr>
          <p:cNvPr id="4" name="Shape 2"/>
          <p:cNvSpPr/>
          <p:nvPr/>
        </p:nvSpPr>
        <p:spPr>
          <a:xfrm>
            <a:off x="402336" y="1799728"/>
            <a:ext cx="7333488" cy="3898624"/>
          </a:xfrm>
          <a:prstGeom prst="rect">
            <a:avLst/>
          </a:prstGeom>
          <a:solidFill>
            <a:srgbClr val="FFFFFF"/>
          </a:solidFill>
          <a:ln w="12700">
            <a:solidFill>
              <a:srgbClr val="D9D9D9"/>
            </a:solidFill>
            <a:prstDash val="solid"/>
          </a:ln>
        </p:spPr>
      </p:sp>
      <p:pic>
        <p:nvPicPr>
          <p:cNvPr id="5" name="Image 0" descr="/home/claude/report3_imgs/py_03_ejecucion.png"/>
          <p:cNvPicPr>
            <a:picLocks noChangeAspect="1"/>
          </p:cNvPicPr>
          <p:nvPr/>
        </p:nvPicPr>
        <p:blipFill>
          <a:blip r:embed="rId3"/>
          <a:stretch>
            <a:fillRect/>
          </a:stretch>
        </p:blipFill>
        <p:spPr>
          <a:xfrm>
            <a:off x="457200" y="1854592"/>
            <a:ext cx="7223760" cy="3788896"/>
          </a:xfrm>
          <a:prstGeom prst="rect">
            <a:avLst/>
          </a:prstGeom>
        </p:spPr>
      </p:pic>
      <p:sp>
        <p:nvSpPr>
          <p:cNvPr id="6" name="Shape 3"/>
          <p:cNvSpPr/>
          <p:nvPr/>
        </p:nvSpPr>
        <p:spPr>
          <a:xfrm>
            <a:off x="457200" y="1051560"/>
            <a:ext cx="1371600" cy="274320"/>
          </a:xfrm>
          <a:prstGeom prst="roundRect">
            <a:avLst>
              <a:gd name="adj" fmla="val 20000"/>
            </a:avLst>
          </a:prstGeom>
          <a:solidFill>
            <a:srgbClr val="2E7D32"/>
          </a:solidFill>
          <a:ln/>
        </p:spPr>
      </p:sp>
      <p:sp>
        <p:nvSpPr>
          <p:cNvPr id="7" name="Text 4"/>
          <p:cNvSpPr txBox="1"/>
          <p:nvPr/>
        </p:nvSpPr>
        <p:spPr>
          <a:xfrm>
            <a:off x="457200" y="1051560"/>
            <a:ext cx="137160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Ejecutado</a:t>
            </a:r>
            <a:endParaRPr lang="en-US" sz="1100" dirty="0"/>
          </a:p>
        </p:txBody>
      </p:sp>
      <p:sp>
        <p:nvSpPr>
          <p:cNvPr id="8" name="Shape 5"/>
          <p:cNvSpPr/>
          <p:nvPr/>
        </p:nvSpPr>
        <p:spPr>
          <a:xfrm>
            <a:off x="7863840" y="1143000"/>
            <a:ext cx="3840480" cy="5257800"/>
          </a:xfrm>
          <a:prstGeom prst="rect">
            <a:avLst/>
          </a:prstGeom>
          <a:solidFill>
            <a:srgbClr val="F5F6F8"/>
          </a:solidFill>
          <a:ln/>
        </p:spPr>
      </p:sp>
      <p:sp>
        <p:nvSpPr>
          <p:cNvPr id="9" name="Text 6"/>
          <p:cNvSpPr txBox="1"/>
          <p:nvPr/>
        </p:nvSpPr>
        <p:spPr>
          <a:xfrm>
            <a:off x="8092440" y="1325880"/>
            <a:ext cx="3383280" cy="36576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¿Qué muestra el resultado?</a:t>
            </a:r>
            <a:endParaRPr lang="en-US" sz="1400" dirty="0"/>
          </a:p>
        </p:txBody>
      </p:sp>
      <p:sp>
        <p:nvSpPr>
          <p:cNvPr id="10" name="Text 7"/>
          <p:cNvSpPr txBox="1"/>
          <p:nvPr/>
        </p:nvSpPr>
        <p:spPr>
          <a:xfrm>
            <a:off x="8092440" y="1737360"/>
            <a:ext cx="3383280" cy="4572000"/>
          </a:xfrm>
          <a:prstGeom prst="rect">
            <a:avLst/>
          </a:prstGeom>
          <a:noFill/>
          <a:ln/>
        </p:spPr>
        <p:txBody>
          <a:bodyPr wrap="square" rtlCol="0" anchor="t"/>
          <a:lstStyle/>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Terminal integrada de VS Code mostrando la salida real del script simulacion.py.</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Continuas: muestra generada [0.267, 0.1209, 0.1044, 0.5643, 0.3313].</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Transformada inversa: U base 0.2996 → X transformado 0.1781.</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Convolución: Z generado (Normal) = 1.9309.</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Composición: se seleccionó la componente 1 (Exponencial, 60%).</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Aceptación-Rechazo: valor aceptado 0.3408 en 2 intentos.</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Pruebas estadísticas: Chi-Cuadrada 7.36, resultado "Aprobada" (p-value: 0.2048), ya que el p-value superó 0.05.</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5F6F8"/>
          </a:solidFill>
          <a:ln/>
        </p:spPr>
      </p:sp>
      <p:sp>
        <p:nvSpPr>
          <p:cNvPr id="3" name="Text 1"/>
          <p:cNvSpPr txBox="1"/>
          <p:nvPr/>
        </p:nvSpPr>
        <p:spPr>
          <a:xfrm>
            <a:off x="548640" y="164592"/>
            <a:ext cx="11064240" cy="640080"/>
          </a:xfrm>
          <a:prstGeom prst="rect">
            <a:avLst/>
          </a:prstGeom>
          <a:noFill/>
          <a:ln/>
        </p:spPr>
        <p:txBody>
          <a:bodyPr wrap="square" rtlCol="0" anchor="ctr"/>
          <a:lstStyle/>
          <a:p>
            <a:pPr marL="0" indent="0">
              <a:buNone/>
            </a:pPr>
            <a:r>
              <a:rPr lang="en-US" sz="2400" b="1" dirty="0">
                <a:solidFill>
                  <a:srgbClr val="1F3864"/>
                </a:solidFill>
                <a:latin typeface="Calibri" pitchFamily="34" charset="0"/>
                <a:ea typeface="Calibri" pitchFamily="34" charset="-122"/>
                <a:cs typeface="Calibri" pitchFamily="34" charset="-120"/>
              </a:rPr>
              <a:t>Java — Código (1/3)</a:t>
            </a:r>
            <a:endParaRPr lang="en-US" sz="2400" dirty="0"/>
          </a:p>
        </p:txBody>
      </p:sp>
      <p:sp>
        <p:nvSpPr>
          <p:cNvPr id="4" name="Shape 2"/>
          <p:cNvSpPr/>
          <p:nvPr/>
        </p:nvSpPr>
        <p:spPr>
          <a:xfrm>
            <a:off x="402336" y="2050187"/>
            <a:ext cx="7333488" cy="3397706"/>
          </a:xfrm>
          <a:prstGeom prst="rect">
            <a:avLst/>
          </a:prstGeom>
          <a:solidFill>
            <a:srgbClr val="FFFFFF"/>
          </a:solidFill>
          <a:ln w="12700">
            <a:solidFill>
              <a:srgbClr val="D9D9D9"/>
            </a:solidFill>
            <a:prstDash val="solid"/>
          </a:ln>
        </p:spPr>
      </p:sp>
      <p:pic>
        <p:nvPicPr>
          <p:cNvPr id="5" name="Image 0" descr="/home/claude/report3_imgs/java_01_codigo1.png"/>
          <p:cNvPicPr>
            <a:picLocks noChangeAspect="1"/>
          </p:cNvPicPr>
          <p:nvPr/>
        </p:nvPicPr>
        <p:blipFill>
          <a:blip r:embed="rId3"/>
          <a:stretch>
            <a:fillRect/>
          </a:stretch>
        </p:blipFill>
        <p:spPr>
          <a:xfrm>
            <a:off x="457200" y="2105051"/>
            <a:ext cx="7223760" cy="3287978"/>
          </a:xfrm>
          <a:prstGeom prst="rect">
            <a:avLst/>
          </a:prstGeom>
        </p:spPr>
      </p:pic>
      <p:sp>
        <p:nvSpPr>
          <p:cNvPr id="6" name="Shape 3"/>
          <p:cNvSpPr/>
          <p:nvPr/>
        </p:nvSpPr>
        <p:spPr>
          <a:xfrm>
            <a:off x="457200" y="1051560"/>
            <a:ext cx="1371600" cy="274320"/>
          </a:xfrm>
          <a:prstGeom prst="roundRect">
            <a:avLst>
              <a:gd name="adj" fmla="val 20000"/>
            </a:avLst>
          </a:prstGeom>
          <a:solidFill>
            <a:srgbClr val="2E5395"/>
          </a:solidFill>
          <a:ln/>
        </p:spPr>
      </p:sp>
      <p:sp>
        <p:nvSpPr>
          <p:cNvPr id="7" name="Text 4"/>
          <p:cNvSpPr txBox="1"/>
          <p:nvPr/>
        </p:nvSpPr>
        <p:spPr>
          <a:xfrm>
            <a:off x="457200" y="1051560"/>
            <a:ext cx="137160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Código</a:t>
            </a:r>
            <a:endParaRPr lang="en-US" sz="1100" dirty="0"/>
          </a:p>
        </p:txBody>
      </p:sp>
      <p:sp>
        <p:nvSpPr>
          <p:cNvPr id="8" name="Shape 5"/>
          <p:cNvSpPr/>
          <p:nvPr/>
        </p:nvSpPr>
        <p:spPr>
          <a:xfrm>
            <a:off x="7863840" y="1143000"/>
            <a:ext cx="3840480" cy="5257800"/>
          </a:xfrm>
          <a:prstGeom prst="rect">
            <a:avLst/>
          </a:prstGeom>
          <a:solidFill>
            <a:srgbClr val="F5F6F8"/>
          </a:solidFill>
          <a:ln/>
        </p:spPr>
      </p:sp>
      <p:sp>
        <p:nvSpPr>
          <p:cNvPr id="9" name="Text 6"/>
          <p:cNvSpPr txBox="1"/>
          <p:nvPr/>
        </p:nvSpPr>
        <p:spPr>
          <a:xfrm>
            <a:off x="8092440" y="1325880"/>
            <a:ext cx="3383280" cy="36576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¿Qué hace el código?</a:t>
            </a:r>
            <a:endParaRPr lang="en-US" sz="1400" dirty="0"/>
          </a:p>
        </p:txBody>
      </p:sp>
      <p:sp>
        <p:nvSpPr>
          <p:cNvPr id="10" name="Text 7"/>
          <p:cNvSpPr txBox="1"/>
          <p:nvPr/>
        </p:nvSpPr>
        <p:spPr>
          <a:xfrm>
            <a:off x="8092440" y="1737360"/>
            <a:ext cx="3383280" cy="4572000"/>
          </a:xfrm>
          <a:prstGeom prst="rect">
            <a:avLst/>
          </a:prstGeom>
          <a:noFill/>
          <a:ln/>
        </p:spPr>
        <p:txBody>
          <a:bodyPr wrap="square" rtlCol="0" anchor="t"/>
          <a:lstStyle/>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Clase SimulacionCompleta con su método main y un objeto Random para generar todos los valores aleatorios.</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3.2 Discretas: un arreglo int[5] se llena con random.nextInt(10), generando enteros entre 0 y 9.</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3.3 Continuas: en un ciclo de 5 iteraciones se generan valores con random.nextDouble(), en el rango [0,1), impresos con formato %.4f.</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5F6F8"/>
          </a:solidFill>
          <a:ln/>
        </p:spPr>
      </p:sp>
      <p:sp>
        <p:nvSpPr>
          <p:cNvPr id="3" name="Text 1"/>
          <p:cNvSpPr txBox="1"/>
          <p:nvPr/>
        </p:nvSpPr>
        <p:spPr>
          <a:xfrm>
            <a:off x="548640" y="164592"/>
            <a:ext cx="11064240" cy="640080"/>
          </a:xfrm>
          <a:prstGeom prst="rect">
            <a:avLst/>
          </a:prstGeom>
          <a:noFill/>
          <a:ln/>
        </p:spPr>
        <p:txBody>
          <a:bodyPr wrap="square" rtlCol="0" anchor="ctr"/>
          <a:lstStyle/>
          <a:p>
            <a:pPr marL="0" indent="0">
              <a:buNone/>
            </a:pPr>
            <a:r>
              <a:rPr lang="en-US" sz="2400" b="1" dirty="0">
                <a:solidFill>
                  <a:srgbClr val="1F3864"/>
                </a:solidFill>
                <a:latin typeface="Calibri" pitchFamily="34" charset="0"/>
                <a:ea typeface="Calibri" pitchFamily="34" charset="-122"/>
                <a:cs typeface="Calibri" pitchFamily="34" charset="-120"/>
              </a:rPr>
              <a:t>Java — Código (2/3)</a:t>
            </a:r>
            <a:endParaRPr lang="en-US" sz="2400" dirty="0"/>
          </a:p>
        </p:txBody>
      </p:sp>
      <p:sp>
        <p:nvSpPr>
          <p:cNvPr id="4" name="Shape 2"/>
          <p:cNvSpPr/>
          <p:nvPr/>
        </p:nvSpPr>
        <p:spPr>
          <a:xfrm>
            <a:off x="402336" y="2155643"/>
            <a:ext cx="7333488" cy="3186794"/>
          </a:xfrm>
          <a:prstGeom prst="rect">
            <a:avLst/>
          </a:prstGeom>
          <a:solidFill>
            <a:srgbClr val="FFFFFF"/>
          </a:solidFill>
          <a:ln w="12700">
            <a:solidFill>
              <a:srgbClr val="D9D9D9"/>
            </a:solidFill>
            <a:prstDash val="solid"/>
          </a:ln>
        </p:spPr>
      </p:sp>
      <p:pic>
        <p:nvPicPr>
          <p:cNvPr id="5" name="Image 0" descr="/home/claude/report3_imgs/java_02_codigo2.png"/>
          <p:cNvPicPr>
            <a:picLocks noChangeAspect="1"/>
          </p:cNvPicPr>
          <p:nvPr/>
        </p:nvPicPr>
        <p:blipFill>
          <a:blip r:embed="rId3"/>
          <a:stretch>
            <a:fillRect/>
          </a:stretch>
        </p:blipFill>
        <p:spPr>
          <a:xfrm>
            <a:off x="457200" y="2210507"/>
            <a:ext cx="7223760" cy="3077066"/>
          </a:xfrm>
          <a:prstGeom prst="rect">
            <a:avLst/>
          </a:prstGeom>
        </p:spPr>
      </p:pic>
      <p:sp>
        <p:nvSpPr>
          <p:cNvPr id="6" name="Shape 3"/>
          <p:cNvSpPr/>
          <p:nvPr/>
        </p:nvSpPr>
        <p:spPr>
          <a:xfrm>
            <a:off x="457200" y="1051560"/>
            <a:ext cx="1371600" cy="274320"/>
          </a:xfrm>
          <a:prstGeom prst="roundRect">
            <a:avLst>
              <a:gd name="adj" fmla="val 20000"/>
            </a:avLst>
          </a:prstGeom>
          <a:solidFill>
            <a:srgbClr val="2E5395"/>
          </a:solidFill>
          <a:ln/>
        </p:spPr>
      </p:sp>
      <p:sp>
        <p:nvSpPr>
          <p:cNvPr id="7" name="Text 4"/>
          <p:cNvSpPr txBox="1"/>
          <p:nvPr/>
        </p:nvSpPr>
        <p:spPr>
          <a:xfrm>
            <a:off x="457200" y="1051560"/>
            <a:ext cx="137160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Código</a:t>
            </a:r>
            <a:endParaRPr lang="en-US" sz="1100" dirty="0"/>
          </a:p>
        </p:txBody>
      </p:sp>
      <p:sp>
        <p:nvSpPr>
          <p:cNvPr id="8" name="Shape 5"/>
          <p:cNvSpPr/>
          <p:nvPr/>
        </p:nvSpPr>
        <p:spPr>
          <a:xfrm>
            <a:off x="7863840" y="1143000"/>
            <a:ext cx="3840480" cy="5257800"/>
          </a:xfrm>
          <a:prstGeom prst="rect">
            <a:avLst/>
          </a:prstGeom>
          <a:solidFill>
            <a:srgbClr val="F5F6F8"/>
          </a:solidFill>
          <a:ln/>
        </p:spPr>
      </p:sp>
      <p:sp>
        <p:nvSpPr>
          <p:cNvPr id="9" name="Text 6"/>
          <p:cNvSpPr txBox="1"/>
          <p:nvPr/>
        </p:nvSpPr>
        <p:spPr>
          <a:xfrm>
            <a:off x="8092440" y="1325880"/>
            <a:ext cx="3383280" cy="36576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¿Qué hace el código?</a:t>
            </a:r>
            <a:endParaRPr lang="en-US" sz="1400" dirty="0"/>
          </a:p>
        </p:txBody>
      </p:sp>
      <p:sp>
        <p:nvSpPr>
          <p:cNvPr id="10" name="Text 7"/>
          <p:cNvSpPr txBox="1"/>
          <p:nvPr/>
        </p:nvSpPr>
        <p:spPr>
          <a:xfrm>
            <a:off x="8092440" y="1737360"/>
            <a:ext cx="3383280" cy="4572000"/>
          </a:xfrm>
          <a:prstGeom prst="rect">
            <a:avLst/>
          </a:prstGeom>
          <a:noFill/>
          <a:ln/>
        </p:spPr>
        <p:txBody>
          <a:bodyPr wrap="square" rtlCol="0" anchor="t"/>
          <a:lstStyle/>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3.4.1 Transformada inversa: xTrans = -Math.log(1-u) / lambda, con λ=2.0, aplicando la fórmula inversa de la exponencial.</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3.4.2 Convolución: se suman 12 valores de random.nextDouble() y se resta 6 (sumaU - 6) para aproximar una Normal Estándar.</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3.4.3 Composición: si componente &lt; 0.6 se informa que se seleccionó la componente 1 (Exponencial, 60%); en caso contrario la componente 2 (Uniforme, 40%).</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5F6F8"/>
          </a:solidFill>
          <a:ln/>
        </p:spPr>
      </p:sp>
      <p:sp>
        <p:nvSpPr>
          <p:cNvPr id="3" name="Text 1"/>
          <p:cNvSpPr txBox="1"/>
          <p:nvPr/>
        </p:nvSpPr>
        <p:spPr>
          <a:xfrm>
            <a:off x="548640" y="164592"/>
            <a:ext cx="11064240" cy="640080"/>
          </a:xfrm>
          <a:prstGeom prst="rect">
            <a:avLst/>
          </a:prstGeom>
          <a:noFill/>
          <a:ln/>
        </p:spPr>
        <p:txBody>
          <a:bodyPr wrap="square" rtlCol="0" anchor="ctr"/>
          <a:lstStyle/>
          <a:p>
            <a:pPr marL="0" indent="0">
              <a:buNone/>
            </a:pPr>
            <a:r>
              <a:rPr lang="en-US" sz="2400" b="1" dirty="0">
                <a:solidFill>
                  <a:srgbClr val="1F3864"/>
                </a:solidFill>
                <a:latin typeface="Calibri" pitchFamily="34" charset="0"/>
                <a:ea typeface="Calibri" pitchFamily="34" charset="-122"/>
                <a:cs typeface="Calibri" pitchFamily="34" charset="-120"/>
              </a:rPr>
              <a:t>Java — Código (3/3)</a:t>
            </a:r>
            <a:endParaRPr lang="en-US" sz="2400" dirty="0"/>
          </a:p>
        </p:txBody>
      </p:sp>
      <p:sp>
        <p:nvSpPr>
          <p:cNvPr id="4" name="Shape 2"/>
          <p:cNvSpPr/>
          <p:nvPr/>
        </p:nvSpPr>
        <p:spPr>
          <a:xfrm>
            <a:off x="402336" y="2082200"/>
            <a:ext cx="7333488" cy="3333679"/>
          </a:xfrm>
          <a:prstGeom prst="rect">
            <a:avLst/>
          </a:prstGeom>
          <a:solidFill>
            <a:srgbClr val="FFFFFF"/>
          </a:solidFill>
          <a:ln w="12700">
            <a:solidFill>
              <a:srgbClr val="D9D9D9"/>
            </a:solidFill>
            <a:prstDash val="solid"/>
          </a:ln>
        </p:spPr>
      </p:sp>
      <p:pic>
        <p:nvPicPr>
          <p:cNvPr id="5" name="Image 0" descr="/home/claude/report3_imgs/java_03_codigo3.png"/>
          <p:cNvPicPr>
            <a:picLocks noChangeAspect="1"/>
          </p:cNvPicPr>
          <p:nvPr/>
        </p:nvPicPr>
        <p:blipFill>
          <a:blip r:embed="rId3"/>
          <a:stretch>
            <a:fillRect/>
          </a:stretch>
        </p:blipFill>
        <p:spPr>
          <a:xfrm>
            <a:off x="457200" y="2137064"/>
            <a:ext cx="7223760" cy="3223951"/>
          </a:xfrm>
          <a:prstGeom prst="rect">
            <a:avLst/>
          </a:prstGeom>
        </p:spPr>
      </p:pic>
      <p:sp>
        <p:nvSpPr>
          <p:cNvPr id="6" name="Shape 3"/>
          <p:cNvSpPr/>
          <p:nvPr/>
        </p:nvSpPr>
        <p:spPr>
          <a:xfrm>
            <a:off x="457200" y="1051560"/>
            <a:ext cx="1371600" cy="274320"/>
          </a:xfrm>
          <a:prstGeom prst="roundRect">
            <a:avLst>
              <a:gd name="adj" fmla="val 20000"/>
            </a:avLst>
          </a:prstGeom>
          <a:solidFill>
            <a:srgbClr val="2E5395"/>
          </a:solidFill>
          <a:ln/>
        </p:spPr>
      </p:sp>
      <p:sp>
        <p:nvSpPr>
          <p:cNvPr id="7" name="Text 4"/>
          <p:cNvSpPr txBox="1"/>
          <p:nvPr/>
        </p:nvSpPr>
        <p:spPr>
          <a:xfrm>
            <a:off x="457200" y="1051560"/>
            <a:ext cx="137160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Código</a:t>
            </a:r>
            <a:endParaRPr lang="en-US" sz="1100" dirty="0"/>
          </a:p>
        </p:txBody>
      </p:sp>
      <p:sp>
        <p:nvSpPr>
          <p:cNvPr id="8" name="Shape 5"/>
          <p:cNvSpPr/>
          <p:nvPr/>
        </p:nvSpPr>
        <p:spPr>
          <a:xfrm>
            <a:off x="7863840" y="1143000"/>
            <a:ext cx="3840480" cy="5257800"/>
          </a:xfrm>
          <a:prstGeom prst="rect">
            <a:avLst/>
          </a:prstGeom>
          <a:solidFill>
            <a:srgbClr val="F5F6F8"/>
          </a:solidFill>
          <a:ln/>
        </p:spPr>
      </p:sp>
      <p:sp>
        <p:nvSpPr>
          <p:cNvPr id="9" name="Text 6"/>
          <p:cNvSpPr txBox="1"/>
          <p:nvPr/>
        </p:nvSpPr>
        <p:spPr>
          <a:xfrm>
            <a:off x="8092440" y="1325880"/>
            <a:ext cx="3383280" cy="36576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¿Qué hace el código?</a:t>
            </a:r>
            <a:endParaRPr lang="en-US" sz="1400" dirty="0"/>
          </a:p>
        </p:txBody>
      </p:sp>
      <p:sp>
        <p:nvSpPr>
          <p:cNvPr id="10" name="Text 7"/>
          <p:cNvSpPr txBox="1"/>
          <p:nvPr/>
        </p:nvSpPr>
        <p:spPr>
          <a:xfrm>
            <a:off x="8092440" y="1737360"/>
            <a:ext cx="3383280" cy="4572000"/>
          </a:xfrm>
          <a:prstGeom prst="rect">
            <a:avLst/>
          </a:prstGeom>
          <a:noFill/>
          <a:ln/>
        </p:spPr>
        <p:txBody>
          <a:bodyPr wrap="square" rtlCol="0" anchor="t"/>
          <a:lstStyle/>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3.5 Procedimientos especiales: ciclo while (aceptación-rechazo) que genera u1 y u2 hasta que u2 ≤ (1-u1) o se alcanzan 100 intentos; imprime el valor aceptado y el número de intentos.</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3.6 Pruebas estadísticas: chiEstadistico se calcula en el rango [5,15] y pValue en el rango [0.01, 0.99] a partir de random.nextDouble().</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El operador ternario (pValue &gt; 0.05 ? "Aprobada" : "Rechazada") determina el resultado final de la prueba de bondad de ajuste.</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5F6F8"/>
          </a:solidFill>
          <a:ln/>
        </p:spPr>
      </p:sp>
      <p:sp>
        <p:nvSpPr>
          <p:cNvPr id="3" name="Text 1"/>
          <p:cNvSpPr txBox="1"/>
          <p:nvPr/>
        </p:nvSpPr>
        <p:spPr>
          <a:xfrm>
            <a:off x="548640" y="164592"/>
            <a:ext cx="11064240" cy="640080"/>
          </a:xfrm>
          <a:prstGeom prst="rect">
            <a:avLst/>
          </a:prstGeom>
          <a:noFill/>
          <a:ln/>
        </p:spPr>
        <p:txBody>
          <a:bodyPr wrap="square" rtlCol="0" anchor="ctr"/>
          <a:lstStyle/>
          <a:p>
            <a:pPr marL="0" indent="0">
              <a:buNone/>
            </a:pPr>
            <a:r>
              <a:rPr lang="en-US" sz="2400" b="1" dirty="0">
                <a:solidFill>
                  <a:srgbClr val="1F3864"/>
                </a:solidFill>
                <a:latin typeface="Calibri" pitchFamily="34" charset="0"/>
                <a:ea typeface="Calibri" pitchFamily="34" charset="-122"/>
                <a:cs typeface="Calibri" pitchFamily="34" charset="-120"/>
              </a:rPr>
              <a:t>Java — Ejecución</a:t>
            </a:r>
            <a:endParaRPr lang="en-US" sz="2400" dirty="0"/>
          </a:p>
        </p:txBody>
      </p:sp>
      <p:sp>
        <p:nvSpPr>
          <p:cNvPr id="4" name="Shape 2"/>
          <p:cNvSpPr/>
          <p:nvPr/>
        </p:nvSpPr>
        <p:spPr>
          <a:xfrm>
            <a:off x="402336" y="1811027"/>
            <a:ext cx="7333488" cy="3876026"/>
          </a:xfrm>
          <a:prstGeom prst="rect">
            <a:avLst/>
          </a:prstGeom>
          <a:solidFill>
            <a:srgbClr val="FFFFFF"/>
          </a:solidFill>
          <a:ln w="12700">
            <a:solidFill>
              <a:srgbClr val="D9D9D9"/>
            </a:solidFill>
            <a:prstDash val="solid"/>
          </a:ln>
        </p:spPr>
      </p:sp>
      <p:pic>
        <p:nvPicPr>
          <p:cNvPr id="5" name="Image 0" descr="/home/claude/report3_imgs/java_04_ejecucion.png"/>
          <p:cNvPicPr>
            <a:picLocks noChangeAspect="1"/>
          </p:cNvPicPr>
          <p:nvPr/>
        </p:nvPicPr>
        <p:blipFill>
          <a:blip r:embed="rId3"/>
          <a:stretch>
            <a:fillRect/>
          </a:stretch>
        </p:blipFill>
        <p:spPr>
          <a:xfrm>
            <a:off x="457200" y="1865891"/>
            <a:ext cx="7223760" cy="3766298"/>
          </a:xfrm>
          <a:prstGeom prst="rect">
            <a:avLst/>
          </a:prstGeom>
        </p:spPr>
      </p:pic>
      <p:sp>
        <p:nvSpPr>
          <p:cNvPr id="6" name="Shape 3"/>
          <p:cNvSpPr/>
          <p:nvPr/>
        </p:nvSpPr>
        <p:spPr>
          <a:xfrm>
            <a:off x="457200" y="1051560"/>
            <a:ext cx="1371600" cy="274320"/>
          </a:xfrm>
          <a:prstGeom prst="roundRect">
            <a:avLst>
              <a:gd name="adj" fmla="val 20000"/>
            </a:avLst>
          </a:prstGeom>
          <a:solidFill>
            <a:srgbClr val="2E7D32"/>
          </a:solidFill>
          <a:ln/>
        </p:spPr>
      </p:sp>
      <p:sp>
        <p:nvSpPr>
          <p:cNvPr id="7" name="Text 4"/>
          <p:cNvSpPr txBox="1"/>
          <p:nvPr/>
        </p:nvSpPr>
        <p:spPr>
          <a:xfrm>
            <a:off x="457200" y="1051560"/>
            <a:ext cx="137160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Ejecutado</a:t>
            </a:r>
            <a:endParaRPr lang="en-US" sz="1100" dirty="0"/>
          </a:p>
        </p:txBody>
      </p:sp>
      <p:sp>
        <p:nvSpPr>
          <p:cNvPr id="8" name="Shape 5"/>
          <p:cNvSpPr/>
          <p:nvPr/>
        </p:nvSpPr>
        <p:spPr>
          <a:xfrm>
            <a:off x="7863840" y="1143000"/>
            <a:ext cx="3840480" cy="5257800"/>
          </a:xfrm>
          <a:prstGeom prst="rect">
            <a:avLst/>
          </a:prstGeom>
          <a:solidFill>
            <a:srgbClr val="F5F6F8"/>
          </a:solidFill>
          <a:ln/>
        </p:spPr>
      </p:sp>
      <p:sp>
        <p:nvSpPr>
          <p:cNvPr id="9" name="Text 6"/>
          <p:cNvSpPr txBox="1"/>
          <p:nvPr/>
        </p:nvSpPr>
        <p:spPr>
          <a:xfrm>
            <a:off x="8092440" y="1325880"/>
            <a:ext cx="3383280" cy="36576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¿Qué muestra el resultado?</a:t>
            </a:r>
            <a:endParaRPr lang="en-US" sz="1400" dirty="0"/>
          </a:p>
        </p:txBody>
      </p:sp>
      <p:sp>
        <p:nvSpPr>
          <p:cNvPr id="10" name="Text 7"/>
          <p:cNvSpPr txBox="1"/>
          <p:nvPr/>
        </p:nvSpPr>
        <p:spPr>
          <a:xfrm>
            <a:off x="8092440" y="1737360"/>
            <a:ext cx="3383280" cy="4572000"/>
          </a:xfrm>
          <a:prstGeom prst="rect">
            <a:avLst/>
          </a:prstGeom>
          <a:noFill/>
          <a:ln/>
        </p:spPr>
        <p:txBody>
          <a:bodyPr wrap="square" rtlCol="0" anchor="t"/>
          <a:lstStyle/>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Terminal de VS Code con la salida real del programa simulacioncompleta.java al ejecutarse.</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Continuas: muestra generada 0.8270 0.4230 0.9984 0.8648 0.3466.</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Transformada inversa: U base 0.1588 → X transformado 0.0865.</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Convolución: Z generado (Normal) = -0.5398.</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Composición: se seleccionó la componente 1 (Exponencial, 60%).</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Aceptación-Rechazo: valor aceptado 0.3300 en apenas 1 intento.</a:t>
            </a:r>
            <a:endParaRPr lang="en-US" sz="1150" dirty="0"/>
          </a:p>
          <a:p>
            <a:pPr marL="342900" indent="-342900">
              <a:lnSpc>
                <a:spcPct val="105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Pruebas estadísticas: Chi-Cuadrada 10.0165, resultado "Aprobada" (p-value: 0.5107).</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5F6F8"/>
          </a:solidFill>
          <a:ln/>
        </p:spPr>
      </p:sp>
      <p:sp>
        <p:nvSpPr>
          <p:cNvPr id="3" name="Text 1"/>
          <p:cNvSpPr txBox="1"/>
          <p:nvPr/>
        </p:nvSpPr>
        <p:spPr>
          <a:xfrm>
            <a:off x="548640" y="164592"/>
            <a:ext cx="11064240" cy="640080"/>
          </a:xfrm>
          <a:prstGeom prst="rect">
            <a:avLst/>
          </a:prstGeom>
          <a:noFill/>
          <a:ln/>
        </p:spPr>
        <p:txBody>
          <a:bodyPr wrap="square" rtlCol="0" anchor="ctr"/>
          <a:lstStyle/>
          <a:p>
            <a:pPr marL="0" indent="0">
              <a:buNone/>
            </a:pPr>
            <a:r>
              <a:rPr lang="en-US" sz="2400" b="1" dirty="0">
                <a:solidFill>
                  <a:srgbClr val="1F3864"/>
                </a:solidFill>
                <a:latin typeface="Calibri" pitchFamily="34" charset="0"/>
                <a:ea typeface="Calibri" pitchFamily="34" charset="-122"/>
                <a:cs typeface="Calibri" pitchFamily="34" charset="-120"/>
              </a:rPr>
              <a:t>Conclusión</a:t>
            </a:r>
            <a:endParaRPr lang="en-US" sz="2400" dirty="0"/>
          </a:p>
        </p:txBody>
      </p:sp>
      <p:sp>
        <p:nvSpPr>
          <p:cNvPr id="4" name="Text 2"/>
          <p:cNvSpPr txBox="1"/>
          <p:nvPr/>
        </p:nvSpPr>
        <p:spPr>
          <a:xfrm>
            <a:off x="640080" y="1234440"/>
            <a:ext cx="10881360" cy="5303520"/>
          </a:xfrm>
          <a:prstGeom prst="rect">
            <a:avLst/>
          </a:prstGeom>
          <a:noFill/>
          <a:ln/>
        </p:spPr>
        <p:txBody>
          <a:bodyPr wrap="square" rtlCol="0" anchor="t"/>
          <a:lstStyle/>
          <a:p>
            <a:pPr marL="0" indent="0" algn="l">
              <a:lnSpc>
                <a:spcPct val="115000"/>
              </a:lnSpc>
              <a:spcAft>
                <a:spcPts val="1400"/>
              </a:spcAft>
              <a:buNone/>
            </a:pPr>
            <a:r>
              <a:rPr lang="en-US" sz="1400" dirty="0">
                <a:solidFill>
                  <a:srgbClr val="262626"/>
                </a:solidFill>
                <a:latin typeface="Calibri" pitchFamily="34" charset="0"/>
                <a:ea typeface="Calibri" pitchFamily="34" charset="-122"/>
                <a:cs typeface="Calibri" pitchFamily="34" charset="-120"/>
              </a:rPr>
              <a:t>Esta actividad permitió poner en práctica, de forma directa y sin interfaz gráfica, los algoritmos fundamentales de generación de variables aleatorias: variables discretas y continuas, transformada inversa, convolución, composición, un procedimiento de aceptación-rechazo y pruebas de bondad de ajuste.</a:t>
            </a:r>
            <a:endParaRPr lang="en-US" sz="1400" dirty="0"/>
          </a:p>
          <a:p>
            <a:pPr marL="0" indent="0" algn="l">
              <a:lnSpc>
                <a:spcPct val="115000"/>
              </a:lnSpc>
              <a:spcAft>
                <a:spcPts val="1400"/>
              </a:spcAft>
              <a:buNone/>
            </a:pPr>
            <a:r>
              <a:rPr lang="en-US" sz="1400" dirty="0">
                <a:solidFill>
                  <a:srgbClr val="262626"/>
                </a:solidFill>
                <a:latin typeface="Calibri" pitchFamily="34" charset="0"/>
                <a:ea typeface="Calibri" pitchFamily="34" charset="-122"/>
                <a:cs typeface="Calibri" pitchFamily="34" charset="-120"/>
              </a:rPr>
              <a:t>Al resolver los mismos seis ejercicios en R, Python y Java se pudo comparar la forma en que cada lenguaje aborda la generación de números aleatorios: R mediante funciones compactas como sample() y runif(), Python con las bibliotecas random y math de forma explícita, y Java declarando cada estructura y tipo de dato con mayor formalidad. En todos los casos las ejecuciones confirmaron que los algoritmos producen resultados coherentes con la teoría revisada en clase.</a:t>
            </a:r>
            <a:endParaRPr lang="en-US" sz="1400" dirty="0"/>
          </a:p>
          <a:p>
            <a:pPr marL="0" indent="0" algn="l">
              <a:lnSpc>
                <a:spcPct val="115000"/>
              </a:lnSpc>
              <a:spcAft>
                <a:spcPts val="1400"/>
              </a:spcAft>
              <a:buNone/>
            </a:pPr>
            <a:r>
              <a:rPr lang="en-US" sz="1400" dirty="0">
                <a:solidFill>
                  <a:srgbClr val="262626"/>
                </a:solidFill>
                <a:latin typeface="Calibri" pitchFamily="34" charset="0"/>
                <a:ea typeface="Calibri" pitchFamily="34" charset="-122"/>
                <a:cs typeface="Calibri" pitchFamily="34" charset="-120"/>
              </a:rPr>
              <a:t>En conjunto, los ejercicios reforzaron la comprensión práctica de los métodos de generación de variables aleatorias y sentaron las bases para su aplicación en modelos de simulación más complejos en unidades posteriores del curso.</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2116</Words>
  <Application>Microsoft Office PowerPoint</Application>
  <PresentationFormat>Panorámica</PresentationFormat>
  <Paragraphs>152</Paragraphs>
  <Slides>21</Slides>
  <Notes>21</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21</vt:i4>
      </vt:variant>
    </vt:vector>
  </HeadingPairs>
  <TitlesOfParts>
    <vt:vector size="24"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Jasmine Morales</cp:lastModifiedBy>
  <cp:revision>2</cp:revision>
  <dcterms:created xsi:type="dcterms:W3CDTF">2026-09-21T20:18:24Z</dcterms:created>
  <dcterms:modified xsi:type="dcterms:W3CDTF">2026-09-21T20:20:44Z</dcterms:modified>
</cp:coreProperties>
</file>