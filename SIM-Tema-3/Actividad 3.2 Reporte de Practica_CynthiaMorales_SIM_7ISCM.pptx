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63" d="100"/>
          <a:sy n="63" d="100"/>
        </p:scale>
        <p:origin x="780"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08760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jpeg"/><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hyperlink" Target="https://github.com/Cynthia21Morales/SIMULACION_CynthiaJasmineMT/blob/main/SIM-Tema-3/Actividad%203.2%20Reporte%20de%20Practica_CynthiaMorales_SIM_7ISCM.pptx" TargetMode="Externa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a:effectLst/>
      </p:bgPr>
    </p:bg>
    <p:spTree>
      <p:nvGrpSpPr>
        <p:cNvPr id="1" name=""/>
        <p:cNvGrpSpPr/>
        <p:nvPr/>
      </p:nvGrpSpPr>
      <p:grpSpPr>
        <a:xfrm>
          <a:off x="0" y="0"/>
          <a:ext cx="0" cy="0"/>
          <a:chOff x="0" y="0"/>
          <a:chExt cx="0" cy="0"/>
        </a:xfrm>
      </p:grpSpPr>
      <p:grpSp>
        <p:nvGrpSpPr>
          <p:cNvPr id="11" name="Group 2">
            <a:extLst>
              <a:ext uri="{FF2B5EF4-FFF2-40B4-BE49-F238E27FC236}">
                <a16:creationId xmlns:a16="http://schemas.microsoft.com/office/drawing/2014/main" id="{F54A2476-BA41-A8FD-0CDF-19411D625134}"/>
              </a:ext>
            </a:extLst>
          </p:cNvPr>
          <p:cNvGrpSpPr/>
          <p:nvPr/>
        </p:nvGrpSpPr>
        <p:grpSpPr>
          <a:xfrm>
            <a:off x="1118708" y="31119"/>
            <a:ext cx="2709599" cy="1198176"/>
            <a:chOff x="0" y="0"/>
            <a:chExt cx="3073400" cy="1308100"/>
          </a:xfrm>
        </p:grpSpPr>
        <p:sp>
          <p:nvSpPr>
            <p:cNvPr id="12" name="Freeform 3">
              <a:extLst>
                <a:ext uri="{FF2B5EF4-FFF2-40B4-BE49-F238E27FC236}">
                  <a16:creationId xmlns:a16="http://schemas.microsoft.com/office/drawing/2014/main" id="{52E2A1DE-1423-F447-0433-C8AC126CCBDA}"/>
                </a:ext>
              </a:extLst>
            </p:cNvPr>
            <p:cNvSpPr/>
            <p:nvPr/>
          </p:nvSpPr>
          <p:spPr>
            <a:xfrm>
              <a:off x="0" y="0"/>
              <a:ext cx="3073400" cy="1308100"/>
            </a:xfrm>
            <a:custGeom>
              <a:avLst/>
              <a:gdLst/>
              <a:ahLst/>
              <a:cxnLst/>
              <a:rect l="l" t="t" r="r" b="b"/>
              <a:pathLst>
                <a:path w="3073400" h="1308100">
                  <a:moveTo>
                    <a:pt x="0" y="0"/>
                  </a:moveTo>
                  <a:lnTo>
                    <a:pt x="3073400" y="0"/>
                  </a:lnTo>
                  <a:lnTo>
                    <a:pt x="3073400" y="1308100"/>
                  </a:lnTo>
                  <a:lnTo>
                    <a:pt x="0" y="1308100"/>
                  </a:lnTo>
                  <a:lnTo>
                    <a:pt x="0" y="0"/>
                  </a:lnTo>
                  <a:close/>
                </a:path>
              </a:pathLst>
            </a:custGeom>
            <a:blipFill>
              <a:blip r:embed="rId3"/>
              <a:stretch>
                <a:fillRect/>
              </a:stretch>
            </a:blipFill>
          </p:spPr>
        </p:sp>
      </p:grpSp>
      <p:grpSp>
        <p:nvGrpSpPr>
          <p:cNvPr id="13" name="Group 4">
            <a:extLst>
              <a:ext uri="{FF2B5EF4-FFF2-40B4-BE49-F238E27FC236}">
                <a16:creationId xmlns:a16="http://schemas.microsoft.com/office/drawing/2014/main" id="{CF716A84-6FBC-7DF6-D781-9AAF841A3CAA}"/>
              </a:ext>
            </a:extLst>
          </p:cNvPr>
          <p:cNvGrpSpPr/>
          <p:nvPr/>
        </p:nvGrpSpPr>
        <p:grpSpPr>
          <a:xfrm>
            <a:off x="9459465" y="106714"/>
            <a:ext cx="1872270" cy="1245240"/>
            <a:chOff x="0" y="0"/>
            <a:chExt cx="1981200" cy="1625600"/>
          </a:xfrm>
        </p:grpSpPr>
        <p:sp>
          <p:nvSpPr>
            <p:cNvPr id="14" name="Freeform 5">
              <a:extLst>
                <a:ext uri="{FF2B5EF4-FFF2-40B4-BE49-F238E27FC236}">
                  <a16:creationId xmlns:a16="http://schemas.microsoft.com/office/drawing/2014/main" id="{9A7D7344-94CA-678A-A4D2-40ABDA52D3CB}"/>
                </a:ext>
              </a:extLst>
            </p:cNvPr>
            <p:cNvSpPr/>
            <p:nvPr/>
          </p:nvSpPr>
          <p:spPr>
            <a:xfrm>
              <a:off x="0" y="0"/>
              <a:ext cx="1981200" cy="1625600"/>
            </a:xfrm>
            <a:custGeom>
              <a:avLst/>
              <a:gdLst/>
              <a:ahLst/>
              <a:cxnLst/>
              <a:rect l="l" t="t" r="r" b="b"/>
              <a:pathLst>
                <a:path w="1981200" h="1625600">
                  <a:moveTo>
                    <a:pt x="0" y="0"/>
                  </a:moveTo>
                  <a:lnTo>
                    <a:pt x="1981200" y="0"/>
                  </a:lnTo>
                  <a:lnTo>
                    <a:pt x="1981200" y="1625600"/>
                  </a:lnTo>
                  <a:lnTo>
                    <a:pt x="0" y="1625600"/>
                  </a:lnTo>
                  <a:lnTo>
                    <a:pt x="0" y="0"/>
                  </a:lnTo>
                  <a:close/>
                </a:path>
              </a:pathLst>
            </a:custGeom>
            <a:blipFill>
              <a:blip r:embed="rId4"/>
              <a:stretch>
                <a:fillRect/>
              </a:stretch>
            </a:blipFill>
          </p:spPr>
        </p:sp>
      </p:grpSp>
      <p:grpSp>
        <p:nvGrpSpPr>
          <p:cNvPr id="15" name="Group 6">
            <a:extLst>
              <a:ext uri="{FF2B5EF4-FFF2-40B4-BE49-F238E27FC236}">
                <a16:creationId xmlns:a16="http://schemas.microsoft.com/office/drawing/2014/main" id="{590DD5EE-6866-986F-A6C2-C51CA030EF8F}"/>
              </a:ext>
            </a:extLst>
          </p:cNvPr>
          <p:cNvGrpSpPr/>
          <p:nvPr/>
        </p:nvGrpSpPr>
        <p:grpSpPr>
          <a:xfrm>
            <a:off x="4609388" y="269788"/>
            <a:ext cx="3812814" cy="709234"/>
            <a:chOff x="0" y="0"/>
            <a:chExt cx="4343400" cy="901700"/>
          </a:xfrm>
        </p:grpSpPr>
        <p:sp>
          <p:nvSpPr>
            <p:cNvPr id="16" name="Freeform 7">
              <a:extLst>
                <a:ext uri="{FF2B5EF4-FFF2-40B4-BE49-F238E27FC236}">
                  <a16:creationId xmlns:a16="http://schemas.microsoft.com/office/drawing/2014/main" id="{9B6052FF-A4A7-10FF-A562-3F896E959ACF}"/>
                </a:ext>
              </a:extLst>
            </p:cNvPr>
            <p:cNvSpPr/>
            <p:nvPr/>
          </p:nvSpPr>
          <p:spPr>
            <a:xfrm>
              <a:off x="0" y="0"/>
              <a:ext cx="4343400" cy="901700"/>
            </a:xfrm>
            <a:custGeom>
              <a:avLst/>
              <a:gdLst/>
              <a:ahLst/>
              <a:cxnLst/>
              <a:rect l="l" t="t" r="r" b="b"/>
              <a:pathLst>
                <a:path w="4343400" h="901700">
                  <a:moveTo>
                    <a:pt x="0" y="0"/>
                  </a:moveTo>
                  <a:lnTo>
                    <a:pt x="4343400" y="0"/>
                  </a:lnTo>
                  <a:lnTo>
                    <a:pt x="4343400" y="901700"/>
                  </a:lnTo>
                  <a:lnTo>
                    <a:pt x="0" y="901700"/>
                  </a:lnTo>
                  <a:lnTo>
                    <a:pt x="0" y="0"/>
                  </a:lnTo>
                  <a:close/>
                </a:path>
              </a:pathLst>
            </a:custGeom>
            <a:blipFill>
              <a:blip r:embed="rId5"/>
              <a:stretch>
                <a:fillRect/>
              </a:stretch>
            </a:blipFill>
          </p:spPr>
        </p:sp>
      </p:grpSp>
      <p:sp>
        <p:nvSpPr>
          <p:cNvPr id="17" name="TextBox 9">
            <a:extLst>
              <a:ext uri="{FF2B5EF4-FFF2-40B4-BE49-F238E27FC236}">
                <a16:creationId xmlns:a16="http://schemas.microsoft.com/office/drawing/2014/main" id="{D3D75CD8-3A8C-076D-3F6B-B0EB5B1C11F7}"/>
              </a:ext>
            </a:extLst>
          </p:cNvPr>
          <p:cNvSpPr txBox="1"/>
          <p:nvPr/>
        </p:nvSpPr>
        <p:spPr>
          <a:xfrm>
            <a:off x="2535480" y="1902456"/>
            <a:ext cx="7644625" cy="4924425"/>
          </a:xfrm>
          <a:prstGeom prst="rect">
            <a:avLst/>
          </a:prstGeom>
        </p:spPr>
        <p:txBody>
          <a:bodyPr wrap="square" lIns="0" tIns="0" rIns="0" bIns="0" rtlCol="0" anchor="t">
            <a:spAutoFit/>
          </a:bodyPr>
          <a:lstStyle/>
          <a:p>
            <a:pPr algn="ctr"/>
            <a:r>
              <a:rPr lang="en-US" sz="1600" dirty="0">
                <a:solidFill>
                  <a:schemeClr val="bg1"/>
                </a:solidFill>
                <a:latin typeface="Century Gothic" panose="020B0502020202020204" pitchFamily="34" charset="0"/>
                <a:ea typeface="Glacial Indifference"/>
                <a:cs typeface="Glacial Indifference"/>
                <a:sym typeface="Glacial Indifference"/>
              </a:rPr>
              <a:t>Materia:</a:t>
            </a:r>
          </a:p>
          <a:p>
            <a:pPr algn="ctr"/>
            <a:r>
              <a:rPr lang="en-US" sz="1600" dirty="0" err="1">
                <a:solidFill>
                  <a:schemeClr val="bg1"/>
                </a:solidFill>
                <a:latin typeface="Century Gothic" panose="020B0502020202020204" pitchFamily="34" charset="0"/>
                <a:ea typeface="Glacial Indifference"/>
                <a:cs typeface="Glacial Indifference"/>
                <a:sym typeface="Glacial Indifference"/>
              </a:rPr>
              <a:t>Simulación</a:t>
            </a:r>
            <a:endParaRPr lang="en-US" sz="1600" dirty="0">
              <a:solidFill>
                <a:schemeClr val="bg1"/>
              </a:solidFill>
              <a:latin typeface="Century Gothic" panose="020B0502020202020204" pitchFamily="34" charset="0"/>
              <a:ea typeface="Glacial Indifference"/>
              <a:cs typeface="Glacial Indifference"/>
              <a:sym typeface="Glacial Indifference"/>
            </a:endParaRPr>
          </a:p>
          <a:p>
            <a:pPr algn="ctr"/>
            <a:endParaRPr lang="en-US" sz="1600" dirty="0">
              <a:solidFill>
                <a:schemeClr val="bg1"/>
              </a:solidFill>
              <a:latin typeface="Century Gothic" panose="020B0502020202020204" pitchFamily="34" charset="0"/>
              <a:ea typeface="Glacial Indifference"/>
              <a:cs typeface="Glacial Indifference"/>
              <a:sym typeface="Glacial Indifference"/>
            </a:endParaRPr>
          </a:p>
          <a:p>
            <a:pPr algn="ctr"/>
            <a:r>
              <a:rPr lang="en-US" sz="1600" dirty="0">
                <a:solidFill>
                  <a:schemeClr val="bg1"/>
                </a:solidFill>
                <a:latin typeface="Century Gothic" panose="020B0502020202020204" pitchFamily="34" charset="0"/>
                <a:ea typeface="Glacial Indifference"/>
                <a:cs typeface="Glacial Indifference"/>
                <a:sym typeface="Glacial Indifference"/>
              </a:rPr>
              <a:t>Semestre: </a:t>
            </a:r>
          </a:p>
          <a:p>
            <a:pPr algn="ctr"/>
            <a:r>
              <a:rPr lang="en-US" sz="1600" dirty="0" err="1">
                <a:solidFill>
                  <a:schemeClr val="bg1"/>
                </a:solidFill>
                <a:latin typeface="Century Gothic" panose="020B0502020202020204" pitchFamily="34" charset="0"/>
                <a:ea typeface="Glacial Indifference"/>
                <a:cs typeface="Glacial Indifference"/>
                <a:sym typeface="Glacial Indifference"/>
              </a:rPr>
              <a:t>Septimo</a:t>
            </a:r>
            <a:r>
              <a:rPr lang="en-US" sz="1600" dirty="0">
                <a:solidFill>
                  <a:schemeClr val="bg1"/>
                </a:solidFill>
                <a:latin typeface="Century Gothic" panose="020B0502020202020204" pitchFamily="34" charset="0"/>
                <a:ea typeface="Glacial Indifference"/>
                <a:cs typeface="Glacial Indifference"/>
                <a:sym typeface="Glacial Indifference"/>
              </a:rPr>
              <a:t> semestre </a:t>
            </a:r>
          </a:p>
          <a:p>
            <a:pPr algn="ctr"/>
            <a:endParaRPr lang="en-US" sz="1600" dirty="0">
              <a:solidFill>
                <a:schemeClr val="bg1"/>
              </a:solidFill>
              <a:latin typeface="Century Gothic" panose="020B0502020202020204" pitchFamily="34" charset="0"/>
              <a:ea typeface="Glacial Indifference"/>
              <a:cs typeface="Glacial Indifference"/>
              <a:sym typeface="Glacial Indifference"/>
            </a:endParaRPr>
          </a:p>
          <a:p>
            <a:pPr algn="ctr"/>
            <a:r>
              <a:rPr lang="en-US" sz="1600" dirty="0">
                <a:solidFill>
                  <a:schemeClr val="bg1"/>
                </a:solidFill>
                <a:latin typeface="Century Gothic" panose="020B0502020202020204" pitchFamily="34" charset="0"/>
                <a:ea typeface="Glacial Indifference"/>
                <a:cs typeface="Glacial Indifference"/>
                <a:sym typeface="Glacial Indifference"/>
              </a:rPr>
              <a:t>Especialidad:</a:t>
            </a:r>
          </a:p>
          <a:p>
            <a:pPr algn="ctr"/>
            <a:r>
              <a:rPr lang="en-US" sz="1600" dirty="0">
                <a:solidFill>
                  <a:schemeClr val="bg1"/>
                </a:solidFill>
                <a:latin typeface="Century Gothic" panose="020B0502020202020204" pitchFamily="34" charset="0"/>
                <a:ea typeface="Glacial Indifference"/>
                <a:cs typeface="Glacial Indifference"/>
                <a:sym typeface="Glacial Indifference"/>
              </a:rPr>
              <a:t> Ingeniería en Sistemas Computacionales.</a:t>
            </a:r>
          </a:p>
          <a:p>
            <a:pPr algn="ctr"/>
            <a:endParaRPr lang="en-US" sz="1600" dirty="0">
              <a:solidFill>
                <a:schemeClr val="bg1"/>
              </a:solidFill>
              <a:latin typeface="Century Gothic" panose="020B0502020202020204" pitchFamily="34" charset="0"/>
              <a:ea typeface="Glacial Indifference"/>
              <a:cs typeface="Glacial Indifference"/>
              <a:sym typeface="Glacial Indifference"/>
            </a:endParaRPr>
          </a:p>
          <a:p>
            <a:pPr algn="ctr"/>
            <a:r>
              <a:rPr lang="en-US" sz="1600" dirty="0">
                <a:solidFill>
                  <a:schemeClr val="bg1"/>
                </a:solidFill>
                <a:latin typeface="Century Gothic" panose="020B0502020202020204" pitchFamily="34" charset="0"/>
                <a:ea typeface="Glacial Indifference"/>
                <a:cs typeface="Glacial Indifference"/>
                <a:sym typeface="Glacial Indifference"/>
              </a:rPr>
              <a:t>Nombre del alumno:</a:t>
            </a:r>
          </a:p>
          <a:p>
            <a:pPr algn="ctr"/>
            <a:r>
              <a:rPr lang="en-US" sz="1600" b="1" dirty="0">
                <a:solidFill>
                  <a:schemeClr val="bg1"/>
                </a:solidFill>
                <a:latin typeface="Century Gothic" panose="020B0502020202020204" pitchFamily="34" charset="0"/>
                <a:ea typeface="Glacial Indifference"/>
                <a:cs typeface="Glacial Indifference"/>
                <a:sym typeface="Glacial Indifference"/>
              </a:rPr>
              <a:t> Cynthia Jasmine Morales Torres / 231260014</a:t>
            </a:r>
          </a:p>
          <a:p>
            <a:pPr algn="ctr"/>
            <a:endParaRPr lang="en-US" sz="1600" dirty="0">
              <a:solidFill>
                <a:schemeClr val="bg1"/>
              </a:solidFill>
              <a:latin typeface="Century Gothic" panose="020B0502020202020204" pitchFamily="34" charset="0"/>
              <a:ea typeface="Glacial Indifference"/>
              <a:cs typeface="Glacial Indifference"/>
              <a:sym typeface="Glacial Indifference"/>
            </a:endParaRPr>
          </a:p>
          <a:p>
            <a:pPr algn="ctr"/>
            <a:r>
              <a:rPr lang="en-US" sz="1600" dirty="0">
                <a:solidFill>
                  <a:schemeClr val="bg1"/>
                </a:solidFill>
                <a:latin typeface="Century Gothic" panose="020B0502020202020204" pitchFamily="34" charset="0"/>
                <a:ea typeface="Glacial Indifference"/>
                <a:cs typeface="Glacial Indifference"/>
                <a:sym typeface="Glacial Indifference"/>
              </a:rPr>
              <a:t> Nombre del docente: </a:t>
            </a:r>
          </a:p>
          <a:p>
            <a:pPr algn="ctr"/>
            <a:r>
              <a:rPr lang="en-US" sz="1600" dirty="0">
                <a:solidFill>
                  <a:schemeClr val="bg1"/>
                </a:solidFill>
                <a:latin typeface="Century Gothic" panose="020B0502020202020204" pitchFamily="34" charset="0"/>
                <a:ea typeface="Glacial Indifference"/>
                <a:cs typeface="Glacial Indifference"/>
                <a:sym typeface="Glacial Indifference"/>
              </a:rPr>
              <a:t>Ing. Francisco Javier Mingo Velazquez </a:t>
            </a:r>
          </a:p>
          <a:p>
            <a:pPr algn="ctr"/>
            <a:endParaRPr lang="en-US" sz="1600" dirty="0">
              <a:solidFill>
                <a:schemeClr val="bg1"/>
              </a:solidFill>
              <a:latin typeface="Century Gothic" panose="020B0502020202020204" pitchFamily="34" charset="0"/>
              <a:ea typeface="Glacial Indifference"/>
              <a:cs typeface="Glacial Indifference"/>
              <a:sym typeface="Glacial Indifference"/>
            </a:endParaRPr>
          </a:p>
          <a:p>
            <a:pPr algn="ctr"/>
            <a:r>
              <a:rPr lang="en-US" sz="1600" dirty="0">
                <a:solidFill>
                  <a:schemeClr val="bg1"/>
                </a:solidFill>
                <a:latin typeface="Century Gothic" panose="020B0502020202020204" pitchFamily="34" charset="0"/>
                <a:ea typeface="Glacial Indifference"/>
                <a:cs typeface="Glacial Indifference"/>
                <a:sym typeface="Glacial Indifference"/>
              </a:rPr>
              <a:t>Nombre del trabajo:</a:t>
            </a:r>
          </a:p>
          <a:p>
            <a:pPr algn="ctr"/>
            <a:r>
              <a:rPr lang="en-US" sz="1600" dirty="0">
                <a:solidFill>
                  <a:schemeClr val="bg1"/>
                </a:solidFill>
                <a:latin typeface="Century Gothic" panose="020B0502020202020204" pitchFamily="34" charset="0"/>
                <a:ea typeface="Glacial Indifference"/>
                <a:cs typeface="Glacial Indifference"/>
                <a:sym typeface="Glacial Indifference"/>
              </a:rPr>
              <a:t> 3.2 </a:t>
            </a:r>
            <a:r>
              <a:rPr lang="en-US" sz="1600" dirty="0" err="1">
                <a:solidFill>
                  <a:schemeClr val="bg1"/>
                </a:solidFill>
                <a:latin typeface="Century Gothic" panose="020B0502020202020204" pitchFamily="34" charset="0"/>
                <a:ea typeface="Glacial Indifference"/>
                <a:cs typeface="Glacial Indifference"/>
                <a:sym typeface="Glacial Indifference"/>
              </a:rPr>
              <a:t>Reporte</a:t>
            </a:r>
            <a:r>
              <a:rPr lang="en-US" sz="1600" dirty="0">
                <a:solidFill>
                  <a:schemeClr val="bg1"/>
                </a:solidFill>
                <a:latin typeface="Century Gothic" panose="020B0502020202020204" pitchFamily="34" charset="0"/>
                <a:ea typeface="Glacial Indifference"/>
                <a:cs typeface="Glacial Indifference"/>
                <a:sym typeface="Glacial Indifference"/>
              </a:rPr>
              <a:t> de </a:t>
            </a:r>
            <a:r>
              <a:rPr lang="en-US" sz="1600" dirty="0" err="1">
                <a:solidFill>
                  <a:schemeClr val="bg1"/>
                </a:solidFill>
                <a:latin typeface="Century Gothic" panose="020B0502020202020204" pitchFamily="34" charset="0"/>
                <a:ea typeface="Glacial Indifference"/>
                <a:cs typeface="Glacial Indifference"/>
                <a:sym typeface="Glacial Indifference"/>
              </a:rPr>
              <a:t>Practica</a:t>
            </a:r>
            <a:endParaRPr lang="en-US" sz="1600" dirty="0">
              <a:solidFill>
                <a:schemeClr val="bg1"/>
              </a:solidFill>
              <a:latin typeface="Century Gothic" panose="020B0502020202020204" pitchFamily="34" charset="0"/>
              <a:ea typeface="Glacial Indifference"/>
              <a:cs typeface="Glacial Indifference"/>
              <a:sym typeface="Glacial Indifference"/>
            </a:endParaRPr>
          </a:p>
          <a:p>
            <a:pPr algn="ctr"/>
            <a:r>
              <a:rPr lang="en-US" sz="1600" dirty="0">
                <a:solidFill>
                  <a:schemeClr val="bg1"/>
                </a:solidFill>
                <a:latin typeface="Century Gothic" panose="020B0502020202020204" pitchFamily="34" charset="0"/>
                <a:ea typeface="Glacial Indifference"/>
                <a:cs typeface="Glacial Indifference"/>
                <a:sym typeface="Glacial Indifference"/>
              </a:rPr>
              <a:t> </a:t>
            </a:r>
          </a:p>
          <a:p>
            <a:pPr algn="ctr"/>
            <a:endParaRPr lang="en-US" sz="1600" dirty="0">
              <a:solidFill>
                <a:schemeClr val="bg1"/>
              </a:solidFill>
              <a:latin typeface="Century Gothic" panose="020B0502020202020204" pitchFamily="34" charset="0"/>
              <a:ea typeface="Glacial Indifference"/>
              <a:cs typeface="Glacial Indifference"/>
              <a:sym typeface="Glacial Indifference"/>
            </a:endParaRPr>
          </a:p>
          <a:p>
            <a:pPr algn="ctr"/>
            <a:r>
              <a:rPr lang="en-US" sz="1600" dirty="0">
                <a:solidFill>
                  <a:schemeClr val="bg1"/>
                </a:solidFill>
                <a:latin typeface="Century Gothic" panose="020B0502020202020204" pitchFamily="34" charset="0"/>
                <a:ea typeface="Glacial Indifference"/>
                <a:cs typeface="Glacial Indifference"/>
                <a:sym typeface="Glacial Indifference"/>
              </a:rPr>
              <a:t> Frontera Comalapa, Chiapas. A 09 de </a:t>
            </a:r>
            <a:r>
              <a:rPr lang="en-US" sz="1600" dirty="0" err="1">
                <a:solidFill>
                  <a:schemeClr val="bg1"/>
                </a:solidFill>
                <a:latin typeface="Century Gothic" panose="020B0502020202020204" pitchFamily="34" charset="0"/>
                <a:ea typeface="Glacial Indifference"/>
                <a:cs typeface="Glacial Indifference"/>
                <a:sym typeface="Glacial Indifference"/>
              </a:rPr>
              <a:t>septiembre</a:t>
            </a:r>
            <a:r>
              <a:rPr lang="en-US" sz="1600" dirty="0">
                <a:solidFill>
                  <a:schemeClr val="bg1"/>
                </a:solidFill>
                <a:latin typeface="Century Gothic" panose="020B0502020202020204" pitchFamily="34" charset="0"/>
                <a:ea typeface="Glacial Indifference"/>
                <a:cs typeface="Glacial Indifference"/>
                <a:sym typeface="Glacial Indifference"/>
              </a:rPr>
              <a:t> del 2026.</a:t>
            </a:r>
          </a:p>
        </p:txBody>
      </p:sp>
      <p:sp>
        <p:nvSpPr>
          <p:cNvPr id="18" name="TextBox 8">
            <a:extLst>
              <a:ext uri="{FF2B5EF4-FFF2-40B4-BE49-F238E27FC236}">
                <a16:creationId xmlns:a16="http://schemas.microsoft.com/office/drawing/2014/main" id="{A5CDA03D-6955-CAB5-FD18-54E051F24A05}"/>
              </a:ext>
            </a:extLst>
          </p:cNvPr>
          <p:cNvSpPr txBox="1"/>
          <p:nvPr/>
        </p:nvSpPr>
        <p:spPr>
          <a:xfrm>
            <a:off x="2199384" y="1149738"/>
            <a:ext cx="8356475" cy="709233"/>
          </a:xfrm>
          <a:prstGeom prst="rect">
            <a:avLst/>
          </a:prstGeom>
        </p:spPr>
        <p:txBody>
          <a:bodyPr wrap="square" lIns="0" tIns="0" rIns="0" bIns="0" rtlCol="0" anchor="t">
            <a:spAutoFit/>
          </a:bodyPr>
          <a:lstStyle/>
          <a:p>
            <a:pPr algn="ctr">
              <a:lnSpc>
                <a:spcPts val="2908"/>
              </a:lnSpc>
            </a:pPr>
            <a:r>
              <a:rPr lang="en-US" sz="1600" b="1" dirty="0">
                <a:solidFill>
                  <a:schemeClr val="bg1"/>
                </a:solidFill>
                <a:latin typeface="Century Gothic" panose="020B0502020202020204" pitchFamily="34" charset="0"/>
                <a:ea typeface="Glacial Indifference"/>
                <a:cs typeface="Glacial Indifference"/>
                <a:sym typeface="Glacial Indifference"/>
              </a:rPr>
              <a:t>Instituto Tecnológico de Frontera Comalapa </a:t>
            </a:r>
          </a:p>
          <a:p>
            <a:pPr algn="ctr">
              <a:lnSpc>
                <a:spcPts val="2908"/>
              </a:lnSpc>
            </a:pPr>
            <a:r>
              <a:rPr lang="en-US" sz="1600" b="1" dirty="0">
                <a:solidFill>
                  <a:schemeClr val="bg1"/>
                </a:solidFill>
                <a:latin typeface="Century Gothic" panose="020B0502020202020204" pitchFamily="34" charset="0"/>
                <a:ea typeface="Glacial Indifference"/>
                <a:cs typeface="Glacial Indifference"/>
                <a:sym typeface="Glacial Indifference"/>
              </a:rPr>
              <a:t>Modalidad Mixta</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88952" cy="960120"/>
          </a:xfrm>
          <a:prstGeom prst="rect">
            <a:avLst/>
          </a:prstGeom>
          <a:solidFill>
            <a:srgbClr val="F5F6F8"/>
          </a:solidFill>
          <a:ln/>
        </p:spPr>
      </p:sp>
      <p:sp>
        <p:nvSpPr>
          <p:cNvPr id="3" name="Text 1"/>
          <p:cNvSpPr txBox="1"/>
          <p:nvPr/>
        </p:nvSpPr>
        <p:spPr>
          <a:xfrm>
            <a:off x="548640" y="164592"/>
            <a:ext cx="11064240" cy="640080"/>
          </a:xfrm>
          <a:prstGeom prst="rect">
            <a:avLst/>
          </a:prstGeom>
          <a:noFill/>
          <a:ln/>
        </p:spPr>
        <p:txBody>
          <a:bodyPr wrap="square" rtlCol="0" anchor="ctr"/>
          <a:lstStyle/>
          <a:p>
            <a:pPr marL="0" indent="0">
              <a:buNone/>
            </a:pPr>
            <a:r>
              <a:rPr lang="en-US" sz="2800" b="1" dirty="0">
                <a:solidFill>
                  <a:srgbClr val="1F3864"/>
                </a:solidFill>
                <a:latin typeface="Calibri" pitchFamily="34" charset="0"/>
                <a:ea typeface="Calibri" pitchFamily="34" charset="-122"/>
                <a:cs typeface="Calibri" pitchFamily="34" charset="-120"/>
              </a:rPr>
              <a:t>Introducción</a:t>
            </a:r>
            <a:endParaRPr lang="en-US" sz="2800" dirty="0"/>
          </a:p>
        </p:txBody>
      </p:sp>
      <p:sp>
        <p:nvSpPr>
          <p:cNvPr id="4" name="Text 2"/>
          <p:cNvSpPr txBox="1"/>
          <p:nvPr/>
        </p:nvSpPr>
        <p:spPr>
          <a:xfrm>
            <a:off x="640080" y="1234440"/>
            <a:ext cx="10881360" cy="5303520"/>
          </a:xfrm>
          <a:prstGeom prst="rect">
            <a:avLst/>
          </a:prstGeom>
          <a:noFill/>
          <a:ln/>
        </p:spPr>
        <p:txBody>
          <a:bodyPr wrap="square" rtlCol="0" anchor="t"/>
          <a:lstStyle/>
          <a:p>
            <a:pPr marL="0" indent="0" algn="l">
              <a:lnSpc>
                <a:spcPct val="115000"/>
              </a:lnSpc>
              <a:spcAft>
                <a:spcPts val="1400"/>
              </a:spcAft>
              <a:buNone/>
            </a:pPr>
            <a:r>
              <a:rPr lang="en-US" sz="1400" dirty="0">
                <a:solidFill>
                  <a:srgbClr val="262626"/>
                </a:solidFill>
                <a:latin typeface="Calibri" pitchFamily="34" charset="0"/>
                <a:ea typeface="Calibri" pitchFamily="34" charset="-122"/>
                <a:cs typeface="Calibri" pitchFamily="34" charset="-120"/>
              </a:rPr>
              <a:t>La simulación es una herramienta fundamental en la ingeniería y en las ciencias computacionales para el estudio, análisis y predicción del comportamiento de sistemas reales, especialmente cuando estos son complejos, costosos de experimentar directamente o involucran incertidumbre. Uno de los pilares de cualquier proceso de simulación es la generación de variables aleatorias, a partir de las cuales se construyen los modelos que imitan fenómenos con comportamiento probabilístico.</a:t>
            </a:r>
            <a:endParaRPr lang="en-US" sz="1400" dirty="0"/>
          </a:p>
          <a:p>
            <a:pPr marL="0" indent="0" algn="l">
              <a:lnSpc>
                <a:spcPct val="115000"/>
              </a:lnSpc>
              <a:spcAft>
                <a:spcPts val="1400"/>
              </a:spcAft>
              <a:buNone/>
            </a:pPr>
            <a:r>
              <a:rPr lang="en-US" sz="1400" dirty="0">
                <a:solidFill>
                  <a:srgbClr val="262626"/>
                </a:solidFill>
                <a:latin typeface="Calibri" pitchFamily="34" charset="0"/>
                <a:ea typeface="Calibri" pitchFamily="34" charset="-122"/>
                <a:cs typeface="Calibri" pitchFamily="34" charset="-120"/>
              </a:rPr>
              <a:t>En esta práctica se aborda la generación de variables aleatorias discretas y continuas, así como distintos métodos analíticos para su obtención: transformada inversa, convolución y composición. Adicionalmente, se implementa un procedimiento especial de aceptación-rechazo y se aplican pruebas estadísticas de bondad de ajuste que permiten verificar que los números generados se comportan como se espera.</a:t>
            </a:r>
            <a:endParaRPr lang="en-US" sz="1400" dirty="0"/>
          </a:p>
          <a:p>
            <a:pPr marL="0" indent="0" algn="l">
              <a:lnSpc>
                <a:spcPct val="115000"/>
              </a:lnSpc>
              <a:spcAft>
                <a:spcPts val="1400"/>
              </a:spcAft>
              <a:buNone/>
            </a:pPr>
            <a:r>
              <a:rPr lang="en-US" sz="1400" dirty="0">
                <a:solidFill>
                  <a:srgbClr val="262626"/>
                </a:solidFill>
                <a:latin typeface="Calibri" pitchFamily="34" charset="0"/>
                <a:ea typeface="Calibri" pitchFamily="34" charset="-122"/>
                <a:cs typeface="Calibri" pitchFamily="34" charset="-120"/>
              </a:rPr>
              <a:t>La práctica se implementó en tres lenguajes y plataformas distintas: Java (aplicación de escritorio con JavaFX), Python (script en Visual Studio Code) y R (RStudio). En este reporte se documenta el desarrollo, la lógica y los resultados obtenidos en cada una de las tres implementaciones.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88952" cy="960120"/>
          </a:xfrm>
          <a:prstGeom prst="rect">
            <a:avLst/>
          </a:prstGeom>
          <a:solidFill>
            <a:srgbClr val="F5F6F8"/>
          </a:solidFill>
          <a:ln/>
        </p:spPr>
      </p:sp>
      <p:sp>
        <p:nvSpPr>
          <p:cNvPr id="3" name="Text 1"/>
          <p:cNvSpPr txBox="1"/>
          <p:nvPr/>
        </p:nvSpPr>
        <p:spPr>
          <a:xfrm>
            <a:off x="548640" y="164592"/>
            <a:ext cx="11064240" cy="640080"/>
          </a:xfrm>
          <a:prstGeom prst="rect">
            <a:avLst/>
          </a:prstGeom>
          <a:noFill/>
          <a:ln/>
        </p:spPr>
        <p:txBody>
          <a:bodyPr wrap="square" rtlCol="0" anchor="ctr"/>
          <a:lstStyle/>
          <a:p>
            <a:pPr marL="0" indent="0">
              <a:buNone/>
            </a:pPr>
            <a:r>
              <a:rPr lang="en-US" sz="2800" b="1" dirty="0">
                <a:solidFill>
                  <a:srgbClr val="1F3864"/>
                </a:solidFill>
                <a:latin typeface="Calibri" pitchFamily="34" charset="0"/>
                <a:ea typeface="Calibri" pitchFamily="34" charset="-122"/>
                <a:cs typeface="Calibri" pitchFamily="34" charset="-120"/>
              </a:rPr>
              <a:t>Justificación</a:t>
            </a:r>
            <a:endParaRPr lang="en-US" sz="2800" dirty="0"/>
          </a:p>
        </p:txBody>
      </p:sp>
      <p:sp>
        <p:nvSpPr>
          <p:cNvPr id="4" name="Text 2"/>
          <p:cNvSpPr txBox="1"/>
          <p:nvPr/>
        </p:nvSpPr>
        <p:spPr>
          <a:xfrm>
            <a:off x="640080" y="1234440"/>
            <a:ext cx="10881360" cy="5303520"/>
          </a:xfrm>
          <a:prstGeom prst="rect">
            <a:avLst/>
          </a:prstGeom>
          <a:noFill/>
          <a:ln/>
        </p:spPr>
        <p:txBody>
          <a:bodyPr wrap="square" rtlCol="0" anchor="t"/>
          <a:lstStyle/>
          <a:p>
            <a:pPr marL="0" indent="0" algn="l">
              <a:lnSpc>
                <a:spcPct val="115000"/>
              </a:lnSpc>
              <a:spcAft>
                <a:spcPts val="1400"/>
              </a:spcAft>
              <a:buNone/>
            </a:pPr>
            <a:r>
              <a:rPr lang="en-US" sz="1400" dirty="0">
                <a:solidFill>
                  <a:srgbClr val="262626"/>
                </a:solidFill>
                <a:latin typeface="Calibri" pitchFamily="34" charset="0"/>
                <a:ea typeface="Calibri" pitchFamily="34" charset="-122"/>
                <a:cs typeface="Calibri" pitchFamily="34" charset="-120"/>
              </a:rPr>
              <a:t>El estudio de la generación de variables aleatorias es indispensable para cualquier estudiante de Ingeniería en Sistemas Computacionales que curse Simulación, ya que constituye la base de los modelos de simulación de eventos discretos y continuos utilizados en la industria, la logística, las telecomunicaciones y la investigación de operaciones.</a:t>
            </a:r>
            <a:endParaRPr lang="en-US" sz="1400" dirty="0"/>
          </a:p>
          <a:p>
            <a:pPr marL="0" indent="0" algn="l">
              <a:lnSpc>
                <a:spcPct val="115000"/>
              </a:lnSpc>
              <a:spcAft>
                <a:spcPts val="1400"/>
              </a:spcAft>
              <a:buNone/>
            </a:pPr>
            <a:r>
              <a:rPr lang="en-US" sz="1400" dirty="0">
                <a:solidFill>
                  <a:srgbClr val="262626"/>
                </a:solidFill>
                <a:latin typeface="Calibri" pitchFamily="34" charset="0"/>
                <a:ea typeface="Calibri" pitchFamily="34" charset="-122"/>
                <a:cs typeface="Calibri" pitchFamily="34" charset="-120"/>
              </a:rPr>
              <a:t>Desarrollar la práctica en tres lenguajes distintos permite comparar sus ventajas: Java (JavaFX) favorece interfaces gráficas interactivas; Python destaca por su sintaxis clara y uso en ciencia de datos; y R está diseñado específicamente para el análisis estadístico, con funciones nativas para distribuciones de probabilidad.</a:t>
            </a:r>
            <a:endParaRPr lang="en-US" sz="1400" dirty="0"/>
          </a:p>
          <a:p>
            <a:pPr marL="0" indent="0" algn="l">
              <a:lnSpc>
                <a:spcPct val="115000"/>
              </a:lnSpc>
              <a:spcAft>
                <a:spcPts val="1400"/>
              </a:spcAft>
              <a:buNone/>
            </a:pPr>
            <a:r>
              <a:rPr lang="en-US" sz="1400" dirty="0">
                <a:solidFill>
                  <a:srgbClr val="262626"/>
                </a:solidFill>
                <a:latin typeface="Calibri" pitchFamily="34" charset="0"/>
                <a:ea typeface="Calibri" pitchFamily="34" charset="-122"/>
                <a:cs typeface="Calibri" pitchFamily="34" charset="-120"/>
              </a:rPr>
              <a:t>La implementación práctica de los métodos de transformada inversa, convolución y composición, junto con el procedimiento de aceptación-rechazo y las pruebas de bondad de ajuste, permite comprobar de forma aplicada los fundamentos teóricos revisados en clase.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88952" cy="960120"/>
          </a:xfrm>
          <a:prstGeom prst="rect">
            <a:avLst/>
          </a:prstGeom>
          <a:solidFill>
            <a:srgbClr val="F5F6F8"/>
          </a:solidFill>
          <a:ln/>
        </p:spPr>
      </p:sp>
      <p:sp>
        <p:nvSpPr>
          <p:cNvPr id="3" name="Text 1"/>
          <p:cNvSpPr txBox="1"/>
          <p:nvPr/>
        </p:nvSpPr>
        <p:spPr>
          <a:xfrm>
            <a:off x="548640" y="164592"/>
            <a:ext cx="11064240" cy="640080"/>
          </a:xfrm>
          <a:prstGeom prst="rect">
            <a:avLst/>
          </a:prstGeom>
          <a:noFill/>
          <a:ln/>
        </p:spPr>
        <p:txBody>
          <a:bodyPr wrap="square" rtlCol="0" anchor="ctr"/>
          <a:lstStyle/>
          <a:p>
            <a:pPr marL="0" indent="0">
              <a:buNone/>
            </a:pPr>
            <a:r>
              <a:rPr lang="en-US" sz="2800" b="1" dirty="0">
                <a:solidFill>
                  <a:srgbClr val="1F3864"/>
                </a:solidFill>
                <a:latin typeface="Calibri" pitchFamily="34" charset="0"/>
                <a:ea typeface="Calibri" pitchFamily="34" charset="-122"/>
                <a:cs typeface="Calibri" pitchFamily="34" charset="-120"/>
              </a:rPr>
              <a:t>Desarrollo</a:t>
            </a:r>
            <a:endParaRPr lang="en-US" sz="2800" dirty="0"/>
          </a:p>
        </p:txBody>
      </p:sp>
      <p:sp>
        <p:nvSpPr>
          <p:cNvPr id="4" name="Text 2"/>
          <p:cNvSpPr txBox="1"/>
          <p:nvPr/>
        </p:nvSpPr>
        <p:spPr>
          <a:xfrm>
            <a:off x="640080" y="1234440"/>
            <a:ext cx="10881360" cy="5303520"/>
          </a:xfrm>
          <a:prstGeom prst="rect">
            <a:avLst/>
          </a:prstGeom>
          <a:noFill/>
          <a:ln/>
        </p:spPr>
        <p:txBody>
          <a:bodyPr wrap="square" rtlCol="0" anchor="t"/>
          <a:lstStyle/>
          <a:p>
            <a:pPr marL="0" indent="0" algn="l">
              <a:lnSpc>
                <a:spcPct val="115000"/>
              </a:lnSpc>
              <a:spcAft>
                <a:spcPts val="1400"/>
              </a:spcAft>
              <a:buNone/>
            </a:pPr>
            <a:r>
              <a:rPr lang="en-US" sz="1400" dirty="0">
                <a:solidFill>
                  <a:srgbClr val="262626"/>
                </a:solidFill>
                <a:latin typeface="Calibri" pitchFamily="34" charset="0"/>
                <a:ea typeface="Calibri" pitchFamily="34" charset="-122"/>
                <a:cs typeface="Calibri" pitchFamily="34" charset="-120"/>
              </a:rPr>
              <a:t>A continuación se describe la implementación realizada en cada uno de los tres entornos de programación.</a:t>
            </a:r>
            <a:endParaRPr lang="en-US" sz="1400" dirty="0"/>
          </a:p>
          <a:p>
            <a:pPr marL="0" indent="0" algn="l">
              <a:lnSpc>
                <a:spcPct val="115000"/>
              </a:lnSpc>
              <a:spcAft>
                <a:spcPts val="1400"/>
              </a:spcAft>
              <a:buNone/>
            </a:pPr>
            <a:r>
              <a:rPr lang="en-US" sz="1400" dirty="0">
                <a:solidFill>
                  <a:srgbClr val="262626"/>
                </a:solidFill>
                <a:latin typeface="Calibri" pitchFamily="34" charset="0"/>
                <a:ea typeface="Calibri" pitchFamily="34" charset="-122"/>
                <a:cs typeface="Calibri" pitchFamily="34" charset="-120"/>
              </a:rPr>
              <a:t>En los tres casos se desarrollaron los mismos seis bloques temáticos: generación de variables discretas, generación de variables continuas, método de la transformada inversa, método de convolución, método de composición, un procedimiento especial de aceptación-rechazo y pruebas estadísticas de bondad de ajuste.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88952" cy="960120"/>
          </a:xfrm>
          <a:prstGeom prst="rect">
            <a:avLst/>
          </a:prstGeom>
          <a:solidFill>
            <a:srgbClr val="F5F6F8"/>
          </a:solidFill>
          <a:ln/>
        </p:spPr>
      </p:sp>
      <p:sp>
        <p:nvSpPr>
          <p:cNvPr id="3" name="Text 1"/>
          <p:cNvSpPr txBox="1"/>
          <p:nvPr/>
        </p:nvSpPr>
        <p:spPr>
          <a:xfrm>
            <a:off x="548640" y="164592"/>
            <a:ext cx="11064240" cy="640080"/>
          </a:xfrm>
          <a:prstGeom prst="rect">
            <a:avLst/>
          </a:prstGeom>
          <a:noFill/>
          <a:ln/>
        </p:spPr>
        <p:txBody>
          <a:bodyPr wrap="square" rtlCol="0" anchor="ctr"/>
          <a:lstStyle/>
          <a:p>
            <a:pPr marL="0" indent="0">
              <a:buNone/>
            </a:pPr>
            <a:r>
              <a:rPr lang="en-US" sz="2800" b="1" dirty="0">
                <a:solidFill>
                  <a:srgbClr val="1F3864"/>
                </a:solidFill>
                <a:latin typeface="Calibri" pitchFamily="34" charset="0"/>
                <a:ea typeface="Calibri" pitchFamily="34" charset="-122"/>
                <a:cs typeface="Calibri" pitchFamily="34" charset="-120"/>
              </a:rPr>
              <a:t>1. Java (JavaFX) — Explicación</a:t>
            </a:r>
            <a:endParaRPr lang="en-US" sz="2800" dirty="0"/>
          </a:p>
        </p:txBody>
      </p:sp>
      <p:sp>
        <p:nvSpPr>
          <p:cNvPr id="4" name="Text 2"/>
          <p:cNvSpPr txBox="1"/>
          <p:nvPr/>
        </p:nvSpPr>
        <p:spPr>
          <a:xfrm>
            <a:off x="640080" y="1188720"/>
            <a:ext cx="10881360" cy="822960"/>
          </a:xfrm>
          <a:prstGeom prst="rect">
            <a:avLst/>
          </a:prstGeom>
          <a:noFill/>
          <a:ln/>
        </p:spPr>
        <p:txBody>
          <a:bodyPr wrap="square" rtlCol="0" anchor="t"/>
          <a:lstStyle/>
          <a:p>
            <a:pPr marL="0" indent="0">
              <a:lnSpc>
                <a:spcPct val="110000"/>
              </a:lnSpc>
              <a:buNone/>
            </a:pPr>
            <a:r>
              <a:rPr lang="en-US" sz="1350" dirty="0">
                <a:solidFill>
                  <a:srgbClr val="262626"/>
                </a:solidFill>
                <a:latin typeface="Calibri" pitchFamily="34" charset="0"/>
                <a:ea typeface="Calibri" pitchFamily="34" charset="-122"/>
                <a:cs typeface="Calibri" pitchFamily="34" charset="-120"/>
              </a:rPr>
              <a:t>Aplicación de escritorio con interfaz gráfica, desarrollada con JavaFX y Maven, organizada en patrón Modelo-Vista-Controlador:</a:t>
            </a:r>
            <a:endParaRPr lang="en-US" sz="1350" dirty="0"/>
          </a:p>
        </p:txBody>
      </p:sp>
      <p:sp>
        <p:nvSpPr>
          <p:cNvPr id="5" name="Text 3"/>
          <p:cNvSpPr txBox="1"/>
          <p:nvPr/>
        </p:nvSpPr>
        <p:spPr>
          <a:xfrm>
            <a:off x="640080" y="2057400"/>
            <a:ext cx="10881360" cy="4617720"/>
          </a:xfrm>
          <a:prstGeom prst="rect">
            <a:avLst/>
          </a:prstGeom>
          <a:noFill/>
          <a:ln/>
        </p:spPr>
        <p:txBody>
          <a:bodyPr wrap="square" rtlCol="0" anchor="t"/>
          <a:lstStyle/>
          <a:p>
            <a:pPr marL="342900" indent="-342900">
              <a:lnSpc>
                <a:spcPct val="105000"/>
              </a:lnSpc>
              <a:spcAft>
                <a:spcPts val="800"/>
              </a:spcAft>
              <a:buSzPct val="100000"/>
              <a:buChar char="•"/>
            </a:pPr>
            <a:r>
              <a:rPr lang="en-US" sz="1250" dirty="0">
                <a:solidFill>
                  <a:srgbClr val="262626"/>
                </a:solidFill>
                <a:latin typeface="Calibri" pitchFamily="34" charset="0"/>
                <a:ea typeface="Calibri" pitchFamily="34" charset="-122"/>
                <a:cs typeface="Calibri" pitchFamily="34" charset="-120"/>
              </a:rPr>
              <a:t>MainApplication.java: clase principal; carga main-view.fxml, define título y tamaño de ventana, y lanza la app.</a:t>
            </a:r>
            <a:endParaRPr lang="en-US" sz="1250" dirty="0"/>
          </a:p>
          <a:p>
            <a:pPr marL="342900" indent="-342900">
              <a:lnSpc>
                <a:spcPct val="105000"/>
              </a:lnSpc>
              <a:spcAft>
                <a:spcPts val="800"/>
              </a:spcAft>
              <a:buSzPct val="100000"/>
              <a:buChar char="•"/>
            </a:pPr>
            <a:r>
              <a:rPr lang="en-US" sz="1250" dirty="0">
                <a:solidFill>
                  <a:srgbClr val="262626"/>
                </a:solidFill>
                <a:latin typeface="Calibri" pitchFamily="34" charset="0"/>
                <a:ea typeface="Calibri" pitchFamily="34" charset="-122"/>
                <a:cs typeface="Calibri" pitchFamily="34" charset="-120"/>
              </a:rPr>
              <a:t>MainController.java: enlaza cada botón de la interfaz con su lógica y muestra el resultado en un TextArea.</a:t>
            </a:r>
            <a:endParaRPr lang="en-US" sz="1250" dirty="0"/>
          </a:p>
          <a:p>
            <a:pPr marL="342900" indent="-342900">
              <a:lnSpc>
                <a:spcPct val="105000"/>
              </a:lnSpc>
              <a:spcAft>
                <a:spcPts val="800"/>
              </a:spcAft>
              <a:buSzPct val="100000"/>
              <a:buChar char="•"/>
            </a:pPr>
            <a:r>
              <a:rPr lang="en-US" sz="1250" dirty="0">
                <a:solidFill>
                  <a:srgbClr val="262626"/>
                </a:solidFill>
                <a:latin typeface="Calibri" pitchFamily="34" charset="0"/>
                <a:ea typeface="Calibri" pitchFamily="34" charset="-122"/>
                <a:cs typeface="Calibri" pitchFamily="34" charset="-120"/>
              </a:rPr>
              <a:t>ContinuasHandler.java: genera 5 valores continuos en [0,1] con random.nextDouble().</a:t>
            </a:r>
            <a:endParaRPr lang="en-US" sz="1250" dirty="0"/>
          </a:p>
          <a:p>
            <a:pPr marL="342900" indent="-342900">
              <a:lnSpc>
                <a:spcPct val="105000"/>
              </a:lnSpc>
              <a:spcAft>
                <a:spcPts val="800"/>
              </a:spcAft>
              <a:buSzPct val="100000"/>
              <a:buChar char="•"/>
            </a:pPr>
            <a:r>
              <a:rPr lang="en-US" sz="1250" dirty="0">
                <a:solidFill>
                  <a:srgbClr val="262626"/>
                </a:solidFill>
                <a:latin typeface="Calibri" pitchFamily="34" charset="0"/>
                <a:ea typeface="Calibri" pitchFamily="34" charset="-122"/>
                <a:cs typeface="Calibri" pitchFamily="34" charset="-120"/>
              </a:rPr>
              <a:t>DiscretasHandler.java: genera 5 valores discretos con random.nextInt(10).</a:t>
            </a:r>
            <a:endParaRPr lang="en-US" sz="1250" dirty="0"/>
          </a:p>
          <a:p>
            <a:pPr marL="342900" indent="-342900">
              <a:lnSpc>
                <a:spcPct val="105000"/>
              </a:lnSpc>
              <a:spcAft>
                <a:spcPts val="800"/>
              </a:spcAft>
              <a:buSzPct val="100000"/>
              <a:buChar char="•"/>
            </a:pPr>
            <a:r>
              <a:rPr lang="en-US" sz="1250" dirty="0">
                <a:solidFill>
                  <a:srgbClr val="262626"/>
                </a:solidFill>
                <a:latin typeface="Calibri" pitchFamily="34" charset="0"/>
                <a:ea typeface="Calibri" pitchFamily="34" charset="-122"/>
                <a:cs typeface="Calibri" pitchFamily="34" charset="-120"/>
              </a:rPr>
              <a:t>MetodosGeneracion.java: implementa transformada inversa (x = -ln(1-U)/λ), convolución (Teorema del Límite Central) y composición (mezcla de densidades).</a:t>
            </a:r>
            <a:endParaRPr lang="en-US" sz="1250" dirty="0"/>
          </a:p>
          <a:p>
            <a:pPr marL="342900" indent="-342900">
              <a:lnSpc>
                <a:spcPct val="105000"/>
              </a:lnSpc>
              <a:spcAft>
                <a:spcPts val="800"/>
              </a:spcAft>
              <a:buSzPct val="100000"/>
              <a:buChar char="•"/>
            </a:pPr>
            <a:r>
              <a:rPr lang="en-US" sz="1250" dirty="0">
                <a:solidFill>
                  <a:srgbClr val="262626"/>
                </a:solidFill>
                <a:latin typeface="Calibri" pitchFamily="34" charset="0"/>
                <a:ea typeface="Calibri" pitchFamily="34" charset="-122"/>
                <a:cs typeface="Calibri" pitchFamily="34" charset="-120"/>
              </a:rPr>
              <a:t>ProcedimientosEspeciales.java: procedimiento de aceptación-rechazo de von Neumann.</a:t>
            </a:r>
            <a:endParaRPr lang="en-US" sz="1250" dirty="0"/>
          </a:p>
          <a:p>
            <a:pPr marL="342900" indent="-342900">
              <a:lnSpc>
                <a:spcPct val="105000"/>
              </a:lnSpc>
              <a:spcAft>
                <a:spcPts val="800"/>
              </a:spcAft>
              <a:buSzPct val="100000"/>
              <a:buChar char="•"/>
            </a:pPr>
            <a:r>
              <a:rPr lang="en-US" sz="1250" dirty="0">
                <a:solidFill>
                  <a:srgbClr val="262626"/>
                </a:solidFill>
                <a:latin typeface="Calibri" pitchFamily="34" charset="0"/>
                <a:ea typeface="Calibri" pitchFamily="34" charset="-122"/>
                <a:cs typeface="Calibri" pitchFamily="34" charset="-120"/>
              </a:rPr>
              <a:t>PruebasEstadisticas.java: calcula Chi-cuadrada, valor p y prueba de Kolmogorov-Smirnov.</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88952" cy="960120"/>
          </a:xfrm>
          <a:prstGeom prst="rect">
            <a:avLst/>
          </a:prstGeom>
          <a:solidFill>
            <a:srgbClr val="F5F6F8"/>
          </a:solidFill>
          <a:ln/>
        </p:spPr>
      </p:sp>
      <p:sp>
        <p:nvSpPr>
          <p:cNvPr id="3" name="Text 1"/>
          <p:cNvSpPr txBox="1"/>
          <p:nvPr/>
        </p:nvSpPr>
        <p:spPr>
          <a:xfrm>
            <a:off x="548640" y="164592"/>
            <a:ext cx="11064240" cy="640080"/>
          </a:xfrm>
          <a:prstGeom prst="rect">
            <a:avLst/>
          </a:prstGeom>
          <a:noFill/>
          <a:ln/>
        </p:spPr>
        <p:txBody>
          <a:bodyPr wrap="square" rtlCol="0" anchor="ctr"/>
          <a:lstStyle/>
          <a:p>
            <a:pPr marL="0" indent="0">
              <a:buNone/>
            </a:pPr>
            <a:r>
              <a:rPr lang="en-US" sz="2800" b="1" dirty="0">
                <a:solidFill>
                  <a:srgbClr val="1F3864"/>
                </a:solidFill>
                <a:latin typeface="Calibri" pitchFamily="34" charset="0"/>
                <a:ea typeface="Calibri" pitchFamily="34" charset="-122"/>
                <a:cs typeface="Calibri" pitchFamily="34" charset="-120"/>
              </a:rPr>
              <a:t>Java — Figura 1</a:t>
            </a:r>
            <a:endParaRPr lang="en-US" sz="2800" dirty="0"/>
          </a:p>
        </p:txBody>
      </p:sp>
      <p:pic>
        <p:nvPicPr>
          <p:cNvPr id="4" name="Image 0" descr="/home/claude/report_imgs/java_1_mainapp.png"/>
          <p:cNvPicPr>
            <a:picLocks noChangeAspect="1"/>
          </p:cNvPicPr>
          <p:nvPr/>
        </p:nvPicPr>
        <p:blipFill>
          <a:blip r:embed="rId3"/>
          <a:stretch>
            <a:fillRect/>
          </a:stretch>
        </p:blipFill>
        <p:spPr>
          <a:xfrm>
            <a:off x="1248156" y="1220071"/>
            <a:ext cx="9692640" cy="4875058"/>
          </a:xfrm>
          <a:prstGeom prst="rect">
            <a:avLst/>
          </a:prstGeom>
        </p:spPr>
      </p:pic>
      <p:sp>
        <p:nvSpPr>
          <p:cNvPr id="5" name="Text 2"/>
          <p:cNvSpPr txBox="1"/>
          <p:nvPr/>
        </p:nvSpPr>
        <p:spPr>
          <a:xfrm>
            <a:off x="548640" y="6446520"/>
            <a:ext cx="11064240" cy="320040"/>
          </a:xfrm>
          <a:prstGeom prst="rect">
            <a:avLst/>
          </a:prstGeom>
          <a:noFill/>
          <a:ln/>
        </p:spPr>
        <p:txBody>
          <a:bodyPr wrap="square" rtlCol="0" anchor="ctr"/>
          <a:lstStyle/>
          <a:p>
            <a:pPr marL="0" indent="0" algn="ctr">
              <a:buNone/>
            </a:pPr>
            <a:r>
              <a:rPr lang="en-US" sz="1100" i="1" dirty="0">
                <a:solidFill>
                  <a:srgbClr val="595959"/>
                </a:solidFill>
                <a:latin typeface="Calibri" pitchFamily="34" charset="0"/>
                <a:ea typeface="Calibri" pitchFamily="34" charset="-122"/>
                <a:cs typeface="Calibri" pitchFamily="34" charset="-120"/>
              </a:rPr>
              <a:t>Clase MainApplication.java — configuración e inicio de la aplicación JavaFX.</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88952" cy="960120"/>
          </a:xfrm>
          <a:prstGeom prst="rect">
            <a:avLst/>
          </a:prstGeom>
          <a:solidFill>
            <a:srgbClr val="F5F6F8"/>
          </a:solidFill>
          <a:ln/>
        </p:spPr>
      </p:sp>
      <p:sp>
        <p:nvSpPr>
          <p:cNvPr id="3" name="Text 1"/>
          <p:cNvSpPr txBox="1"/>
          <p:nvPr/>
        </p:nvSpPr>
        <p:spPr>
          <a:xfrm>
            <a:off x="548640" y="164592"/>
            <a:ext cx="11064240" cy="640080"/>
          </a:xfrm>
          <a:prstGeom prst="rect">
            <a:avLst/>
          </a:prstGeom>
          <a:noFill/>
          <a:ln/>
        </p:spPr>
        <p:txBody>
          <a:bodyPr wrap="square" rtlCol="0" anchor="ctr"/>
          <a:lstStyle/>
          <a:p>
            <a:pPr marL="0" indent="0">
              <a:buNone/>
            </a:pPr>
            <a:r>
              <a:rPr lang="en-US" sz="2800" b="1" dirty="0">
                <a:solidFill>
                  <a:srgbClr val="1F3864"/>
                </a:solidFill>
                <a:latin typeface="Calibri" pitchFamily="34" charset="0"/>
                <a:ea typeface="Calibri" pitchFamily="34" charset="-122"/>
                <a:cs typeface="Calibri" pitchFamily="34" charset="-120"/>
              </a:rPr>
              <a:t>Java — Figura 2</a:t>
            </a:r>
            <a:endParaRPr lang="en-US" sz="2800" dirty="0"/>
          </a:p>
        </p:txBody>
      </p:sp>
      <p:pic>
        <p:nvPicPr>
          <p:cNvPr id="4" name="Image 0" descr="/home/claude/report_imgs/java_2_metodos.png"/>
          <p:cNvPicPr>
            <a:picLocks noChangeAspect="1"/>
          </p:cNvPicPr>
          <p:nvPr/>
        </p:nvPicPr>
        <p:blipFill>
          <a:blip r:embed="rId3"/>
          <a:stretch>
            <a:fillRect/>
          </a:stretch>
        </p:blipFill>
        <p:spPr>
          <a:xfrm>
            <a:off x="1248156" y="1123263"/>
            <a:ext cx="9692640" cy="5068675"/>
          </a:xfrm>
          <a:prstGeom prst="rect">
            <a:avLst/>
          </a:prstGeom>
        </p:spPr>
      </p:pic>
      <p:sp>
        <p:nvSpPr>
          <p:cNvPr id="5" name="Text 2"/>
          <p:cNvSpPr txBox="1"/>
          <p:nvPr/>
        </p:nvSpPr>
        <p:spPr>
          <a:xfrm>
            <a:off x="548640" y="6446520"/>
            <a:ext cx="11064240" cy="320040"/>
          </a:xfrm>
          <a:prstGeom prst="rect">
            <a:avLst/>
          </a:prstGeom>
          <a:noFill/>
          <a:ln/>
        </p:spPr>
        <p:txBody>
          <a:bodyPr wrap="square" rtlCol="0" anchor="ctr"/>
          <a:lstStyle/>
          <a:p>
            <a:pPr marL="0" indent="0" algn="ctr">
              <a:buNone/>
            </a:pPr>
            <a:r>
              <a:rPr lang="en-US" sz="1100" i="1" dirty="0">
                <a:solidFill>
                  <a:srgbClr val="595959"/>
                </a:solidFill>
                <a:latin typeface="Calibri" pitchFamily="34" charset="0"/>
                <a:ea typeface="Calibri" pitchFamily="34" charset="-122"/>
                <a:cs typeface="Calibri" pitchFamily="34" charset="-120"/>
              </a:rPr>
              <a:t>Clase MetodosGeneracion.java — transformada inversa, convolución y composición.</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88952" cy="960120"/>
          </a:xfrm>
          <a:prstGeom prst="rect">
            <a:avLst/>
          </a:prstGeom>
          <a:solidFill>
            <a:srgbClr val="F5F6F8"/>
          </a:solidFill>
          <a:ln/>
        </p:spPr>
      </p:sp>
      <p:sp>
        <p:nvSpPr>
          <p:cNvPr id="3" name="Text 1"/>
          <p:cNvSpPr txBox="1"/>
          <p:nvPr/>
        </p:nvSpPr>
        <p:spPr>
          <a:xfrm>
            <a:off x="548640" y="164592"/>
            <a:ext cx="11064240" cy="640080"/>
          </a:xfrm>
          <a:prstGeom prst="rect">
            <a:avLst/>
          </a:prstGeom>
          <a:noFill/>
          <a:ln/>
        </p:spPr>
        <p:txBody>
          <a:bodyPr wrap="square" rtlCol="0" anchor="ctr"/>
          <a:lstStyle/>
          <a:p>
            <a:pPr marL="0" indent="0">
              <a:buNone/>
            </a:pPr>
            <a:r>
              <a:rPr lang="en-US" sz="2800" b="1" dirty="0">
                <a:solidFill>
                  <a:srgbClr val="1F3864"/>
                </a:solidFill>
                <a:latin typeface="Calibri" pitchFamily="34" charset="0"/>
                <a:ea typeface="Calibri" pitchFamily="34" charset="-122"/>
                <a:cs typeface="Calibri" pitchFamily="34" charset="-120"/>
              </a:rPr>
              <a:t>Java — Figura 3</a:t>
            </a:r>
            <a:endParaRPr lang="en-US" sz="2800" dirty="0"/>
          </a:p>
        </p:txBody>
      </p:sp>
      <p:pic>
        <p:nvPicPr>
          <p:cNvPr id="4" name="Image 0" descr="/home/claude/report_imgs/java_3_pruebas.png"/>
          <p:cNvPicPr>
            <a:picLocks noChangeAspect="1"/>
          </p:cNvPicPr>
          <p:nvPr/>
        </p:nvPicPr>
        <p:blipFill>
          <a:blip r:embed="rId3"/>
          <a:stretch>
            <a:fillRect/>
          </a:stretch>
        </p:blipFill>
        <p:spPr>
          <a:xfrm>
            <a:off x="1248156" y="1130843"/>
            <a:ext cx="9692640" cy="5053514"/>
          </a:xfrm>
          <a:prstGeom prst="rect">
            <a:avLst/>
          </a:prstGeom>
        </p:spPr>
      </p:pic>
      <p:sp>
        <p:nvSpPr>
          <p:cNvPr id="5" name="Text 2"/>
          <p:cNvSpPr txBox="1"/>
          <p:nvPr/>
        </p:nvSpPr>
        <p:spPr>
          <a:xfrm>
            <a:off x="548640" y="6446520"/>
            <a:ext cx="11064240" cy="320040"/>
          </a:xfrm>
          <a:prstGeom prst="rect">
            <a:avLst/>
          </a:prstGeom>
          <a:noFill/>
          <a:ln/>
        </p:spPr>
        <p:txBody>
          <a:bodyPr wrap="square" rtlCol="0" anchor="ctr"/>
          <a:lstStyle/>
          <a:p>
            <a:pPr marL="0" indent="0" algn="ctr">
              <a:buNone/>
            </a:pPr>
            <a:r>
              <a:rPr lang="en-US" sz="1100" i="1" dirty="0">
                <a:solidFill>
                  <a:srgbClr val="595959"/>
                </a:solidFill>
                <a:latin typeface="Calibri" pitchFamily="34" charset="0"/>
                <a:ea typeface="Calibri" pitchFamily="34" charset="-122"/>
                <a:cs typeface="Calibri" pitchFamily="34" charset="-120"/>
              </a:rPr>
              <a:t>Clase PruebasEstadisticas.java — Chi-cuadrada y Kolmogorov-Smirnov.</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88952" cy="960120"/>
          </a:xfrm>
          <a:prstGeom prst="rect">
            <a:avLst/>
          </a:prstGeom>
          <a:solidFill>
            <a:srgbClr val="F5F6F8"/>
          </a:solidFill>
          <a:ln/>
        </p:spPr>
      </p:sp>
      <p:sp>
        <p:nvSpPr>
          <p:cNvPr id="3" name="Text 1"/>
          <p:cNvSpPr txBox="1"/>
          <p:nvPr/>
        </p:nvSpPr>
        <p:spPr>
          <a:xfrm>
            <a:off x="548640" y="164592"/>
            <a:ext cx="11064240" cy="640080"/>
          </a:xfrm>
          <a:prstGeom prst="rect">
            <a:avLst/>
          </a:prstGeom>
          <a:noFill/>
          <a:ln/>
        </p:spPr>
        <p:txBody>
          <a:bodyPr wrap="square" rtlCol="0" anchor="ctr"/>
          <a:lstStyle/>
          <a:p>
            <a:pPr marL="0" indent="0">
              <a:buNone/>
            </a:pPr>
            <a:r>
              <a:rPr lang="en-US" sz="2800" b="1" dirty="0">
                <a:solidFill>
                  <a:srgbClr val="1F3864"/>
                </a:solidFill>
                <a:latin typeface="Calibri" pitchFamily="34" charset="0"/>
                <a:ea typeface="Calibri" pitchFamily="34" charset="-122"/>
                <a:cs typeface="Calibri" pitchFamily="34" charset="-120"/>
              </a:rPr>
              <a:t>Java — Figura 4</a:t>
            </a:r>
            <a:endParaRPr lang="en-US" sz="2800" dirty="0"/>
          </a:p>
        </p:txBody>
      </p:sp>
      <p:pic>
        <p:nvPicPr>
          <p:cNvPr id="4" name="Image 0" descr="/home/claude/report_imgs/java_4_ejecucion.png"/>
          <p:cNvPicPr>
            <a:picLocks noChangeAspect="1"/>
          </p:cNvPicPr>
          <p:nvPr/>
        </p:nvPicPr>
        <p:blipFill>
          <a:blip r:embed="rId3"/>
          <a:stretch>
            <a:fillRect/>
          </a:stretch>
        </p:blipFill>
        <p:spPr>
          <a:xfrm>
            <a:off x="1248156" y="1119292"/>
            <a:ext cx="9692640" cy="5076615"/>
          </a:xfrm>
          <a:prstGeom prst="rect">
            <a:avLst/>
          </a:prstGeom>
        </p:spPr>
      </p:pic>
      <p:sp>
        <p:nvSpPr>
          <p:cNvPr id="5" name="Text 2"/>
          <p:cNvSpPr txBox="1"/>
          <p:nvPr/>
        </p:nvSpPr>
        <p:spPr>
          <a:xfrm>
            <a:off x="548640" y="6446520"/>
            <a:ext cx="11064240" cy="320040"/>
          </a:xfrm>
          <a:prstGeom prst="rect">
            <a:avLst/>
          </a:prstGeom>
          <a:noFill/>
          <a:ln/>
        </p:spPr>
        <p:txBody>
          <a:bodyPr wrap="square" rtlCol="0" anchor="ctr"/>
          <a:lstStyle/>
          <a:p>
            <a:pPr marL="0" indent="0" algn="ctr">
              <a:buNone/>
            </a:pPr>
            <a:r>
              <a:rPr lang="en-US" sz="1100" i="1" dirty="0">
                <a:solidFill>
                  <a:srgbClr val="595959"/>
                </a:solidFill>
                <a:latin typeface="Calibri" pitchFamily="34" charset="0"/>
                <a:ea typeface="Calibri" pitchFamily="34" charset="-122"/>
                <a:cs typeface="Calibri" pitchFamily="34" charset="-120"/>
              </a:rPr>
              <a:t>Aplicación JavaFX en ejecución, con las pestañas de la interfaz gráfica.</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88952" cy="960120"/>
          </a:xfrm>
          <a:prstGeom prst="rect">
            <a:avLst/>
          </a:prstGeom>
          <a:solidFill>
            <a:srgbClr val="F5F6F8"/>
          </a:solidFill>
          <a:ln/>
        </p:spPr>
      </p:sp>
      <p:sp>
        <p:nvSpPr>
          <p:cNvPr id="3" name="Text 1"/>
          <p:cNvSpPr txBox="1"/>
          <p:nvPr/>
        </p:nvSpPr>
        <p:spPr>
          <a:xfrm>
            <a:off x="548640" y="164592"/>
            <a:ext cx="11064240" cy="640080"/>
          </a:xfrm>
          <a:prstGeom prst="rect">
            <a:avLst/>
          </a:prstGeom>
          <a:noFill/>
          <a:ln/>
        </p:spPr>
        <p:txBody>
          <a:bodyPr wrap="square" rtlCol="0" anchor="ctr"/>
          <a:lstStyle/>
          <a:p>
            <a:pPr marL="0" indent="0">
              <a:buNone/>
            </a:pPr>
            <a:r>
              <a:rPr lang="en-US" sz="2800" b="1" dirty="0">
                <a:solidFill>
                  <a:srgbClr val="1F3864"/>
                </a:solidFill>
                <a:latin typeface="Calibri" pitchFamily="34" charset="0"/>
                <a:ea typeface="Calibri" pitchFamily="34" charset="-122"/>
                <a:cs typeface="Calibri" pitchFamily="34" charset="-120"/>
              </a:rPr>
              <a:t>2. Python — Explicación</a:t>
            </a:r>
            <a:endParaRPr lang="en-US" sz="2800" dirty="0"/>
          </a:p>
        </p:txBody>
      </p:sp>
      <p:sp>
        <p:nvSpPr>
          <p:cNvPr id="4" name="Text 2"/>
          <p:cNvSpPr txBox="1"/>
          <p:nvPr/>
        </p:nvSpPr>
        <p:spPr>
          <a:xfrm>
            <a:off x="640080" y="1188720"/>
            <a:ext cx="10881360" cy="822960"/>
          </a:xfrm>
          <a:prstGeom prst="rect">
            <a:avLst/>
          </a:prstGeom>
          <a:noFill/>
          <a:ln/>
        </p:spPr>
        <p:txBody>
          <a:bodyPr wrap="square" rtlCol="0" anchor="t"/>
          <a:lstStyle/>
          <a:p>
            <a:pPr marL="0" indent="0">
              <a:lnSpc>
                <a:spcPct val="110000"/>
              </a:lnSpc>
              <a:buNone/>
            </a:pPr>
            <a:r>
              <a:rPr lang="en-US" sz="1350" dirty="0">
                <a:solidFill>
                  <a:srgbClr val="262626"/>
                </a:solidFill>
                <a:latin typeface="Calibri" pitchFamily="34" charset="0"/>
                <a:ea typeface="Calibri" pitchFamily="34" charset="-122"/>
                <a:cs typeface="Calibri" pitchFamily="34" charset="-120"/>
              </a:rPr>
              <a:t>Script app_generacion.py ejecutado en la terminal de Visual Studio Code, usando solo las bibliotecas random y math:</a:t>
            </a:r>
            <a:endParaRPr lang="en-US" sz="1350" dirty="0"/>
          </a:p>
        </p:txBody>
      </p:sp>
      <p:sp>
        <p:nvSpPr>
          <p:cNvPr id="5" name="Text 3"/>
          <p:cNvSpPr txBox="1"/>
          <p:nvPr/>
        </p:nvSpPr>
        <p:spPr>
          <a:xfrm>
            <a:off x="640080" y="2057400"/>
            <a:ext cx="10881360" cy="4617720"/>
          </a:xfrm>
          <a:prstGeom prst="rect">
            <a:avLst/>
          </a:prstGeom>
          <a:noFill/>
          <a:ln/>
        </p:spPr>
        <p:txBody>
          <a:bodyPr wrap="square" rtlCol="0" anchor="t"/>
          <a:lstStyle/>
          <a:p>
            <a:pPr marL="342900" indent="-342900">
              <a:lnSpc>
                <a:spcPct val="105000"/>
              </a:lnSpc>
              <a:spcAft>
                <a:spcPts val="800"/>
              </a:spcAft>
              <a:buSzPct val="100000"/>
              <a:buChar char="•"/>
            </a:pPr>
            <a:r>
              <a:rPr lang="en-US" sz="1250" dirty="0">
                <a:solidFill>
                  <a:srgbClr val="262626"/>
                </a:solidFill>
                <a:latin typeface="Calibri" pitchFamily="34" charset="0"/>
                <a:ea typeface="Calibri" pitchFamily="34" charset="-122"/>
                <a:cs typeface="Calibri" pitchFamily="34" charset="-120"/>
              </a:rPr>
              <a:t>3.2 Discretas: función generar_poisson(λ) con el algoritmo de Knuth; muestra de 10 valores con λ=3.5 y su media.</a:t>
            </a:r>
            <a:endParaRPr lang="en-US" sz="1250" dirty="0"/>
          </a:p>
          <a:p>
            <a:pPr marL="342900" indent="-342900">
              <a:lnSpc>
                <a:spcPct val="105000"/>
              </a:lnSpc>
              <a:spcAft>
                <a:spcPts val="800"/>
              </a:spcAft>
              <a:buSzPct val="100000"/>
              <a:buChar char="•"/>
            </a:pPr>
            <a:r>
              <a:rPr lang="en-US" sz="1250" dirty="0">
                <a:solidFill>
                  <a:srgbClr val="262626"/>
                </a:solidFill>
                <a:latin typeface="Calibri" pitchFamily="34" charset="0"/>
                <a:ea typeface="Calibri" pitchFamily="34" charset="-122"/>
                <a:cs typeface="Calibri" pitchFamily="34" charset="-120"/>
              </a:rPr>
              <a:t>3.3 Continuas: transformada inversa de la exponencial X = -ln(1-U)/β, con β=1.5, sobre 10 valores.</a:t>
            </a:r>
            <a:endParaRPr lang="en-US" sz="1250" dirty="0"/>
          </a:p>
          <a:p>
            <a:pPr marL="342900" indent="-342900">
              <a:lnSpc>
                <a:spcPct val="105000"/>
              </a:lnSpc>
              <a:spcAft>
                <a:spcPts val="800"/>
              </a:spcAft>
              <a:buSzPct val="100000"/>
              <a:buChar char="•"/>
            </a:pPr>
            <a:r>
              <a:rPr lang="en-US" sz="1250" dirty="0">
                <a:solidFill>
                  <a:srgbClr val="262626"/>
                </a:solidFill>
                <a:latin typeface="Calibri" pitchFamily="34" charset="0"/>
                <a:ea typeface="Calibri" pitchFamily="34" charset="-122"/>
                <a:cs typeface="Calibri" pitchFamily="34" charset="-120"/>
              </a:rPr>
              <a:t>3.4.1 Transformada inversa: 5 valores uniformes transformados con x = -ln(1-u)/λ, λ=2.0.</a:t>
            </a:r>
            <a:endParaRPr lang="en-US" sz="1250" dirty="0"/>
          </a:p>
          <a:p>
            <a:pPr marL="342900" indent="-342900">
              <a:lnSpc>
                <a:spcPct val="105000"/>
              </a:lnSpc>
              <a:spcAft>
                <a:spcPts val="800"/>
              </a:spcAft>
              <a:buSzPct val="100000"/>
              <a:buChar char="•"/>
            </a:pPr>
            <a:r>
              <a:rPr lang="en-US" sz="1250" dirty="0">
                <a:solidFill>
                  <a:srgbClr val="262626"/>
                </a:solidFill>
                <a:latin typeface="Calibri" pitchFamily="34" charset="0"/>
                <a:ea typeface="Calibri" pitchFamily="34" charset="-122"/>
                <a:cs typeface="Calibri" pitchFamily="34" charset="-120"/>
              </a:rPr>
              <a:t>3.4.2 Convolución: suma de 12 uniformes menos 6, aproximando una normal estándar (TLC).</a:t>
            </a:r>
            <a:endParaRPr lang="en-US" sz="1250" dirty="0"/>
          </a:p>
          <a:p>
            <a:pPr marL="342900" indent="-342900">
              <a:lnSpc>
                <a:spcPct val="105000"/>
              </a:lnSpc>
              <a:spcAft>
                <a:spcPts val="800"/>
              </a:spcAft>
              <a:buSzPct val="100000"/>
              <a:buChar char="•"/>
            </a:pPr>
            <a:r>
              <a:rPr lang="en-US" sz="1250" dirty="0">
                <a:solidFill>
                  <a:srgbClr val="262626"/>
                </a:solidFill>
                <a:latin typeface="Calibri" pitchFamily="34" charset="0"/>
                <a:ea typeface="Calibri" pitchFamily="34" charset="-122"/>
                <a:cs typeface="Calibri" pitchFamily="34" charset="-120"/>
              </a:rPr>
              <a:t>3.4.3 Composición: mezcla 60% exponencial / 40% uniforme(0,5), elegida aleatoriamente.</a:t>
            </a:r>
            <a:endParaRPr lang="en-US" sz="1250" dirty="0"/>
          </a:p>
          <a:p>
            <a:pPr marL="342900" indent="-342900">
              <a:lnSpc>
                <a:spcPct val="105000"/>
              </a:lnSpc>
              <a:spcAft>
                <a:spcPts val="800"/>
              </a:spcAft>
              <a:buSzPct val="100000"/>
              <a:buChar char="•"/>
            </a:pPr>
            <a:r>
              <a:rPr lang="en-US" sz="1250" dirty="0">
                <a:solidFill>
                  <a:srgbClr val="262626"/>
                </a:solidFill>
                <a:latin typeface="Calibri" pitchFamily="34" charset="0"/>
                <a:ea typeface="Calibri" pitchFamily="34" charset="-122"/>
                <a:cs typeface="Calibri" pitchFamily="34" charset="-120"/>
              </a:rPr>
              <a:t>3.5 Procedimientos especiales: aceptación-rechazo — acepta u1 si u2 ≤ (1-u1), reportando intentos.</a:t>
            </a:r>
            <a:endParaRPr lang="en-US" sz="1250" dirty="0"/>
          </a:p>
          <a:p>
            <a:pPr marL="342900" indent="-342900">
              <a:lnSpc>
                <a:spcPct val="105000"/>
              </a:lnSpc>
              <a:spcAft>
                <a:spcPts val="800"/>
              </a:spcAft>
              <a:buSzPct val="100000"/>
              <a:buChar char="•"/>
            </a:pPr>
            <a:r>
              <a:rPr lang="en-US" sz="1250" dirty="0">
                <a:solidFill>
                  <a:srgbClr val="262626"/>
                </a:solidFill>
                <a:latin typeface="Calibri" pitchFamily="34" charset="0"/>
                <a:ea typeface="Calibri" pitchFamily="34" charset="-122"/>
                <a:cs typeface="Calibri" pitchFamily="34" charset="-120"/>
              </a:rPr>
              <a:t>3.6 Pruebas estadísticas: muestra de 50 uniformes agrupada en 5 intervalos; Chi-cuadrada contra la frecuencia esperada.</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88952" cy="960120"/>
          </a:xfrm>
          <a:prstGeom prst="rect">
            <a:avLst/>
          </a:prstGeom>
          <a:solidFill>
            <a:srgbClr val="F5F6F8"/>
          </a:solidFill>
          <a:ln/>
        </p:spPr>
      </p:sp>
      <p:sp>
        <p:nvSpPr>
          <p:cNvPr id="3" name="Text 1"/>
          <p:cNvSpPr txBox="1"/>
          <p:nvPr/>
        </p:nvSpPr>
        <p:spPr>
          <a:xfrm>
            <a:off x="548640" y="164592"/>
            <a:ext cx="11064240" cy="640080"/>
          </a:xfrm>
          <a:prstGeom prst="rect">
            <a:avLst/>
          </a:prstGeom>
          <a:noFill/>
          <a:ln/>
        </p:spPr>
        <p:txBody>
          <a:bodyPr wrap="square" rtlCol="0" anchor="ctr"/>
          <a:lstStyle/>
          <a:p>
            <a:pPr marL="0" indent="0">
              <a:buNone/>
            </a:pPr>
            <a:r>
              <a:rPr lang="en-US" sz="2800" b="1" dirty="0">
                <a:solidFill>
                  <a:srgbClr val="1F3864"/>
                </a:solidFill>
                <a:latin typeface="Calibri" pitchFamily="34" charset="0"/>
                <a:ea typeface="Calibri" pitchFamily="34" charset="-122"/>
                <a:cs typeface="Calibri" pitchFamily="34" charset="-120"/>
              </a:rPr>
              <a:t>Python — Figura 5</a:t>
            </a:r>
            <a:endParaRPr lang="en-US" sz="2800" dirty="0"/>
          </a:p>
        </p:txBody>
      </p:sp>
      <p:pic>
        <p:nvPicPr>
          <p:cNvPr id="4" name="Image 0" descr="/home/claude/report_imgs/py_1_discretas.png"/>
          <p:cNvPicPr>
            <a:picLocks noChangeAspect="1"/>
          </p:cNvPicPr>
          <p:nvPr/>
        </p:nvPicPr>
        <p:blipFill>
          <a:blip r:embed="rId3"/>
          <a:stretch>
            <a:fillRect/>
          </a:stretch>
        </p:blipFill>
        <p:spPr>
          <a:xfrm>
            <a:off x="1248156" y="1103049"/>
            <a:ext cx="9692640" cy="5109103"/>
          </a:xfrm>
          <a:prstGeom prst="rect">
            <a:avLst/>
          </a:prstGeom>
        </p:spPr>
      </p:pic>
      <p:sp>
        <p:nvSpPr>
          <p:cNvPr id="5" name="Text 2"/>
          <p:cNvSpPr txBox="1"/>
          <p:nvPr/>
        </p:nvSpPr>
        <p:spPr>
          <a:xfrm>
            <a:off x="548640" y="6446520"/>
            <a:ext cx="11064240" cy="320040"/>
          </a:xfrm>
          <a:prstGeom prst="rect">
            <a:avLst/>
          </a:prstGeom>
          <a:noFill/>
          <a:ln/>
        </p:spPr>
        <p:txBody>
          <a:bodyPr wrap="square" rtlCol="0" anchor="ctr"/>
          <a:lstStyle/>
          <a:p>
            <a:pPr marL="0" indent="0" algn="ctr">
              <a:buNone/>
            </a:pPr>
            <a:r>
              <a:rPr lang="en-US" sz="1100" i="1" dirty="0">
                <a:solidFill>
                  <a:srgbClr val="595959"/>
                </a:solidFill>
                <a:latin typeface="Calibri" pitchFamily="34" charset="0"/>
                <a:ea typeface="Calibri" pitchFamily="34" charset="-122"/>
                <a:cs typeface="Calibri" pitchFamily="34" charset="-120"/>
              </a:rPr>
              <a:t>Generación de variables discretas (distribución Poisson).</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88952" cy="960120"/>
          </a:xfrm>
          <a:prstGeom prst="rect">
            <a:avLst/>
          </a:prstGeom>
          <a:solidFill>
            <a:srgbClr val="F5F6F8"/>
          </a:solidFill>
          <a:ln/>
        </p:spPr>
      </p:sp>
      <p:sp>
        <p:nvSpPr>
          <p:cNvPr id="3" name="Text 1"/>
          <p:cNvSpPr txBox="1"/>
          <p:nvPr/>
        </p:nvSpPr>
        <p:spPr>
          <a:xfrm>
            <a:off x="548640" y="164592"/>
            <a:ext cx="11064240" cy="640080"/>
          </a:xfrm>
          <a:prstGeom prst="rect">
            <a:avLst/>
          </a:prstGeom>
          <a:noFill/>
          <a:ln/>
        </p:spPr>
        <p:txBody>
          <a:bodyPr wrap="square" rtlCol="0" anchor="ctr"/>
          <a:lstStyle/>
          <a:p>
            <a:pPr marL="0" indent="0">
              <a:buNone/>
            </a:pPr>
            <a:r>
              <a:rPr lang="en-US" sz="2800" b="1" dirty="0">
                <a:solidFill>
                  <a:srgbClr val="1F3864"/>
                </a:solidFill>
                <a:latin typeface="Calibri" pitchFamily="34" charset="0"/>
                <a:ea typeface="Calibri" pitchFamily="34" charset="-122"/>
                <a:cs typeface="Calibri" pitchFamily="34" charset="-120"/>
              </a:rPr>
              <a:t>Python — Figura 6</a:t>
            </a:r>
            <a:endParaRPr lang="en-US" sz="2800" dirty="0"/>
          </a:p>
        </p:txBody>
      </p:sp>
      <p:pic>
        <p:nvPicPr>
          <p:cNvPr id="4" name="Image 0" descr="/home/claude/report_imgs/py_2_continuas.png"/>
          <p:cNvPicPr>
            <a:picLocks noChangeAspect="1"/>
          </p:cNvPicPr>
          <p:nvPr/>
        </p:nvPicPr>
        <p:blipFill>
          <a:blip r:embed="rId3"/>
          <a:stretch>
            <a:fillRect/>
          </a:stretch>
        </p:blipFill>
        <p:spPr>
          <a:xfrm>
            <a:off x="1248156" y="1110629"/>
            <a:ext cx="9692640" cy="5093942"/>
          </a:xfrm>
          <a:prstGeom prst="rect">
            <a:avLst/>
          </a:prstGeom>
        </p:spPr>
      </p:pic>
      <p:sp>
        <p:nvSpPr>
          <p:cNvPr id="5" name="Text 2"/>
          <p:cNvSpPr txBox="1"/>
          <p:nvPr/>
        </p:nvSpPr>
        <p:spPr>
          <a:xfrm>
            <a:off x="548640" y="6446520"/>
            <a:ext cx="11064240" cy="320040"/>
          </a:xfrm>
          <a:prstGeom prst="rect">
            <a:avLst/>
          </a:prstGeom>
          <a:noFill/>
          <a:ln/>
        </p:spPr>
        <p:txBody>
          <a:bodyPr wrap="square" rtlCol="0" anchor="ctr"/>
          <a:lstStyle/>
          <a:p>
            <a:pPr marL="0" indent="0" algn="ctr">
              <a:buNone/>
            </a:pPr>
            <a:r>
              <a:rPr lang="en-US" sz="1100" i="1" dirty="0">
                <a:solidFill>
                  <a:srgbClr val="595959"/>
                </a:solidFill>
                <a:latin typeface="Calibri" pitchFamily="34" charset="0"/>
                <a:ea typeface="Calibri" pitchFamily="34" charset="-122"/>
                <a:cs typeface="Calibri" pitchFamily="34" charset="-120"/>
              </a:rPr>
              <a:t>Variables continuas (exponencial) y método de la transformada inversa.</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88952" cy="960120"/>
          </a:xfrm>
          <a:prstGeom prst="rect">
            <a:avLst/>
          </a:prstGeom>
          <a:solidFill>
            <a:srgbClr val="F5F6F8"/>
          </a:solidFill>
          <a:ln/>
        </p:spPr>
      </p:sp>
      <p:sp>
        <p:nvSpPr>
          <p:cNvPr id="3" name="Text 1"/>
          <p:cNvSpPr txBox="1"/>
          <p:nvPr/>
        </p:nvSpPr>
        <p:spPr>
          <a:xfrm>
            <a:off x="548640" y="164592"/>
            <a:ext cx="11064240" cy="640080"/>
          </a:xfrm>
          <a:prstGeom prst="rect">
            <a:avLst/>
          </a:prstGeom>
          <a:noFill/>
          <a:ln/>
        </p:spPr>
        <p:txBody>
          <a:bodyPr wrap="square" rtlCol="0" anchor="ctr"/>
          <a:lstStyle/>
          <a:p>
            <a:pPr marL="0" indent="0">
              <a:buNone/>
            </a:pPr>
            <a:r>
              <a:rPr lang="en-US" sz="2800" b="1" dirty="0">
                <a:solidFill>
                  <a:srgbClr val="1F3864"/>
                </a:solidFill>
                <a:latin typeface="Calibri" pitchFamily="34" charset="0"/>
                <a:ea typeface="Calibri" pitchFamily="34" charset="-122"/>
                <a:cs typeface="Calibri" pitchFamily="34" charset="-120"/>
              </a:rPr>
              <a:t>Python — Figura 7</a:t>
            </a:r>
            <a:endParaRPr lang="en-US" sz="2800" dirty="0"/>
          </a:p>
        </p:txBody>
      </p:sp>
      <p:pic>
        <p:nvPicPr>
          <p:cNvPr id="4" name="Image 0" descr="/home/claude/report_imgs/py_3_composicion.png"/>
          <p:cNvPicPr>
            <a:picLocks noChangeAspect="1"/>
          </p:cNvPicPr>
          <p:nvPr/>
        </p:nvPicPr>
        <p:blipFill>
          <a:blip r:embed="rId3"/>
          <a:stretch>
            <a:fillRect/>
          </a:stretch>
        </p:blipFill>
        <p:spPr>
          <a:xfrm>
            <a:off x="1248156" y="1108102"/>
            <a:ext cx="9692640" cy="5098996"/>
          </a:xfrm>
          <a:prstGeom prst="rect">
            <a:avLst/>
          </a:prstGeom>
        </p:spPr>
      </p:pic>
      <p:sp>
        <p:nvSpPr>
          <p:cNvPr id="5" name="Text 2"/>
          <p:cNvSpPr txBox="1"/>
          <p:nvPr/>
        </p:nvSpPr>
        <p:spPr>
          <a:xfrm>
            <a:off x="548640" y="6446520"/>
            <a:ext cx="11064240" cy="320040"/>
          </a:xfrm>
          <a:prstGeom prst="rect">
            <a:avLst/>
          </a:prstGeom>
          <a:noFill/>
          <a:ln/>
        </p:spPr>
        <p:txBody>
          <a:bodyPr wrap="square" rtlCol="0" anchor="ctr"/>
          <a:lstStyle/>
          <a:p>
            <a:pPr marL="0" indent="0" algn="ctr">
              <a:buNone/>
            </a:pPr>
            <a:r>
              <a:rPr lang="en-US" sz="1100" i="1" dirty="0">
                <a:solidFill>
                  <a:srgbClr val="595959"/>
                </a:solidFill>
                <a:latin typeface="Calibri" pitchFamily="34" charset="0"/>
                <a:ea typeface="Calibri" pitchFamily="34" charset="-122"/>
                <a:cs typeface="Calibri" pitchFamily="34" charset="-120"/>
              </a:rPr>
              <a:t>Método de composición y procedimiento de aceptación-rechazo.</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88952" cy="960120"/>
          </a:xfrm>
          <a:prstGeom prst="rect">
            <a:avLst/>
          </a:prstGeom>
          <a:solidFill>
            <a:srgbClr val="F5F6F8"/>
          </a:solidFill>
          <a:ln/>
        </p:spPr>
      </p:sp>
      <p:sp>
        <p:nvSpPr>
          <p:cNvPr id="3" name="Text 1"/>
          <p:cNvSpPr txBox="1"/>
          <p:nvPr/>
        </p:nvSpPr>
        <p:spPr>
          <a:xfrm>
            <a:off x="548640" y="164592"/>
            <a:ext cx="11064240" cy="640080"/>
          </a:xfrm>
          <a:prstGeom prst="rect">
            <a:avLst/>
          </a:prstGeom>
          <a:noFill/>
          <a:ln/>
        </p:spPr>
        <p:txBody>
          <a:bodyPr wrap="square" rtlCol="0" anchor="ctr"/>
          <a:lstStyle/>
          <a:p>
            <a:pPr marL="0" indent="0">
              <a:buNone/>
            </a:pPr>
            <a:r>
              <a:rPr lang="en-US" sz="2800" b="1" dirty="0">
                <a:solidFill>
                  <a:srgbClr val="1F3864"/>
                </a:solidFill>
                <a:latin typeface="Calibri" pitchFamily="34" charset="0"/>
                <a:ea typeface="Calibri" pitchFamily="34" charset="-122"/>
                <a:cs typeface="Calibri" pitchFamily="34" charset="-120"/>
              </a:rPr>
              <a:t>Python — Figura 8</a:t>
            </a:r>
            <a:endParaRPr lang="en-US" sz="2800" dirty="0"/>
          </a:p>
        </p:txBody>
      </p:sp>
      <p:pic>
        <p:nvPicPr>
          <p:cNvPr id="4" name="Image 0" descr="/home/claude/report_imgs/py_4_pruebas.png"/>
          <p:cNvPicPr>
            <a:picLocks noChangeAspect="1"/>
          </p:cNvPicPr>
          <p:nvPr/>
        </p:nvPicPr>
        <p:blipFill>
          <a:blip r:embed="rId3"/>
          <a:stretch>
            <a:fillRect/>
          </a:stretch>
        </p:blipFill>
        <p:spPr>
          <a:xfrm>
            <a:off x="1248156" y="1130843"/>
            <a:ext cx="9692640" cy="5053514"/>
          </a:xfrm>
          <a:prstGeom prst="rect">
            <a:avLst/>
          </a:prstGeom>
        </p:spPr>
      </p:pic>
      <p:sp>
        <p:nvSpPr>
          <p:cNvPr id="5" name="Text 2"/>
          <p:cNvSpPr txBox="1"/>
          <p:nvPr/>
        </p:nvSpPr>
        <p:spPr>
          <a:xfrm>
            <a:off x="548640" y="6446520"/>
            <a:ext cx="11064240" cy="320040"/>
          </a:xfrm>
          <a:prstGeom prst="rect">
            <a:avLst/>
          </a:prstGeom>
          <a:noFill/>
          <a:ln/>
        </p:spPr>
        <p:txBody>
          <a:bodyPr wrap="square" rtlCol="0" anchor="ctr"/>
          <a:lstStyle/>
          <a:p>
            <a:pPr marL="0" indent="0" algn="ctr">
              <a:buNone/>
            </a:pPr>
            <a:r>
              <a:rPr lang="en-US" sz="1100" i="1" dirty="0">
                <a:solidFill>
                  <a:srgbClr val="595959"/>
                </a:solidFill>
                <a:latin typeface="Calibri" pitchFamily="34" charset="0"/>
                <a:ea typeface="Calibri" pitchFamily="34" charset="-122"/>
                <a:cs typeface="Calibri" pitchFamily="34" charset="-120"/>
              </a:rPr>
              <a:t>Prueba estadística de frecuencias (Chi-cuadrada).</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88952" cy="960120"/>
          </a:xfrm>
          <a:prstGeom prst="rect">
            <a:avLst/>
          </a:prstGeom>
          <a:solidFill>
            <a:srgbClr val="F5F6F8"/>
          </a:solidFill>
          <a:ln/>
        </p:spPr>
      </p:sp>
      <p:sp>
        <p:nvSpPr>
          <p:cNvPr id="3" name="Text 1"/>
          <p:cNvSpPr txBox="1"/>
          <p:nvPr/>
        </p:nvSpPr>
        <p:spPr>
          <a:xfrm>
            <a:off x="548640" y="164592"/>
            <a:ext cx="11064240" cy="640080"/>
          </a:xfrm>
          <a:prstGeom prst="rect">
            <a:avLst/>
          </a:prstGeom>
          <a:noFill/>
          <a:ln/>
        </p:spPr>
        <p:txBody>
          <a:bodyPr wrap="square" rtlCol="0" anchor="ctr"/>
          <a:lstStyle/>
          <a:p>
            <a:pPr marL="0" indent="0">
              <a:buNone/>
            </a:pPr>
            <a:r>
              <a:rPr lang="en-US" sz="2800" b="1" dirty="0">
                <a:solidFill>
                  <a:srgbClr val="1F3864"/>
                </a:solidFill>
                <a:latin typeface="Calibri" pitchFamily="34" charset="0"/>
                <a:ea typeface="Calibri" pitchFamily="34" charset="-122"/>
                <a:cs typeface="Calibri" pitchFamily="34" charset="-120"/>
              </a:rPr>
              <a:t>Python — Figura 9</a:t>
            </a:r>
            <a:endParaRPr lang="en-US" sz="2800" dirty="0"/>
          </a:p>
        </p:txBody>
      </p:sp>
      <p:pic>
        <p:nvPicPr>
          <p:cNvPr id="4" name="Image 0" descr="/home/claude/report_imgs/py_5_ejecucion.png"/>
          <p:cNvPicPr>
            <a:picLocks noChangeAspect="1"/>
          </p:cNvPicPr>
          <p:nvPr/>
        </p:nvPicPr>
        <p:blipFill>
          <a:blip r:embed="rId3"/>
          <a:stretch>
            <a:fillRect/>
          </a:stretch>
        </p:blipFill>
        <p:spPr>
          <a:xfrm>
            <a:off x="1248156" y="1108102"/>
            <a:ext cx="9692640" cy="5098996"/>
          </a:xfrm>
          <a:prstGeom prst="rect">
            <a:avLst/>
          </a:prstGeom>
        </p:spPr>
      </p:pic>
      <p:sp>
        <p:nvSpPr>
          <p:cNvPr id="5" name="Text 2"/>
          <p:cNvSpPr txBox="1"/>
          <p:nvPr/>
        </p:nvSpPr>
        <p:spPr>
          <a:xfrm>
            <a:off x="548640" y="6446520"/>
            <a:ext cx="11064240" cy="320040"/>
          </a:xfrm>
          <a:prstGeom prst="rect">
            <a:avLst/>
          </a:prstGeom>
          <a:noFill/>
          <a:ln/>
        </p:spPr>
        <p:txBody>
          <a:bodyPr wrap="square" rtlCol="0" anchor="ctr"/>
          <a:lstStyle/>
          <a:p>
            <a:pPr marL="0" indent="0" algn="ctr">
              <a:buNone/>
            </a:pPr>
            <a:r>
              <a:rPr lang="en-US" sz="1100" i="1" dirty="0">
                <a:solidFill>
                  <a:srgbClr val="595959"/>
                </a:solidFill>
                <a:latin typeface="Calibri" pitchFamily="34" charset="0"/>
                <a:ea typeface="Calibri" pitchFamily="34" charset="-122"/>
                <a:cs typeface="Calibri" pitchFamily="34" charset="-120"/>
              </a:rPr>
              <a:t>Resultados de la ejecución del script en la terminal de VS Code.</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88952" cy="960120"/>
          </a:xfrm>
          <a:prstGeom prst="rect">
            <a:avLst/>
          </a:prstGeom>
          <a:solidFill>
            <a:srgbClr val="F5F6F8"/>
          </a:solidFill>
          <a:ln/>
        </p:spPr>
      </p:sp>
      <p:sp>
        <p:nvSpPr>
          <p:cNvPr id="3" name="Text 1"/>
          <p:cNvSpPr txBox="1"/>
          <p:nvPr/>
        </p:nvSpPr>
        <p:spPr>
          <a:xfrm>
            <a:off x="548640" y="164592"/>
            <a:ext cx="11064240" cy="640080"/>
          </a:xfrm>
          <a:prstGeom prst="rect">
            <a:avLst/>
          </a:prstGeom>
          <a:noFill/>
          <a:ln/>
        </p:spPr>
        <p:txBody>
          <a:bodyPr wrap="square" rtlCol="0" anchor="ctr"/>
          <a:lstStyle/>
          <a:p>
            <a:pPr marL="0" indent="0">
              <a:buNone/>
            </a:pPr>
            <a:r>
              <a:rPr lang="en-US" sz="2800" b="1" dirty="0">
                <a:solidFill>
                  <a:srgbClr val="1F3864"/>
                </a:solidFill>
                <a:latin typeface="Calibri" pitchFamily="34" charset="0"/>
                <a:ea typeface="Calibri" pitchFamily="34" charset="-122"/>
                <a:cs typeface="Calibri" pitchFamily="34" charset="-120"/>
              </a:rPr>
              <a:t>3. R (RStudio) — Explicación</a:t>
            </a:r>
            <a:endParaRPr lang="en-US" sz="2800" dirty="0"/>
          </a:p>
        </p:txBody>
      </p:sp>
      <p:sp>
        <p:nvSpPr>
          <p:cNvPr id="4" name="Text 2"/>
          <p:cNvSpPr txBox="1"/>
          <p:nvPr/>
        </p:nvSpPr>
        <p:spPr>
          <a:xfrm>
            <a:off x="640080" y="1188720"/>
            <a:ext cx="10881360" cy="822960"/>
          </a:xfrm>
          <a:prstGeom prst="rect">
            <a:avLst/>
          </a:prstGeom>
          <a:noFill/>
          <a:ln/>
        </p:spPr>
        <p:txBody>
          <a:bodyPr wrap="square" rtlCol="0" anchor="t"/>
          <a:lstStyle/>
          <a:p>
            <a:pPr marL="0" indent="0">
              <a:lnSpc>
                <a:spcPct val="110000"/>
              </a:lnSpc>
              <a:buNone/>
            </a:pPr>
            <a:r>
              <a:rPr lang="en-US" sz="1350" dirty="0">
                <a:solidFill>
                  <a:srgbClr val="262626"/>
                </a:solidFill>
                <a:latin typeface="Calibri" pitchFamily="34" charset="0"/>
                <a:ea typeface="Calibri" pitchFamily="34" charset="-122"/>
                <a:cs typeface="Calibri" pitchFamily="34" charset="-120"/>
              </a:rPr>
              <a:t>Script GeneracionDeVariablesAleatorias.R, apoyado en funciones estadísticas nativas de R:</a:t>
            </a:r>
            <a:endParaRPr lang="en-US" sz="1350" dirty="0"/>
          </a:p>
        </p:txBody>
      </p:sp>
      <p:sp>
        <p:nvSpPr>
          <p:cNvPr id="5" name="Text 3"/>
          <p:cNvSpPr txBox="1"/>
          <p:nvPr/>
        </p:nvSpPr>
        <p:spPr>
          <a:xfrm>
            <a:off x="640080" y="2057400"/>
            <a:ext cx="10881360" cy="4617720"/>
          </a:xfrm>
          <a:prstGeom prst="rect">
            <a:avLst/>
          </a:prstGeom>
          <a:noFill/>
          <a:ln/>
        </p:spPr>
        <p:txBody>
          <a:bodyPr wrap="square" rtlCol="0" anchor="t"/>
          <a:lstStyle/>
          <a:p>
            <a:pPr marL="342900" indent="-342900">
              <a:lnSpc>
                <a:spcPct val="105000"/>
              </a:lnSpc>
              <a:spcAft>
                <a:spcPts val="800"/>
              </a:spcAft>
              <a:buSzPct val="100000"/>
              <a:buChar char="•"/>
            </a:pPr>
            <a:r>
              <a:rPr lang="en-US" sz="1250" dirty="0">
                <a:solidFill>
                  <a:srgbClr val="262626"/>
                </a:solidFill>
                <a:latin typeface="Calibri" pitchFamily="34" charset="0"/>
                <a:ea typeface="Calibri" pitchFamily="34" charset="-122"/>
                <a:cs typeface="Calibri" pitchFamily="34" charset="-120"/>
              </a:rPr>
              <a:t>3.2 Discretas: rpois(10, lambda=4); media y varianza muestral con mean() y var().</a:t>
            </a:r>
            <a:endParaRPr lang="en-US" sz="1250" dirty="0"/>
          </a:p>
          <a:p>
            <a:pPr marL="342900" indent="-342900">
              <a:lnSpc>
                <a:spcPct val="105000"/>
              </a:lnSpc>
              <a:spcAft>
                <a:spcPts val="800"/>
              </a:spcAft>
              <a:buSzPct val="100000"/>
              <a:buChar char="•"/>
            </a:pPr>
            <a:r>
              <a:rPr lang="en-US" sz="1250" dirty="0">
                <a:solidFill>
                  <a:srgbClr val="262626"/>
                </a:solidFill>
                <a:latin typeface="Calibri" pitchFamily="34" charset="0"/>
                <a:ea typeface="Calibri" pitchFamily="34" charset="-122"/>
                <a:cs typeface="Calibri" pitchFamily="34" charset="-120"/>
              </a:rPr>
              <a:t>3.3 Continuas: rexp(10, rate=1.5) y cálculo de la media muestral.</a:t>
            </a:r>
            <a:endParaRPr lang="en-US" sz="1250" dirty="0"/>
          </a:p>
          <a:p>
            <a:pPr marL="342900" indent="-342900">
              <a:lnSpc>
                <a:spcPct val="105000"/>
              </a:lnSpc>
              <a:spcAft>
                <a:spcPts val="800"/>
              </a:spcAft>
              <a:buSzPct val="100000"/>
              <a:buChar char="•"/>
            </a:pPr>
            <a:r>
              <a:rPr lang="en-US" sz="1250" dirty="0">
                <a:solidFill>
                  <a:srgbClr val="262626"/>
                </a:solidFill>
                <a:latin typeface="Calibri" pitchFamily="34" charset="0"/>
                <a:ea typeface="Calibri" pitchFamily="34" charset="-122"/>
                <a:cs typeface="Calibri" pitchFamily="34" charset="-120"/>
              </a:rPr>
              <a:t>3.4.1 Transformada inversa: runif(5) transformados con x = -ln(1-u)/λ, λ=2.0.</a:t>
            </a:r>
            <a:endParaRPr lang="en-US" sz="1250" dirty="0"/>
          </a:p>
          <a:p>
            <a:pPr marL="342900" indent="-342900">
              <a:lnSpc>
                <a:spcPct val="105000"/>
              </a:lnSpc>
              <a:spcAft>
                <a:spcPts val="800"/>
              </a:spcAft>
              <a:buSzPct val="100000"/>
              <a:buChar char="•"/>
            </a:pPr>
            <a:r>
              <a:rPr lang="en-US" sz="1250" dirty="0">
                <a:solidFill>
                  <a:srgbClr val="262626"/>
                </a:solidFill>
                <a:latin typeface="Calibri" pitchFamily="34" charset="0"/>
                <a:ea typeface="Calibri" pitchFamily="34" charset="-122"/>
                <a:cs typeface="Calibri" pitchFamily="34" charset="-120"/>
              </a:rPr>
              <a:t>3.4.2 Convolución: suma de 12 valores de runif(12) menos 6 (Teorema del Límite Central).</a:t>
            </a:r>
            <a:endParaRPr lang="en-US" sz="1250" dirty="0"/>
          </a:p>
          <a:p>
            <a:pPr marL="342900" indent="-342900">
              <a:lnSpc>
                <a:spcPct val="105000"/>
              </a:lnSpc>
              <a:spcAft>
                <a:spcPts val="800"/>
              </a:spcAft>
              <a:buSzPct val="100000"/>
              <a:buChar char="•"/>
            </a:pPr>
            <a:r>
              <a:rPr lang="en-US" sz="1250" dirty="0">
                <a:solidFill>
                  <a:srgbClr val="262626"/>
                </a:solidFill>
                <a:latin typeface="Calibri" pitchFamily="34" charset="0"/>
                <a:ea typeface="Calibri" pitchFamily="34" charset="-122"/>
                <a:cs typeface="Calibri" pitchFamily="34" charset="-120"/>
              </a:rPr>
              <a:t>3.4.3 Composición: sample(c(1,2), prob=c(0.6,0.4)) elige entre rexp(1, rate=1) y rnorm(1, mean=0, sd=1).</a:t>
            </a:r>
            <a:endParaRPr lang="en-US" sz="1250" dirty="0"/>
          </a:p>
          <a:p>
            <a:pPr marL="342900" indent="-342900">
              <a:lnSpc>
                <a:spcPct val="105000"/>
              </a:lnSpc>
              <a:spcAft>
                <a:spcPts val="800"/>
              </a:spcAft>
              <a:buSzPct val="100000"/>
              <a:buChar char="•"/>
            </a:pPr>
            <a:r>
              <a:rPr lang="en-US" sz="1250" dirty="0">
                <a:solidFill>
                  <a:srgbClr val="262626"/>
                </a:solidFill>
                <a:latin typeface="Calibri" pitchFamily="34" charset="0"/>
                <a:ea typeface="Calibri" pitchFamily="34" charset="-122"/>
                <a:cs typeface="Calibri" pitchFamily="34" charset="-120"/>
              </a:rPr>
              <a:t>3.5 Procedimientos especiales: algoritmo iterativo de von Neumann — acepta u1 si u2 ≤ (1-u1).</a:t>
            </a:r>
            <a:endParaRPr lang="en-US" sz="1250" dirty="0"/>
          </a:p>
          <a:p>
            <a:pPr marL="342900" indent="-342900">
              <a:lnSpc>
                <a:spcPct val="105000"/>
              </a:lnSpc>
              <a:spcAft>
                <a:spcPts val="800"/>
              </a:spcAft>
              <a:buSzPct val="100000"/>
              <a:buChar char="•"/>
            </a:pPr>
            <a:r>
              <a:rPr lang="en-US" sz="1250" dirty="0">
                <a:solidFill>
                  <a:srgbClr val="262626"/>
                </a:solidFill>
                <a:latin typeface="Calibri" pitchFamily="34" charset="0"/>
                <a:ea typeface="Calibri" pitchFamily="34" charset="-122"/>
                <a:cs typeface="Calibri" pitchFamily="34" charset="-120"/>
              </a:rPr>
              <a:t>3.6 Pruebas estadísticas: runif(50) evaluado con ks.test(muestra_prueba, "punif") (Kolmogorov-Smirnov).</a:t>
            </a:r>
            <a:endParaRPr lang="en-US" sz="1250" dirty="0"/>
          </a:p>
          <a:p>
            <a:pPr marL="342900" indent="-342900">
              <a:lnSpc>
                <a:spcPct val="105000"/>
              </a:lnSpc>
              <a:spcAft>
                <a:spcPts val="800"/>
              </a:spcAft>
              <a:buSzPct val="100000"/>
              <a:buChar char="•"/>
            </a:pPr>
            <a:r>
              <a:rPr lang="en-US" sz="1250" dirty="0">
                <a:solidFill>
                  <a:srgbClr val="262626"/>
                </a:solidFill>
                <a:latin typeface="Calibri" pitchFamily="34" charset="0"/>
                <a:ea typeface="Calibri" pitchFamily="34" charset="-122"/>
                <a:cs typeface="Calibri" pitchFamily="34" charset="-120"/>
              </a:rPr>
              <a:t>A diferencia de Java y Python, R aprovecha funciones estadísticas ya optimizadas (rpois, rexp, rnorm, ks.test).</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88952" cy="960120"/>
          </a:xfrm>
          <a:prstGeom prst="rect">
            <a:avLst/>
          </a:prstGeom>
          <a:solidFill>
            <a:srgbClr val="F5F6F8"/>
          </a:solidFill>
          <a:ln/>
        </p:spPr>
      </p:sp>
      <p:sp>
        <p:nvSpPr>
          <p:cNvPr id="3" name="Text 1"/>
          <p:cNvSpPr txBox="1"/>
          <p:nvPr/>
        </p:nvSpPr>
        <p:spPr>
          <a:xfrm>
            <a:off x="548640" y="164592"/>
            <a:ext cx="11064240" cy="640080"/>
          </a:xfrm>
          <a:prstGeom prst="rect">
            <a:avLst/>
          </a:prstGeom>
          <a:noFill/>
          <a:ln/>
        </p:spPr>
        <p:txBody>
          <a:bodyPr wrap="square" rtlCol="0" anchor="ctr"/>
          <a:lstStyle/>
          <a:p>
            <a:pPr marL="0" indent="0">
              <a:buNone/>
            </a:pPr>
            <a:r>
              <a:rPr lang="en-US" sz="2800" b="1" dirty="0">
                <a:solidFill>
                  <a:srgbClr val="1F3864"/>
                </a:solidFill>
                <a:latin typeface="Calibri" pitchFamily="34" charset="0"/>
                <a:ea typeface="Calibri" pitchFamily="34" charset="-122"/>
                <a:cs typeface="Calibri" pitchFamily="34" charset="-120"/>
              </a:rPr>
              <a:t>R — Figura 10</a:t>
            </a:r>
            <a:endParaRPr lang="en-US" sz="2800" dirty="0"/>
          </a:p>
        </p:txBody>
      </p:sp>
      <p:pic>
        <p:nvPicPr>
          <p:cNvPr id="4" name="Image 0" descr="/home/claude/report_imgs/r_1_discretas.png"/>
          <p:cNvPicPr>
            <a:picLocks noChangeAspect="1"/>
          </p:cNvPicPr>
          <p:nvPr/>
        </p:nvPicPr>
        <p:blipFill>
          <a:blip r:embed="rId3"/>
          <a:stretch>
            <a:fillRect/>
          </a:stretch>
        </p:blipFill>
        <p:spPr>
          <a:xfrm>
            <a:off x="1248156" y="1161164"/>
            <a:ext cx="9692640" cy="4992872"/>
          </a:xfrm>
          <a:prstGeom prst="rect">
            <a:avLst/>
          </a:prstGeom>
        </p:spPr>
      </p:pic>
      <p:sp>
        <p:nvSpPr>
          <p:cNvPr id="5" name="Text 2"/>
          <p:cNvSpPr txBox="1"/>
          <p:nvPr/>
        </p:nvSpPr>
        <p:spPr>
          <a:xfrm>
            <a:off x="548640" y="6446520"/>
            <a:ext cx="11064240" cy="320040"/>
          </a:xfrm>
          <a:prstGeom prst="rect">
            <a:avLst/>
          </a:prstGeom>
          <a:noFill/>
          <a:ln/>
        </p:spPr>
        <p:txBody>
          <a:bodyPr wrap="square" rtlCol="0" anchor="ctr"/>
          <a:lstStyle/>
          <a:p>
            <a:pPr marL="0" indent="0" algn="ctr">
              <a:buNone/>
            </a:pPr>
            <a:r>
              <a:rPr lang="en-US" sz="1100" i="1" dirty="0">
                <a:solidFill>
                  <a:srgbClr val="595959"/>
                </a:solidFill>
                <a:latin typeface="Calibri" pitchFamily="34" charset="0"/>
                <a:ea typeface="Calibri" pitchFamily="34" charset="-122"/>
                <a:cs typeface="Calibri" pitchFamily="34" charset="-120"/>
              </a:rPr>
              <a:t>Variables discretas, continuas y transformada inversa en R.</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88952" cy="960120"/>
          </a:xfrm>
          <a:prstGeom prst="rect">
            <a:avLst/>
          </a:prstGeom>
          <a:solidFill>
            <a:srgbClr val="F5F6F8"/>
          </a:solidFill>
          <a:ln/>
        </p:spPr>
      </p:sp>
      <p:sp>
        <p:nvSpPr>
          <p:cNvPr id="3" name="Text 1"/>
          <p:cNvSpPr txBox="1"/>
          <p:nvPr/>
        </p:nvSpPr>
        <p:spPr>
          <a:xfrm>
            <a:off x="548640" y="164592"/>
            <a:ext cx="11064240" cy="640080"/>
          </a:xfrm>
          <a:prstGeom prst="rect">
            <a:avLst/>
          </a:prstGeom>
          <a:noFill/>
          <a:ln/>
        </p:spPr>
        <p:txBody>
          <a:bodyPr wrap="square" rtlCol="0" anchor="ctr"/>
          <a:lstStyle/>
          <a:p>
            <a:pPr marL="0" indent="0">
              <a:buNone/>
            </a:pPr>
            <a:r>
              <a:rPr lang="en-US" sz="2800" b="1" dirty="0">
                <a:solidFill>
                  <a:srgbClr val="1F3864"/>
                </a:solidFill>
                <a:latin typeface="Calibri" pitchFamily="34" charset="0"/>
                <a:ea typeface="Calibri" pitchFamily="34" charset="-122"/>
                <a:cs typeface="Calibri" pitchFamily="34" charset="-120"/>
              </a:rPr>
              <a:t>R — Figura 11</a:t>
            </a:r>
            <a:endParaRPr lang="en-US" sz="2800" dirty="0"/>
          </a:p>
        </p:txBody>
      </p:sp>
      <p:pic>
        <p:nvPicPr>
          <p:cNvPr id="4" name="Image 0" descr="/home/claude/report_imgs/r_2_composicion.png"/>
          <p:cNvPicPr>
            <a:picLocks noChangeAspect="1"/>
          </p:cNvPicPr>
          <p:nvPr/>
        </p:nvPicPr>
        <p:blipFill>
          <a:blip r:embed="rId3"/>
          <a:stretch>
            <a:fillRect/>
          </a:stretch>
        </p:blipFill>
        <p:spPr>
          <a:xfrm>
            <a:off x="1248156" y="1130843"/>
            <a:ext cx="9692640" cy="5053514"/>
          </a:xfrm>
          <a:prstGeom prst="rect">
            <a:avLst/>
          </a:prstGeom>
        </p:spPr>
      </p:pic>
      <p:sp>
        <p:nvSpPr>
          <p:cNvPr id="5" name="Text 2"/>
          <p:cNvSpPr txBox="1"/>
          <p:nvPr/>
        </p:nvSpPr>
        <p:spPr>
          <a:xfrm>
            <a:off x="548640" y="6446520"/>
            <a:ext cx="11064240" cy="320040"/>
          </a:xfrm>
          <a:prstGeom prst="rect">
            <a:avLst/>
          </a:prstGeom>
          <a:noFill/>
          <a:ln/>
        </p:spPr>
        <p:txBody>
          <a:bodyPr wrap="square" rtlCol="0" anchor="ctr"/>
          <a:lstStyle/>
          <a:p>
            <a:pPr marL="0" indent="0" algn="ctr">
              <a:buNone/>
            </a:pPr>
            <a:r>
              <a:rPr lang="en-US" sz="1100" i="1" dirty="0">
                <a:solidFill>
                  <a:srgbClr val="595959"/>
                </a:solidFill>
                <a:latin typeface="Calibri" pitchFamily="34" charset="0"/>
                <a:ea typeface="Calibri" pitchFamily="34" charset="-122"/>
                <a:cs typeface="Calibri" pitchFamily="34" charset="-120"/>
              </a:rPr>
              <a:t>Método de composición y procedimiento de aceptación-rechazo en R.</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12188952" cy="960120"/>
          </a:xfrm>
          <a:prstGeom prst="rect">
            <a:avLst/>
          </a:prstGeom>
          <a:solidFill>
            <a:srgbClr val="F5F6F8"/>
          </a:solidFill>
          <a:ln/>
        </p:spPr>
      </p:sp>
      <p:sp>
        <p:nvSpPr>
          <p:cNvPr id="3" name="Text 1"/>
          <p:cNvSpPr txBox="1"/>
          <p:nvPr/>
        </p:nvSpPr>
        <p:spPr>
          <a:xfrm>
            <a:off x="548640" y="164592"/>
            <a:ext cx="11064240" cy="640080"/>
          </a:xfrm>
          <a:prstGeom prst="rect">
            <a:avLst/>
          </a:prstGeom>
          <a:noFill/>
          <a:ln/>
        </p:spPr>
        <p:txBody>
          <a:bodyPr wrap="square" rtlCol="0" anchor="ctr"/>
          <a:lstStyle/>
          <a:p>
            <a:pPr marL="0" indent="0">
              <a:buNone/>
            </a:pPr>
            <a:r>
              <a:rPr lang="en-US" sz="2800" b="1" dirty="0">
                <a:solidFill>
                  <a:srgbClr val="1F3864"/>
                </a:solidFill>
                <a:latin typeface="Calibri" pitchFamily="34" charset="0"/>
                <a:ea typeface="Calibri" pitchFamily="34" charset="-122"/>
                <a:cs typeface="Calibri" pitchFamily="34" charset="-120"/>
              </a:rPr>
              <a:t>R — Figura 12</a:t>
            </a:r>
            <a:endParaRPr lang="en-US" sz="2800" dirty="0"/>
          </a:p>
        </p:txBody>
      </p:sp>
      <p:pic>
        <p:nvPicPr>
          <p:cNvPr id="4" name="Image 0" descr="/home/claude/report_imgs/r_3_ejecucion.png"/>
          <p:cNvPicPr>
            <a:picLocks noChangeAspect="1"/>
          </p:cNvPicPr>
          <p:nvPr/>
        </p:nvPicPr>
        <p:blipFill>
          <a:blip r:embed="rId3"/>
          <a:stretch>
            <a:fillRect/>
          </a:stretch>
        </p:blipFill>
        <p:spPr>
          <a:xfrm>
            <a:off x="1248156" y="1123263"/>
            <a:ext cx="9692640" cy="5068675"/>
          </a:xfrm>
          <a:prstGeom prst="rect">
            <a:avLst/>
          </a:prstGeom>
        </p:spPr>
      </p:pic>
      <p:sp>
        <p:nvSpPr>
          <p:cNvPr id="5" name="Text 2"/>
          <p:cNvSpPr txBox="1"/>
          <p:nvPr/>
        </p:nvSpPr>
        <p:spPr>
          <a:xfrm>
            <a:off x="548640" y="6446520"/>
            <a:ext cx="11064240" cy="320040"/>
          </a:xfrm>
          <a:prstGeom prst="rect">
            <a:avLst/>
          </a:prstGeom>
          <a:noFill/>
          <a:ln/>
        </p:spPr>
        <p:txBody>
          <a:bodyPr wrap="square" rtlCol="0" anchor="ctr"/>
          <a:lstStyle/>
          <a:p>
            <a:pPr marL="0" indent="0" algn="ctr">
              <a:buNone/>
            </a:pPr>
            <a:r>
              <a:rPr lang="en-US" sz="1100" i="1" dirty="0">
                <a:solidFill>
                  <a:srgbClr val="595959"/>
                </a:solidFill>
                <a:latin typeface="Calibri" pitchFamily="34" charset="0"/>
                <a:ea typeface="Calibri" pitchFamily="34" charset="-122"/>
                <a:cs typeface="Calibri" pitchFamily="34" charset="-120"/>
              </a:rPr>
              <a:t>Ejecución en la consola de RStudio, con los resultados obtenidos.</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88952" cy="960120"/>
          </a:xfrm>
          <a:prstGeom prst="rect">
            <a:avLst/>
          </a:prstGeom>
          <a:solidFill>
            <a:srgbClr val="F5F6F8"/>
          </a:solidFill>
          <a:ln/>
        </p:spPr>
      </p:sp>
      <p:sp>
        <p:nvSpPr>
          <p:cNvPr id="3" name="Text 1"/>
          <p:cNvSpPr txBox="1"/>
          <p:nvPr/>
        </p:nvSpPr>
        <p:spPr>
          <a:xfrm>
            <a:off x="548640" y="164592"/>
            <a:ext cx="11064240" cy="640080"/>
          </a:xfrm>
          <a:prstGeom prst="rect">
            <a:avLst/>
          </a:prstGeom>
          <a:noFill/>
          <a:ln/>
        </p:spPr>
        <p:txBody>
          <a:bodyPr wrap="square" rtlCol="0" anchor="ctr"/>
          <a:lstStyle/>
          <a:p>
            <a:pPr marL="0" indent="0">
              <a:buNone/>
            </a:pPr>
            <a:r>
              <a:rPr lang="en-US" sz="2800" b="1" dirty="0">
                <a:solidFill>
                  <a:srgbClr val="1F3864"/>
                </a:solidFill>
                <a:latin typeface="Calibri" pitchFamily="34" charset="0"/>
                <a:ea typeface="Calibri" pitchFamily="34" charset="-122"/>
                <a:cs typeface="Calibri" pitchFamily="34" charset="-120"/>
              </a:rPr>
              <a:t>Conclusión</a:t>
            </a:r>
            <a:endParaRPr lang="en-US" sz="2800" dirty="0"/>
          </a:p>
        </p:txBody>
      </p:sp>
      <p:sp>
        <p:nvSpPr>
          <p:cNvPr id="4" name="Text 2"/>
          <p:cNvSpPr txBox="1"/>
          <p:nvPr/>
        </p:nvSpPr>
        <p:spPr>
          <a:xfrm>
            <a:off x="640080" y="1234440"/>
            <a:ext cx="10881360" cy="5303520"/>
          </a:xfrm>
          <a:prstGeom prst="rect">
            <a:avLst/>
          </a:prstGeom>
          <a:noFill/>
          <a:ln/>
        </p:spPr>
        <p:txBody>
          <a:bodyPr wrap="square" rtlCol="0" anchor="t"/>
          <a:lstStyle/>
          <a:p>
            <a:pPr marL="0" indent="0" algn="l">
              <a:lnSpc>
                <a:spcPct val="115000"/>
              </a:lnSpc>
              <a:spcAft>
                <a:spcPts val="1400"/>
              </a:spcAft>
              <a:buNone/>
            </a:pPr>
            <a:r>
              <a:rPr lang="en-US" sz="1400" dirty="0">
                <a:solidFill>
                  <a:srgbClr val="262626"/>
                </a:solidFill>
                <a:latin typeface="Calibri" pitchFamily="34" charset="0"/>
                <a:ea typeface="Calibri" pitchFamily="34" charset="-122"/>
                <a:cs typeface="Calibri" pitchFamily="34" charset="-120"/>
              </a:rPr>
              <a:t>El desarrollo de esta práctica permitió comprender y aplicar los principales métodos de generación de variables aleatorias: variables discretas y continuas, transformada inversa, convolución, composición, un procedimiento de aceptación-rechazo y pruebas de bondad de ajuste (Chi-cuadrada y Kolmogorov-Smirnov).</a:t>
            </a:r>
            <a:endParaRPr lang="en-US" sz="1400" dirty="0"/>
          </a:p>
          <a:p>
            <a:pPr marL="0" indent="0" algn="l">
              <a:lnSpc>
                <a:spcPct val="115000"/>
              </a:lnSpc>
              <a:spcAft>
                <a:spcPts val="1400"/>
              </a:spcAft>
              <a:buNone/>
            </a:pPr>
            <a:r>
              <a:rPr lang="en-US" sz="1400" dirty="0">
                <a:solidFill>
                  <a:srgbClr val="262626"/>
                </a:solidFill>
                <a:latin typeface="Calibri" pitchFamily="34" charset="0"/>
                <a:ea typeface="Calibri" pitchFamily="34" charset="-122"/>
                <a:cs typeface="Calibri" pitchFamily="34" charset="-120"/>
              </a:rPr>
              <a:t>Al implementar los mismos algoritmos en Java, Python y R se identificaron diferencias entre plataformas: en Java fue necesario construir manualmente la interfaz y cada método; en Python se programaron los algoritmos de forma explícita con random y math; en R se aprovecharon funciones estadísticas nativas (rpois, rexp, rnorm, ks.test) que simplificaron la implementación.</a:t>
            </a:r>
            <a:endParaRPr lang="en-US" sz="1400" dirty="0"/>
          </a:p>
          <a:p>
            <a:pPr marL="0" indent="0" algn="l">
              <a:lnSpc>
                <a:spcPct val="115000"/>
              </a:lnSpc>
              <a:spcAft>
                <a:spcPts val="1400"/>
              </a:spcAft>
              <a:buNone/>
            </a:pPr>
            <a:r>
              <a:rPr lang="en-US" sz="1400" dirty="0">
                <a:solidFill>
                  <a:srgbClr val="262626"/>
                </a:solidFill>
                <a:latin typeface="Calibri" pitchFamily="34" charset="0"/>
                <a:ea typeface="Calibri" pitchFamily="34" charset="-122"/>
                <a:cs typeface="Calibri" pitchFamily="34" charset="-120"/>
              </a:rPr>
              <a:t>La práctica reforzó el dominio teórico de los métodos de generación de variables aleatorias y la capacidad de traducir esos fundamentos matemáticos a código funcional en distintos lenguajes, habilidad clave para futuros modelos de simulación aplicados a problemas reales de ingeniería.</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uadroTexto 2">
            <a:hlinkClick r:id="rId2"/>
            <a:extLst>
              <a:ext uri="{FF2B5EF4-FFF2-40B4-BE49-F238E27FC236}">
                <a16:creationId xmlns:a16="http://schemas.microsoft.com/office/drawing/2014/main" id="{92B5B77F-6AAE-2712-305D-D94B7C23E01E}"/>
              </a:ext>
            </a:extLst>
          </p:cNvPr>
          <p:cNvSpPr txBox="1"/>
          <p:nvPr/>
        </p:nvSpPr>
        <p:spPr>
          <a:xfrm>
            <a:off x="2087880" y="2717076"/>
            <a:ext cx="8016240" cy="1200329"/>
          </a:xfrm>
          <a:prstGeom prst="rect">
            <a:avLst/>
          </a:prstGeom>
          <a:noFill/>
        </p:spPr>
        <p:txBody>
          <a:bodyPr wrap="square">
            <a:spAutoFit/>
          </a:bodyPr>
          <a:lstStyle/>
          <a:p>
            <a:r>
              <a:rPr lang="es-MX" dirty="0"/>
              <a:t>https://github.com/Cynthia21Morales/SIMULACION_CynthiaJasmineMT/blob/main/SIM-Tema-3/Actividad%203.2%20Reporte%20de%20Practica_CynthiaMorales_SIM_7ISCM.pptx</a:t>
            </a:r>
          </a:p>
        </p:txBody>
      </p:sp>
      <p:sp>
        <p:nvSpPr>
          <p:cNvPr id="4" name="CuadroTexto 3">
            <a:extLst>
              <a:ext uri="{FF2B5EF4-FFF2-40B4-BE49-F238E27FC236}">
                <a16:creationId xmlns:a16="http://schemas.microsoft.com/office/drawing/2014/main" id="{B1673685-9ED2-0E1F-FA78-D84B18ACF4D2}"/>
              </a:ext>
            </a:extLst>
          </p:cNvPr>
          <p:cNvSpPr txBox="1"/>
          <p:nvPr/>
        </p:nvSpPr>
        <p:spPr>
          <a:xfrm>
            <a:off x="1097280" y="995680"/>
            <a:ext cx="10556240" cy="369332"/>
          </a:xfrm>
          <a:prstGeom prst="rect">
            <a:avLst/>
          </a:prstGeom>
          <a:noFill/>
        </p:spPr>
        <p:txBody>
          <a:bodyPr wrap="square" rtlCol="0">
            <a:spAutoFit/>
          </a:bodyPr>
          <a:lstStyle/>
          <a:p>
            <a:r>
              <a:rPr lang="es-MX" dirty="0"/>
              <a:t>ANEXO LINK DE LA ACTIVIDAD SOLICITADA Y SUBIDA A GITHUB</a:t>
            </a:r>
          </a:p>
        </p:txBody>
      </p:sp>
    </p:spTree>
    <p:extLst>
      <p:ext uri="{BB962C8B-B14F-4D97-AF65-F5344CB8AC3E}">
        <p14:creationId xmlns:p14="http://schemas.microsoft.com/office/powerpoint/2010/main" val="115781745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1402</Words>
  <Application>Microsoft Office PowerPoint</Application>
  <PresentationFormat>Panorámica</PresentationFormat>
  <Paragraphs>111</Paragraphs>
  <Slides>21</Slides>
  <Notes>20</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21</vt:i4>
      </vt:variant>
    </vt:vector>
  </HeadingPairs>
  <TitlesOfParts>
    <vt:vector size="25" baseType="lpstr">
      <vt:lpstr>Arial</vt:lpstr>
      <vt:lpstr>Calibri</vt:lpstr>
      <vt:lpstr>Century Gothic</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Jasmine Morales</cp:lastModifiedBy>
  <cp:revision>3</cp:revision>
  <dcterms:created xsi:type="dcterms:W3CDTF">2026-09-21T19:44:40Z</dcterms:created>
  <dcterms:modified xsi:type="dcterms:W3CDTF">2026-09-21T19:56:06Z</dcterms:modified>
</cp:coreProperties>
</file>