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0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A9DEA9-E774-E577-4C4B-3B18CF648991}"/>
              </a:ext>
            </a:extLst>
          </p:cNvPr>
          <p:cNvGrpSpPr/>
          <p:nvPr/>
        </p:nvGrpSpPr>
        <p:grpSpPr>
          <a:xfrm>
            <a:off x="724073" y="121862"/>
            <a:ext cx="1584976" cy="771316"/>
            <a:chOff x="0" y="0"/>
            <a:chExt cx="3073400" cy="1308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78B89E1-5EEE-4A2D-6441-A9EC8F94DBED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D62D96F-91E7-A21D-C7C1-9E44864328CB}"/>
              </a:ext>
            </a:extLst>
          </p:cNvPr>
          <p:cNvGrpSpPr/>
          <p:nvPr/>
        </p:nvGrpSpPr>
        <p:grpSpPr>
          <a:xfrm>
            <a:off x="7534413" y="177619"/>
            <a:ext cx="1095182" cy="801613"/>
            <a:chOff x="0" y="0"/>
            <a:chExt cx="1981200" cy="1625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8090B14-B306-F208-7FC6-D06A8B0A38A1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9775B9C-F8C8-B3A4-9F78-E0F242A819D7}"/>
              </a:ext>
            </a:extLst>
          </p:cNvPr>
          <p:cNvGrpSpPr/>
          <p:nvPr/>
        </p:nvGrpSpPr>
        <p:grpSpPr>
          <a:xfrm>
            <a:off x="3456850" y="121862"/>
            <a:ext cx="2230300" cy="456564"/>
            <a:chOff x="0" y="0"/>
            <a:chExt cx="4343400" cy="9017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77706D-4B02-9404-B038-A5D4874EF789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9">
            <a:extLst>
              <a:ext uri="{FF2B5EF4-FFF2-40B4-BE49-F238E27FC236}">
                <a16:creationId xmlns:a16="http://schemas.microsoft.com/office/drawing/2014/main" id="{E554014D-942B-87EF-E1BF-43FF3B48C28E}"/>
              </a:ext>
            </a:extLst>
          </p:cNvPr>
          <p:cNvSpPr txBox="1"/>
          <p:nvPr/>
        </p:nvSpPr>
        <p:spPr>
          <a:xfrm>
            <a:off x="2309049" y="1231759"/>
            <a:ext cx="447171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Simulación</a:t>
            </a:r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PROYECTO INTEGRADOR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04 de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EEAB9-5DD3-3C96-2CDA-E2E35B0B52FF}"/>
              </a:ext>
            </a:extLst>
          </p:cNvPr>
          <p:cNvSpPr txBox="1"/>
          <p:nvPr/>
        </p:nvSpPr>
        <p:spPr>
          <a:xfrm>
            <a:off x="2199385" y="454163"/>
            <a:ext cx="4888108" cy="695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</p:spTree>
    <p:extLst>
      <p:ext uri="{BB962C8B-B14F-4D97-AF65-F5344CB8AC3E}">
        <p14:creationId xmlns:p14="http://schemas.microsoft.com/office/powerpoint/2010/main" val="406792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3FB8C4"/>
          </a:solidFill>
          <a:ln w="12700">
            <a:solidFill>
              <a:srgbClr val="3FB8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Optimización del Proceso Interbancario para una Red de Cajeros Automáticos Compartidos (Multired)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Apertura: el tema y el sistema estudiado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estudia?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 de efectivo y consultas de saldo interbancarias en un cajero automático externo (ATM Multired).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usa un cajero de un banco distinto al de su cuenta; el banco emisor autoriza la operación.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modela con BPMN 2.0 para entender el flujo y poder simularlo.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modelar y simular el flujo transaccional del proceso.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tiempos de respuesta de red, tasa de éxito transaccional y comisiones interbancarias.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mismo modelo en tres herramientas: Bizagi, Camunda y Bonita.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sistema: elementos a simular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ATM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emisor / Core bancario (autorización)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y conciliación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reglas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554480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tarjeta y PIN cifrado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intentos de PIN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diario y fondos suficientes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respuesta de 30 segundos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medibles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54480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exitoso o consulta de saldo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Rechazo, cancelación o timeout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bloqueada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respuesta, tasa de éxito y comisión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1: Bizagi Modeler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Diagrama 1: Bizagi Mode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96" y="1005840"/>
            <a:ext cx="7711807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BPMN 2.0 con tres carriles y flujos de mensaje entre el ATM y el banco emisor. Incluye validación de tarjeta, PIN, límites, fondos y conciliación.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2: Camunda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Diagrama 2: Camu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5356"/>
            <a:ext cx="8229600" cy="28613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proceso en formato .bpmn para Camunda, con evento de mensaje y temporizador de 30 s para el timeout, compuertas exclusivas y finales por cada resultado.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3: Bonita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Diagrama 3: Boni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48" y="1005840"/>
            <a:ext cx="7314104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importado en Bonita Studio (versión corregida 1.0, vista global) con los mismos carriles y escenarios; las tareas se muestran abreviadas por el tamaño del diagrama.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Bizagi: flujo con conteo de instancias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Captura de simulació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8" y="960120"/>
            <a:ext cx="8080744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simulación sobre el modelo completo: cada tarea, compuerta y evento muestra cuántas instancias pasaron por él.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Bizagi: detalle de resultados por tarea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Captura de simulació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25" y="960120"/>
            <a:ext cx="6977549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Captura de simulació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319" y="3566160"/>
            <a:ext cx="5543363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Arriba, validación de tarjeta y menú del ATM (ej. 209 instancias en la lectura y validación de tarjeta). Abajo, carril de conciliación con sus conteos.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Camunda: Token Simulation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Captura de simulació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3890"/>
            <a:ext cx="5029200" cy="2644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60120"/>
            <a:ext cx="3108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Captura de simulació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954" y="960120"/>
            <a:ext cx="3058732" cy="1600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77840" y="2651760"/>
            <a:ext cx="3108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0" name="Image 2" descr="Captura de simulació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668075"/>
            <a:ext cx="3108960" cy="156757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token por los tres carriles; en la captura inferior el proceso de conciliación llega al estado Finished.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simulación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937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" name="Image 0" descr="Captura de simulació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0009"/>
            <a:ext cx="4937760" cy="29720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6012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760720" y="1069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muestran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46304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30 días con unidad de tiempo en minutos.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instancias iniciadas en el ATM.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operaciones canceladas por tarjeta inválida; 954 siguieron al menú.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reporta además 369 instancias completadas del proceso.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cierre: simulación y análisis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ejecutada en Bizagi (1,000 instancias, 30 días) y recorrido con Token Simulation en Camunda.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programa en lenguaje de alto nivel, análisis estadístico y manuales.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se modeló y simuló en tres herramientas BPM.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por tarea permiten detectar cuellos de botella y apoyar decisiones, como el manejo del timeout y los intentos de PIN.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análisis estadístico de tiempos y tasa de éxito.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618</Words>
  <Application>Microsoft Office PowerPoint</Application>
  <PresentationFormat>Presentación en pantalla (16:9)</PresentationFormat>
  <Paragraphs>95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</dc:title>
  <dc:subject>PptxGenJS Presentation</dc:subject>
  <dc:creator>Cynthia Jasmine Morales Torres</dc:creator>
  <cp:lastModifiedBy>Jasmine Morales</cp:lastModifiedBy>
  <cp:revision>3</cp:revision>
  <dcterms:created xsi:type="dcterms:W3CDTF">2026-10-01T22:47:35Z</dcterms:created>
  <dcterms:modified xsi:type="dcterms:W3CDTF">2026-10-03T16:13:16Z</dcterms:modified>
</cp:coreProperties>
</file>