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964" autoAdjust="0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92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6028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SIMULACION_CynthiaJasmineMT/tree/main/SIM-Tema-5/Diagramas%20de%20Proceso_Bizagi_Bonita_Camunda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FA9DEA9-E774-E577-4C4B-3B18CF648991}"/>
              </a:ext>
            </a:extLst>
          </p:cNvPr>
          <p:cNvGrpSpPr/>
          <p:nvPr/>
        </p:nvGrpSpPr>
        <p:grpSpPr>
          <a:xfrm>
            <a:off x="724073" y="121862"/>
            <a:ext cx="1584976" cy="771316"/>
            <a:chOff x="0" y="0"/>
            <a:chExt cx="3073400" cy="13081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78B89E1-5EEE-4A2D-6441-A9EC8F94DBED}"/>
                </a:ext>
              </a:extLst>
            </p:cNvPr>
            <p:cNvSpPr/>
            <p:nvPr/>
          </p:nvSpPr>
          <p:spPr>
            <a:xfrm>
              <a:off x="0" y="0"/>
              <a:ext cx="3073400" cy="1308100"/>
            </a:xfrm>
            <a:custGeom>
              <a:avLst/>
              <a:gdLst/>
              <a:ahLst/>
              <a:cxnLst/>
              <a:rect l="l" t="t" r="r" b="b"/>
              <a:pathLst>
                <a:path w="3073400" h="1308100">
                  <a:moveTo>
                    <a:pt x="0" y="0"/>
                  </a:moveTo>
                  <a:lnTo>
                    <a:pt x="3073400" y="0"/>
                  </a:lnTo>
                  <a:lnTo>
                    <a:pt x="3073400" y="1308100"/>
                  </a:lnTo>
                  <a:lnTo>
                    <a:pt x="0" y="130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AD62D96F-91E7-A21D-C7C1-9E44864328CB}"/>
              </a:ext>
            </a:extLst>
          </p:cNvPr>
          <p:cNvGrpSpPr/>
          <p:nvPr/>
        </p:nvGrpSpPr>
        <p:grpSpPr>
          <a:xfrm>
            <a:off x="7534413" y="177619"/>
            <a:ext cx="1095182" cy="801613"/>
            <a:chOff x="0" y="0"/>
            <a:chExt cx="1981200" cy="1625600"/>
          </a:xfrm>
        </p:grpSpPr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88090B14-B306-F208-7FC6-D06A8B0A38A1}"/>
                </a:ext>
              </a:extLst>
            </p:cNvPr>
            <p:cNvSpPr/>
            <p:nvPr/>
          </p:nvSpPr>
          <p:spPr>
            <a:xfrm>
              <a:off x="0" y="0"/>
              <a:ext cx="1981200" cy="1625600"/>
            </a:xfrm>
            <a:custGeom>
              <a:avLst/>
              <a:gdLst/>
              <a:ahLst/>
              <a:cxnLst/>
              <a:rect l="l" t="t" r="r" b="b"/>
              <a:pathLst>
                <a:path w="1981200" h="1625600">
                  <a:moveTo>
                    <a:pt x="0" y="0"/>
                  </a:moveTo>
                  <a:lnTo>
                    <a:pt x="1981200" y="0"/>
                  </a:lnTo>
                  <a:lnTo>
                    <a:pt x="1981200" y="1625600"/>
                  </a:lnTo>
                  <a:lnTo>
                    <a:pt x="0" y="16256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E9775B9C-F8C8-B3A4-9F78-E0F242A819D7}"/>
              </a:ext>
            </a:extLst>
          </p:cNvPr>
          <p:cNvGrpSpPr/>
          <p:nvPr/>
        </p:nvGrpSpPr>
        <p:grpSpPr>
          <a:xfrm>
            <a:off x="3456850" y="121862"/>
            <a:ext cx="2230300" cy="456564"/>
            <a:chOff x="0" y="0"/>
            <a:chExt cx="4343400" cy="9017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C77706D-4B02-9404-B038-A5D4874EF789}"/>
                </a:ext>
              </a:extLst>
            </p:cNvPr>
            <p:cNvSpPr/>
            <p:nvPr/>
          </p:nvSpPr>
          <p:spPr>
            <a:xfrm>
              <a:off x="0" y="0"/>
              <a:ext cx="4343400" cy="901700"/>
            </a:xfrm>
            <a:custGeom>
              <a:avLst/>
              <a:gdLst/>
              <a:ahLst/>
              <a:cxnLst/>
              <a:rect l="l" t="t" r="r" b="b"/>
              <a:pathLst>
                <a:path w="4343400" h="901700">
                  <a:moveTo>
                    <a:pt x="0" y="0"/>
                  </a:moveTo>
                  <a:lnTo>
                    <a:pt x="4343400" y="0"/>
                  </a:lnTo>
                  <a:lnTo>
                    <a:pt x="4343400" y="901700"/>
                  </a:lnTo>
                  <a:lnTo>
                    <a:pt x="0" y="901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8" name="TextBox 9">
            <a:extLst>
              <a:ext uri="{FF2B5EF4-FFF2-40B4-BE49-F238E27FC236}">
                <a16:creationId xmlns:a16="http://schemas.microsoft.com/office/drawing/2014/main" id="{E554014D-942B-87EF-E1BF-43FF3B48C28E}"/>
              </a:ext>
            </a:extLst>
          </p:cNvPr>
          <p:cNvSpPr txBox="1"/>
          <p:nvPr/>
        </p:nvSpPr>
        <p:spPr>
          <a:xfrm>
            <a:off x="2309049" y="1231759"/>
            <a:ext cx="4471712" cy="36933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Materia:</a:t>
            </a:r>
          </a:p>
          <a:p>
            <a:pPr algn="ctr"/>
            <a:r>
              <a:rPr lang="en-US" sz="12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Simulación</a:t>
            </a:r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Semestre: </a:t>
            </a:r>
          </a:p>
          <a:p>
            <a:pPr algn="ctr"/>
            <a:r>
              <a:rPr lang="en-US" sz="12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Septimo</a:t>
            </a:r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semestre </a:t>
            </a: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Especialidad: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Ingeniería en Sistemas Computacionales.</a:t>
            </a: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alumno:</a:t>
            </a:r>
          </a:p>
          <a:p>
            <a:pPr algn="ctr"/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Cynthia Jasmine Morales Torres / 231260014</a:t>
            </a: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Nombre del docente: 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Ing. Francisco Javier Mingo Velazquez </a:t>
            </a: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Nombre del trabajo: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PROYECTO INTEGRADOR</a:t>
            </a: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</a:t>
            </a:r>
          </a:p>
          <a:p>
            <a:pPr algn="ctr"/>
            <a:endParaRPr lang="en-US" sz="1200" dirty="0">
              <a:solidFill>
                <a:srgbClr val="000000"/>
              </a:solidFill>
              <a:latin typeface="Century Gothic" panose="020B0502020202020204" pitchFamily="34" charset="0"/>
              <a:ea typeface="Glacial Indifference"/>
              <a:cs typeface="Glacial Indifference"/>
              <a:sym typeface="Glacial Indifference"/>
            </a:endParaRPr>
          </a:p>
          <a:p>
            <a:pPr algn="ctr"/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Frontera Comalapa, Chiapas. A 04 de </a:t>
            </a:r>
            <a:r>
              <a:rPr lang="en-US" sz="1200" dirty="0" err="1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octubre</a:t>
            </a:r>
            <a:r>
              <a:rPr lang="en-US" sz="1200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 del 2026.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24EEAB9-5DD3-3C96-2CDA-E2E35B0B52FF}"/>
              </a:ext>
            </a:extLst>
          </p:cNvPr>
          <p:cNvSpPr txBox="1"/>
          <p:nvPr/>
        </p:nvSpPr>
        <p:spPr>
          <a:xfrm>
            <a:off x="2199385" y="454163"/>
            <a:ext cx="4888108" cy="695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908"/>
              </a:lnSpc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Instituto Tecnológico de Frontera Comalapa </a:t>
            </a:r>
          </a:p>
          <a:p>
            <a:pPr algn="ctr">
              <a:lnSpc>
                <a:spcPts val="2908"/>
              </a:lnSpc>
            </a:pPr>
            <a:r>
              <a:rPr lang="en-US" sz="1200" b="1" dirty="0">
                <a:solidFill>
                  <a:srgbClr val="000000"/>
                </a:solidFill>
                <a:latin typeface="Century Gothic" panose="020B0502020202020204" pitchFamily="34" charset="0"/>
                <a:ea typeface="Glacial Indifference"/>
                <a:cs typeface="Glacial Indifference"/>
                <a:sym typeface="Glacial Indifference"/>
              </a:rPr>
              <a:t>Modalidad Mixta</a:t>
            </a:r>
          </a:p>
        </p:txBody>
      </p:sp>
    </p:spTree>
    <p:extLst>
      <p:ext uri="{BB962C8B-B14F-4D97-AF65-F5344CB8AC3E}">
        <p14:creationId xmlns:p14="http://schemas.microsoft.com/office/powerpoint/2010/main" val="406792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51560"/>
            <a:ext cx="822960" cy="64008"/>
          </a:xfrm>
          <a:prstGeom prst="rect">
            <a:avLst/>
          </a:prstGeom>
          <a:solidFill>
            <a:srgbClr val="3FB8C4"/>
          </a:solidFill>
          <a:ln w="12700">
            <a:solidFill>
              <a:srgbClr val="3FB8C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1188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INTEGRADOR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y Optimización del Proceso Interbancario para una Red de Cajeros Automáticos Compartidos (Multired)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Apertura: el tema y el sistema estudiado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se estudia?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Retiros de efectivo y consultas de saldo interbancarias en un cajero automático externo (ATM Multired).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usa un cajero de un banco distinto al de su cuenta; el banco emisor autoriza la operación.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modela con BPMN 2.0 para entender el flujo y poder simularlo.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y alcance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Diseñar, modelar y simular el flujo transaccional del proceso.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tiempos de respuesta de red, tasa de éxito transaccional y comisiones interbancarias.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el mismo modelo en tres herramientas: Bizagi, Camunda y Bonita.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del sistema: elementos a simular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ATM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emisor / Core bancario (autorización)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y conciliación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42900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y reglas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55448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tarjeta y PIN cifrado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de intentos de PIN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 diario y fondos suficientes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de respuesta de 30 segundos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217920" y="1161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medibles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1554480"/>
            <a:ext cx="22860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Retiro exitoso o consulta de saldo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Rechazo, cancelación o timeout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 bloqueada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de respuesta, tasa de éxito y comisión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1: Bizagi Modeler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Diagrama 1: Bizagi Model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096" y="1005840"/>
            <a:ext cx="7711807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BPMN 2.0 con tres carriles y flujos de mensaje entre el ATM y el banco emisor. Incluye validación de tarjeta, PIN, límites, fondos y conciliación.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2: Camunda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Diagrama 2: Camu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75356"/>
            <a:ext cx="8229600" cy="286136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 en formato .bpmn para Camunda, con evento de mensaje y temporizador de 30 s para el timeout, compuertas exclusivas y finales por cada resultado.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3: Bonita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Diagrama 3: Boni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948" y="1005840"/>
            <a:ext cx="7314104" cy="3200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importado en Bonita Studio (versión corregida 1.0, vista global) con los mismos carriles y escenarios; las tareas se muestran abreviadas por el tamaño del diagrama.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en Bizagi: flujo con conteo de instancias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Captura de simulació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628" y="960120"/>
            <a:ext cx="8080744" cy="32918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Ejecución de la simulación sobre el modelo completo: cada tarea, compuerta y evento muestra cuántas instancias pasaron por él.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Bizagi: detalle de resultados por tarea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25146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Captura de simulació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3225" y="960120"/>
            <a:ext cx="6977549" cy="25146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8" name="Image 1" descr="Captura de simulació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0319" y="3566160"/>
            <a:ext cx="5543363" cy="731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Arriba, validación de tarjeta y menú del ATM (ej. 209 instancias en la lectura y validación de tarjeta). Abajo, carril de conciliación con sus conteos.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en Camunda: Token Simulation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50292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Captura de simulació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3890"/>
            <a:ext cx="5029200" cy="26443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77840" y="960120"/>
            <a:ext cx="3108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8" name="Image 1" descr="Captura de simulació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954" y="960120"/>
            <a:ext cx="3058732" cy="16002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577840" y="2651760"/>
            <a:ext cx="3108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10" name="Image 2" descr="Captura de simulació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77840" y="2668075"/>
            <a:ext cx="3108960" cy="156757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57200" y="437083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token por los tres carriles; en la captura inferior el proceso de conciliación llega al estado Finished.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 la simulación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493776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</p:spPr>
      </p:sp>
      <p:pic>
        <p:nvPicPr>
          <p:cNvPr id="6" name="Image 0" descr="Captura de simulación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120009"/>
            <a:ext cx="4937760" cy="297206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77840" y="960120"/>
            <a:ext cx="3108960" cy="329184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760720" y="10698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muestran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760720" y="1463040"/>
            <a:ext cx="27432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Escenario de 30 días con unidad de tiempo en minutos.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instancias iniciadas en el ATM.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operaciones canceladas por tarjeta inválida; 954 siguieron al menú.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reporta además 369 instancias completadas del proceso.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y cierre: simulación y análisis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ejecutada en Bizagi (1,000 instancias, 30 días) y recorrido con Token Simulation en Camunda.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programa en lenguaje de alto nivel, análisis estadístico y manuales.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56616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9525">
            <a:solidFill>
              <a:srgbClr val="D6DEE8"/>
            </a:solidFill>
            <a:prstDash val="solid"/>
          </a:ln>
          <a:effectLst>
            <a:outerShdw blurRad="762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54480"/>
            <a:ext cx="365760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proceso se modeló y simuló en tres herramientas BPM.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conteos por tarea permiten detectar cuellos de botella y apoyar decisiones, como el manejo del timeout y los intentos de PIN.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4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análisis estadístico de tiempos y tasa de éxito.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uadroTexto 2">
            <a:hlinkClick r:id="rId2"/>
            <a:extLst>
              <a:ext uri="{FF2B5EF4-FFF2-40B4-BE49-F238E27FC236}">
                <a16:creationId xmlns:a16="http://schemas.microsoft.com/office/drawing/2014/main" id="{20266147-586A-9B96-4445-8EC69444D3C2}"/>
              </a:ext>
            </a:extLst>
          </p:cNvPr>
          <p:cNvSpPr txBox="1"/>
          <p:nvPr/>
        </p:nvSpPr>
        <p:spPr>
          <a:xfrm>
            <a:off x="304800" y="1741646"/>
            <a:ext cx="8648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https://github.com/Cynthia21Morales/SIMULACION_CynthiaJasmineMT/blob/main/SIM-Tema-5/Actividad%205.1%20Proyecto%20integrador_CynthiaMorales_SIM_7ISCM.pptx</a:t>
            </a:r>
          </a:p>
        </p:txBody>
      </p:sp>
      <p:sp>
        <p:nvSpPr>
          <p:cNvPr id="5" name="CuadroTexto 4">
            <a:hlinkClick r:id="rId2"/>
            <a:extLst>
              <a:ext uri="{FF2B5EF4-FFF2-40B4-BE49-F238E27FC236}">
                <a16:creationId xmlns:a16="http://schemas.microsoft.com/office/drawing/2014/main" id="{CC1472D4-AC0C-2F2E-91B0-DB8E01486F30}"/>
              </a:ext>
            </a:extLst>
          </p:cNvPr>
          <p:cNvSpPr txBox="1"/>
          <p:nvPr/>
        </p:nvSpPr>
        <p:spPr>
          <a:xfrm>
            <a:off x="304800" y="3299281"/>
            <a:ext cx="64998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dirty="0"/>
              <a:t>https://github.com/Cynthia21Morales/SIMULACION_CynthiaJasmineMT/tree/main/SIM-Tema-5/Diagramas%20de%20Proceso_Bizagi_Bonita_Camunda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08C1587-2FE3-5FC3-EB52-7413CB503BAD}"/>
              </a:ext>
            </a:extLst>
          </p:cNvPr>
          <p:cNvSpPr txBox="1"/>
          <p:nvPr/>
        </p:nvSpPr>
        <p:spPr>
          <a:xfrm>
            <a:off x="388620" y="631091"/>
            <a:ext cx="59893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</a:rPr>
              <a:t>ANEXO LINK DE LA ACTIVIDAD SOLICITADA Y ENVIADA A GITHUB: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901D492-53C4-EFF2-89D5-59D7543EFB43}"/>
              </a:ext>
            </a:extLst>
          </p:cNvPr>
          <p:cNvSpPr txBox="1"/>
          <p:nvPr/>
        </p:nvSpPr>
        <p:spPr>
          <a:xfrm>
            <a:off x="304800" y="2476500"/>
            <a:ext cx="8153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accent1"/>
                </a:solidFill>
              </a:rPr>
              <a:t>JUNTO A ELLA SE ADJUNTA EL ARCHIVO DONDE SE ENCUENTRAN LOS DIAGRAMAS DE PROCESOS</a:t>
            </a:r>
          </a:p>
        </p:txBody>
      </p:sp>
    </p:spTree>
    <p:extLst>
      <p:ext uri="{BB962C8B-B14F-4D97-AF65-F5344CB8AC3E}">
        <p14:creationId xmlns:p14="http://schemas.microsoft.com/office/powerpoint/2010/main" val="2392562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703</Words>
  <Application>Microsoft Office PowerPoint</Application>
  <PresentationFormat>Presentación en pantalla (16:9)</PresentationFormat>
  <Paragraphs>99</Paragraphs>
  <Slides>13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Arial</vt:lpstr>
      <vt:lpstr>Calibri</vt:lpstr>
      <vt:lpstr>Century Gothic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integrador</dc:title>
  <dc:subject>PptxGenJS Presentation</dc:subject>
  <dc:creator>Cynthia Jasmine Morales Torres</dc:creator>
  <cp:lastModifiedBy>Jasmine Morales</cp:lastModifiedBy>
  <cp:revision>4</cp:revision>
  <dcterms:created xsi:type="dcterms:W3CDTF">2026-10-01T22:47:35Z</dcterms:created>
  <dcterms:modified xsi:type="dcterms:W3CDTF">2026-10-04T00:42:27Z</dcterms:modified>
</cp:coreProperties>
</file>